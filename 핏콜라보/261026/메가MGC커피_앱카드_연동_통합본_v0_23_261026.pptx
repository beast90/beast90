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340" r:id="rId92"/>
    <p:sldId id="341" r:id="rId93"/>
    <p:sldId id="268" r:id="rId13"/>
    <p:sldId id="269" r:id="rId14"/>
    <p:sldId id="270" r:id="rId15"/>
    <p:sldId id="342" r:id="rId94"/>
    <p:sldId id="271" r:id="rId16"/>
    <p:sldId id="272" r:id="rId17"/>
    <p:sldId id="273" r:id="rId18"/>
    <p:sldId id="335" r:id="rId19"/>
    <p:sldId id="336" r:id="rId20"/>
    <p:sldId id="274" r:id="rId21"/>
    <p:sldId id="275" r:id="rId22"/>
    <p:sldId id="276" r:id="rId23"/>
    <p:sldId id="277" r:id="rId24"/>
    <p:sldId id="278" r:id="rId25"/>
    <p:sldId id="279" r:id="rId26"/>
    <p:sldId id="343" r:id="rId95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37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44" r:id="rId9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8" r:id="rId83"/>
    <p:sldId id="339" r:id="rId8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4853C-7B98-4819-9651-3B28C2B7C273}" v="2" dt="2026-10-21T05:16:26.047"/>
    <p1510:client id="{75A5A900-D0AD-4353-9BD9-7E429D63DE80}" v="18" dt="2026-10-21T04:41:47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30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slide" Target="slides/slide44.xml"/><Relationship Id="rId42" Type="http://schemas.openxmlformats.org/officeDocument/2006/relationships/slide" Target="slides/slide45.xml"/><Relationship Id="rId43" Type="http://schemas.openxmlformats.org/officeDocument/2006/relationships/slide" Target="slides/slide46.xml"/><Relationship Id="rId44" Type="http://schemas.openxmlformats.org/officeDocument/2006/relationships/slide" Target="slides/slide47.xml"/><Relationship Id="rId45" Type="http://schemas.openxmlformats.org/officeDocument/2006/relationships/slide" Target="slides/slide48.xml"/><Relationship Id="rId46" Type="http://schemas.openxmlformats.org/officeDocument/2006/relationships/slide" Target="slides/slide49.xml"/><Relationship Id="rId47" Type="http://schemas.openxmlformats.org/officeDocument/2006/relationships/slide" Target="slides/slide50.xml"/><Relationship Id="rId48" Type="http://schemas.openxmlformats.org/officeDocument/2006/relationships/slide" Target="slides/slide51.xml"/><Relationship Id="rId49" Type="http://schemas.openxmlformats.org/officeDocument/2006/relationships/slide" Target="slides/slide52.xml"/><Relationship Id="rId50" Type="http://schemas.openxmlformats.org/officeDocument/2006/relationships/slide" Target="slides/slide53.xml"/><Relationship Id="rId51" Type="http://schemas.openxmlformats.org/officeDocument/2006/relationships/slide" Target="slides/slide54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1.xml"/><Relationship Id="rId58" Type="http://schemas.openxmlformats.org/officeDocument/2006/relationships/slide" Target="slides/slide62.xml"/><Relationship Id="rId59" Type="http://schemas.openxmlformats.org/officeDocument/2006/relationships/slide" Target="slides/slide63.xml"/><Relationship Id="rId60" Type="http://schemas.openxmlformats.org/officeDocument/2006/relationships/slide" Target="slides/slide64.xml"/><Relationship Id="rId61" Type="http://schemas.openxmlformats.org/officeDocument/2006/relationships/slide" Target="slides/slide65.xml"/><Relationship Id="rId62" Type="http://schemas.openxmlformats.org/officeDocument/2006/relationships/slide" Target="slides/slide66.xml"/><Relationship Id="rId63" Type="http://schemas.openxmlformats.org/officeDocument/2006/relationships/slide" Target="slides/slide67.xml"/><Relationship Id="rId64" Type="http://schemas.openxmlformats.org/officeDocument/2006/relationships/slide" Target="slides/slide68.xml"/><Relationship Id="rId65" Type="http://schemas.openxmlformats.org/officeDocument/2006/relationships/slide" Target="slides/slide69.xml"/><Relationship Id="rId66" Type="http://schemas.openxmlformats.org/officeDocument/2006/relationships/slide" Target="slides/slide70.xml"/><Relationship Id="rId67" Type="http://schemas.openxmlformats.org/officeDocument/2006/relationships/slide" Target="slides/slide71.xml"/><Relationship Id="rId68" Type="http://schemas.openxmlformats.org/officeDocument/2006/relationships/slide" Target="slides/slide72.xml"/><Relationship Id="rId69" Type="http://schemas.openxmlformats.org/officeDocument/2006/relationships/slide" Target="slides/slide73.xml"/><Relationship Id="rId70" Type="http://schemas.openxmlformats.org/officeDocument/2006/relationships/slide" Target="slides/slide74.xml"/><Relationship Id="rId71" Type="http://schemas.openxmlformats.org/officeDocument/2006/relationships/slide" Target="slides/slide75.xml"/><Relationship Id="rId72" Type="http://schemas.openxmlformats.org/officeDocument/2006/relationships/slide" Target="slides/slide76.xml"/><Relationship Id="rId73" Type="http://schemas.openxmlformats.org/officeDocument/2006/relationships/slide" Target="slides/slide77.xml"/><Relationship Id="rId74" Type="http://schemas.openxmlformats.org/officeDocument/2006/relationships/slide" Target="slides/slide78.xml"/><Relationship Id="rId75" Type="http://schemas.openxmlformats.org/officeDocument/2006/relationships/slide" Target="slides/slide79.xml"/><Relationship Id="rId76" Type="http://schemas.openxmlformats.org/officeDocument/2006/relationships/slide" Target="slides/slide80.xml"/><Relationship Id="rId77" Type="http://schemas.openxmlformats.org/officeDocument/2006/relationships/slide" Target="slides/slide81.xml"/><Relationship Id="rId78" Type="http://schemas.openxmlformats.org/officeDocument/2006/relationships/slide" Target="slides/slide82.xml"/><Relationship Id="rId79" Type="http://schemas.openxmlformats.org/officeDocument/2006/relationships/slide" Target="slides/slide83.xml"/><Relationship Id="rId80" Type="http://schemas.openxmlformats.org/officeDocument/2006/relationships/slide" Target="slides/slide84.xml"/><Relationship Id="rId81" Type="http://schemas.openxmlformats.org/officeDocument/2006/relationships/slide" Target="slides/slide85.xml"/><Relationship Id="rId82" Type="http://schemas.openxmlformats.org/officeDocument/2006/relationships/slide" Target="slides/slide86.xml"/><Relationship Id="rId83" Type="http://schemas.openxmlformats.org/officeDocument/2006/relationships/slide" Target="slides/slide87.xml"/><Relationship Id="rId84" Type="http://schemas.openxmlformats.org/officeDocument/2006/relationships/slide" Target="slides/slide88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microsoft.com/office/2016/11/relationships/changesInfo" Target="changesInfos/changesInfo1.xml"/><Relationship Id="rId91" Type="http://schemas.microsoft.com/office/2015/10/relationships/revisionInfo" Target="revisionInfo.xml"/><Relationship Id="rId92" Type="http://schemas.openxmlformats.org/officeDocument/2006/relationships/slide" Target="slides/slide12.xml"/><Relationship Id="rId93" Type="http://schemas.openxmlformats.org/officeDocument/2006/relationships/slide" Target="slides/slide13.xml"/><Relationship Id="rId94" Type="http://schemas.openxmlformats.org/officeDocument/2006/relationships/slide" Target="slides/slide17.xml"/><Relationship Id="rId95" Type="http://schemas.openxmlformats.org/officeDocument/2006/relationships/slide" Target="slides/slide29.xml"/><Relationship Id="rId96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1T05:45:43.677" v="140" actId="20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  <pc:spChg chg="add del mod">
          <ac:chgData name="문 진승" userId="4d4d7787-e10c-42c5-ab64-b0d0e0438d64" providerId="ADAL" clId="{DB4B0D55-DDE0-40F6-B946-69DBCD43A701}" dt="2026-10-21T04:29:01.339" v="2"/>
          <ac:spMkLst>
            <pc:docMk/>
            <pc:sldMk cId="0" sldId="256"/>
            <ac:spMk id="6" creationId="{AF86A4D1-E180-8CE8-189A-7C68B91F3264}"/>
          </ac:spMkLst>
        </pc:spChg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4:35:41.164" v="24" actId="14734"/>
        <pc:sldMkLst>
          <pc:docMk/>
          <pc:sldMk cId="0" sldId="259"/>
        </pc:sldMkLst>
        <pc:graphicFrameChg chg="mod modGraphic">
          <ac:chgData name="문 진승" userId="4d4d7787-e10c-42c5-ab64-b0d0e0438d64" providerId="ADAL" clId="{DB4B0D55-DDE0-40F6-B946-69DBCD43A701}" dt="2026-10-21T04:35:41.164" v="24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spChg chg="add del mod">
          <ac:chgData name="문 진승" userId="4d4d7787-e10c-42c5-ab64-b0d0e0438d64" providerId="ADAL" clId="{DB4B0D55-DDE0-40F6-B946-69DBCD43A701}" dt="2026-10-21T05:16:28.173" v="100"/>
          <ac:spMkLst>
            <pc:docMk/>
            <pc:sldMk cId="0" sldId="263"/>
            <ac:spMk id="5" creationId="{7D24D1F3-1F82-E4A8-667E-07BE37D4F76C}"/>
          </ac:spMkLst>
        </pc:spChg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문 진승" userId="4d4d7787-e10c-42c5-ab64-b0d0e0438d64" providerId="ADAL" clId="{DB4B0D55-DDE0-40F6-B946-69DBCD43A701}" dt="2026-10-21T05:11:44.503" v="64" actId="14100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API 연동 흐름 정의서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앱 현행 구조 안내 20261012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 현행 구조 안내 20261012 1-2 · 화면설계서 결제 화면 5종(MGC_ORD_025 · 45 · 132 · 133 · 112 · 113 · MGC_PAY_007).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4장 · 연동 가이드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대신하며, 대조 방식은 핏콜라보 연동 가이드 범위를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6장.
메가는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간편결제 표준 API 연동규격서 1.3.6 6장(승인 · 취소 · 거래 상태 조회) · 연동 가이드 3-6(카드관리 데이터 적재).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2장 · UI Flipbook(2026-09-30).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6.1.3 · 간편결제 6.4.3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8 · 12장 · 통합본 12 · 29장.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9 · 13장.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주문하기.</a:t>
            </a:r>
          </a:p>
          <a:p>
            <a:r>
              <a:t>- 신용 앱카드로 메가선불카드 구매 · 충전을 결제할 수 있다(핏콜라보 회신).</a:t>
            </a:r>
          </a:p>
          <a:p>
            <a:r>
              <a:t>근거 추가: 메가선불카드 금액 충전 MGC_PAY_007 V0.9.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통합본 58 · 59장 예외 처리 기준 · 화면설계서 알럿 형식.</a:t>
            </a:r>
          </a:p>
          <a:p>
            <a:r>
              <a:t>- 카드사 사유는 resultMessage(인증) · contents(승인 거절)를 알럿 아래 줄에 붙인다.</a:t>
            </a:r>
          </a:p>
          <a:p>
            <a:r>
              <a:t>- 주문 실패 · 미확인 거래 정리 뒤 카드사 취소 반영 기간 [확인필요(핏콜라보)].</a:t>
            </a:r>
          </a:p>
          <a:p>
            <a:r>
              <a:t>- 취소 불가 때 안내할 고객센터 [확인필요(품질경영팀)].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v0.23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카드 관리 — 기획 · 개발 · 결제대행사 공통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영역마다 정책 → 화면 → API → 흐름 → 예외 순서로 읽습니다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수단(같은 CI면 기존 계정으로 로그인)과 거래번호 2종(인증 transNo · 결제 tid)을 기준으로 동작합니다.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3~9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무엇을 바꾸고 누가 무엇을 만드는지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구조, 구성 요소, 개발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10~22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규칙과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23~30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Flipbook 화면 1_1 · 1_2 · 2 · 3, 결제 화면 5종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요소별 동작, 결제 전 체크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31~43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연동 방식, 호출값, 결과 코드, API 9종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주체, 파라미터, 키값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44~56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취소 · 카드 관리의 흐름도와 송수신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순서와 주고받는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57~63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· 만료 · 무응답 · 취소 실패의 처리 기준, 고객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코드별 처리, 재호출 기준,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64~67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대행과 결제대행사(OnePG) 등록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역할, 거래 식별값, 연동 리스크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68~76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매트릭스 · 착수 전 확인 · B.O · 테스트 · 오픈 · 심사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만들고 무엇을 확인하나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· 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77~81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기준 · 핏콜라보 회신 · CJ ONS 확인 · 법무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언제까지 무엇을 정하나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82~88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간 불일치, 용어, 통합 플로우 · 프로세스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기준과 용어 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연동이 무엇을 바꾸고 누가 무엇을 만드는지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앱 구조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화면별 구분과 연동 관계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구성 요소와 개발 주체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유스케이스 6개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API를 부르고, Webview는 거래번호만 다룹니다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구조는 확정됐고, 착수 전에는 pgType의 CJ ONS 추가와 응답 개인정보 처리를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92408"/>
              </p:ext>
            </p:extLst>
          </p:nvPr>
        </p:nvGraphicFramePr>
        <p:xfrm>
          <a:off x="548640" y="3154680"/>
          <a:ext cx="11091672" cy="16758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 API를 호출하고, Webview는 거래번호만 인증 모듈에 넘깁니다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거래번호(transNo)는 로그인 인증, 결제 거래번호(tid)는 결제 승인에 쓰는 별개 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로그인 버튼 · 결제수단 화면을 만들고, 핏콜라보는 인증 모듈 · 카드관리 페이지를 제공합니다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pgType에 CJ ONS를 추가해야 승인 등록이 됩니다 [확인필요(핏콜라보): 추가 일정]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응답의 gender · email · di(계약 제외 항목)는 저장하지 않습니다</a:t>
                      </a:r>
                      <a:endParaRPr lang="en-US" sz="1400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Native → Webview → 메가MGC커피 서버 → 핏콜라보 서버 → 결제대행사 순으로 거래번호와 승인 정보가 오갑니다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 보관 · CI로 계정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 서버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· 승인 대행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3개 영역 · 결제대행사마다 먼저 볼 장이 다릅니다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· 미결을, 개발은 연동 구조 · 처리 흐름을, 결제대행사는 승인 등록 방식을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40289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미결(77~81)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6가지와 화면 요소별 동작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·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 · 브릿지 페이지 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화면(23~30)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구조(31~43)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 앱카드 선택, 결제 버튼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정책(10~22) · API(31~43)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흐름(44~56)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token(인증 토큰) · reqToken(결제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토큰) 보관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정산(64~67)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예외(57~63)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뒤 승인 등록을 받는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메가MGC커피 서버 담당은 31~63장(API · 처리 흐름 · 예외)을 먼저 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Native 화면 3개를 빼면 모두 Webview로 동작합니다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53148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버튼 1곳과 Webview 화면 9곳에 앱카드 연동이 들어갑니다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7665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버튼이 브릿지 페이지를 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수단에 앱카드 인증을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 때 이 화면 위에 인증 모듈을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 · 취소 안내 문구를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 진입을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9개 중 CJ ONS는 4개, 핏콜라보는 3개를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4927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선택에 앱카드 버튼을 두고 카드사 앱을 열며,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열며, 인증 모듈 호출을 준비합니다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인증 모듈을 띄우고, 결과 코드를 받아 출처를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동의하면 카드사 앱 인증을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본인 카드를 인증한 뒤 메가MGC커피 앱으로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호출 · 토큰 보관 · CI 계정 확인 · 주문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처리를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 · 인증 결과 제공 · 승인 대행 · 결제대행사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등록을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앱카드를 조회 · 등록 · 삭제하고, 닫으면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메가퀵결제로 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핏콜라보의 승인 등록을 받고 정산합니다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기능은 고객용 4가지, 결제 취소 1가지, 서버 주기 작업 1가지입니다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돌아갑니다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— (앱 안 이동)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처리합니다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취소합니다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38장, 기능별 호출 순서는 45~56장(처리 흐름)에서 확인합니다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  앱카드 가입 수단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판정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만 14세 미만 가입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거래번호 · 토큰 원칙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결제 정책 — 판단 · 경로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 — 결과 · 정산 · 취소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 — 결제 화면별 기준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카드사 9곳 코드 · 앱 등록값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 관리 정책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개인정보 별표2 대조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88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현행 시스템 연결 ① 회원 · 로그인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② 주문 · 결제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앱카드는 신규 가입 수단이며, 같은 CI면 기존 계정으로 로그인합니다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11924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없으면 앱카드 회원으로 가입시키고, KCP 본인인증 없이 앱카드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CI를 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가입한 계정이 있으면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회원이 다른 수단으로 들어와도 같은 CI면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1명(CI 1개)에 로그인 수단 여러 개를 연결하고, 1인 1계정은 CI로 지킵니다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가입할 때 본인인증 화면에서 앱카드 인증을 고를 수 있게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가입과 같은 판정 순서로 신규 가입을 처리합니다(12장)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동의를 마친 뒤 가입시킵니다(13장)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가입도 휴대폰 번호 가입과 같은 판정 순서를 거칩니다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앱카드를 연결합니다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불가 알럿을 띄우고 로그인 수단 선택으로 돌려보냅니다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오프라인에서 적립한 스탬프를 매칭해 앱카드 회원으로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번호에 기존 혜택이 있다는 고객센터 안내 알럿을 띄우고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동의(KCP 본인인증 생략)를 받고 가입 완료 팝업을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동의(13장)를 받은 뒤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미만은 보호자 본인인증과 동의를 마쳐야 가입합니다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생년월일 8자리로 가입일 기준 만 나이를 계산합니다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19세 이상이며, 가입하는 아동과 CI가 달라야 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보호자는 KCP 휴대폰 본인인증으로 인증합니다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본인인증이 끝나야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켜집니다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보호자가 필수 약관 · 위치 기반 서비스 · 마케팅(선택)을 항목별로 동의합니다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제22조의2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전에는 저장하지 않고, 인증 취소 · 실패 때 즉시 파기합니다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휴대폰번호 · 동의 일시 · 인증 거래번호만 저장합니다(CI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도달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 아동 정보는 저장하지 않고, 보호자 본인인증이 끝나야 동의를 받습니다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거래번호는 Webview에 넘기고, 토큰은 메가MGC커피 서버에만 둡니다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원칙은 거래번호는 Webview로, 토큰은 메가MGC커피 서버에만 두는 것이며, 토큰을 URL이나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412521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모듈 호출, 인증 결과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 응답으로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②로 발급받습니다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 응답으로 받아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인증 결과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조회로 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①, 결제 거래번호 발급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②, 카드관리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고정 IP를 쓸 수 없을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 핏콜라보에서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API 요청에 함께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않습니다.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88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판단 · 경로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핏콜라보 응답 authYN이 최종 판단합니다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 payType(카드 구분) · acntId(간편결제 계정 ID)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 · CI를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 N(인증 뒤 승인)으로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돌려줍니다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[확인필요(핏콜라보)]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5종(메가오더 · 함께오더 공용, 퀵오더, 홀케이크 · MD 예약, 선물 주문하기, 메가선불카드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 충전)은 결제 경로 1개를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요청합니다(29장)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씁니다(Flipbook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보여 주고, 카드사 목록 조회 API는 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결과 · 정산 · 취소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결과를 따로 보내지 않고 메가MGC커피 서버가 조회해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36449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전체 취소만 요청하고, 부분 취소는 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17장을 따르며, 취소 기간 제한은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일부 쓴 메가선불카드 충전 · 선물은 현행 잔액 기준 환불 조건으로 잔액을 돌려주고, 앱카드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취소는 쓰지 않은 건에만 요청합니다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결제의 확인 방식은 밀어서 결제로 통일합니다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 결제와 </a:t>
                      </a:r>
                      <a:r>
                        <a:rPr lang="en-US" sz="14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기준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 따릅니다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앱카드로 로그인 인증을 하면 그 카드가 결제 계정으로 자동 등록돼 첫 결제부터 원클릭이 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 자동 등록에 대한 고객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결제 화면별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다섯 결제 화면에서 같은 기준으로 결제하고 취소합니다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46405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결제하기 체크를 모두 통과한 뒤 결제 거래번호 발급 ②를 요청(29장)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확인(선물 주문하기 포함)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앱카드 계정을 카드사 · 카드번호 끝 4자리로 표시하고, 계정이 없어지면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없음 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고객(주문완료 상태) · 매장 · 에이전트 자동 취소 · 상담원 · 선물 결제 취소를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전체 취소로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결제금액을 환불하지 않으므로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분이 여러 명이어도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충전에도 앱카드를 쓰며, 유효기간 5년 초과 · 보유 + 충전 50만원 초과면 결제 전에 막음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88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카드사 9곳의 앱 이름을 미리 등록해야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9782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않습니다.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 [확인필요(핏콜라보): 공지 방식].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조회 · 등록 · 삭제는 </a:t>
            </a: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메가퀵결제 화면에서 앱카드 관리를 누르면, 메가MGC커피 서버가 데이터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적재(insSessionData.mv)로 sessionKey(세션 키)를 받고 Webview가 카드관리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페이지로 이동합니다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CI로 등록된 앱카드 계정 목록을 보여 줍니다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고르면 인증 모듈 → 카드사 앱 인증으로 등록합니다(앱카드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앱카드 계정을 삭제합니다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앱에서 돌아올 때 nativeFocusHandler를 카드관리 페이지가 받아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 · 문의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이름 변경 · 대표 카드 지정 · 약관 재표시 · 해지 기능은 없습니다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해지 · 등록 카드 · 탈퇴 뒤 카드 계정 문의는 </a:t>
                      </a:r>
                      <a:r>
                        <a:rPr lang="en-US" sz="13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전담</a:t>
                      </a: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[확인필요(법무팀):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해지권]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CI만 위탁하고, 계약 외 응답 항목은 저장하지 않습니다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85064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 즉시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파기합니다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카드 관리 API에 회원번호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주문자 이름을 보내지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5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생년(4자리) · 내외국인을 받습니다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제공 항목이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아닙니다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gender(필수) · email(선택) · di가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들어옵니다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 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14세 판정에만 쓰고, 생년 4자리만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저장합니다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· di 처리 기준은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확인 뒤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</a:t>
            </a:r>
            <a:r>
              <a:rPr sz="1100" b="1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흐름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CI만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위탁하고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핏콜라보가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돌려주는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5항목만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저장합니다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· di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로그인 요청 · 회원 테이블에 앱카드 값을 더해야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고유값 · 계정 유형을 로그인 요청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회원(APP_USER)마다 로그인유형코드 1개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 연결(구조 개선)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없는 기존 회원은 재로그인 때 1회 수집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없는 기존 회원이 없어 중복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신규 가입도 CI로 같은 제한 적용(12장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토큰은 만료 없이 유지(FO_005),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certificationComplete(토큰 전달)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 · refreshApi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 재사용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requestAuth · hasBio는 안 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CJ ONS가 현행 구조를 보고 확정합니다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결제 데이터에 앱카드 거래값을 저장할 자리를 정해야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482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결제(APP_ORD_DTL): 결제 유형 3종,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 승인번호 · 일시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tid와 pgTno 두 값의 저장 위치 결정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그룹 A 메가퀵결제 · B 신용카드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간편결제, 다음 주문 결제수단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 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설정 A 비밀번호 · B 생체인증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설정과 관계없이 밀어서 결제로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결제대행사는 검증값(가맹점 ID +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검증값이 없어 결제 ② · 승인 ④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필수(핏콜라보 연동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범위)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교환권 · 금액권 · 선불카드 · 멤버십을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선불카드는 </a:t>
                      </a:r>
                      <a:r>
                        <a:rPr lang="en-US" sz="12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</a:t>
                      </a: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승인 취소 ⑤ 뒤 복원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차감 시점]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메가MGC커피 서버의 주문 금액으로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 화면 1_1 · 1_2 · 2 · 3, 결제 화면 5종과 결제 전 체크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   화면 1_1 → 1_2 로그인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앱카드 버튼을 누르면 핏콜라보 인증 모듈이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398439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버튼이 브릿지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페이지를 열고,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안의 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0003(취소)을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보내면, 공통 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컴포넌트가 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돌아갑니다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처리하므로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이동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가로채 열고, Android는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때 포커스를 전달합니다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바텀시트는 앱카드 계정 → 카드사 선택 → 다른 결제수단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&gt; 카드사 선택 &gt; 변경하기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순서입니다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순이고, 처음 진입하면 첫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선택됩니다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진입 때 계정 목록 조회 ①을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계정(노출: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이미지 · 카드사명 · 카드명 · 마스킹 번호를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주고, 계정이 없으면 숨깁니다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펼쳐집니다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닫힙니다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누르면 화면 3 주문서로 이동합니다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88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결제를 끝까지 밀면 메가MGC커피 서버가 결제 거래번호를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결제 진행 중 → 주문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②(requestTid.mv)를 부릅니다(payType 0)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카드사 인증 →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→ 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③(reqAuthDataPay.mv) · 승인 ④로 이어집니다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진행 중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시점부터 인증 모듈 표시 또는 승인 응답까지 버튼을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type="range" 슬라이더이며, thumb가 value 100에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닿으면 결제를 시작합니다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88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주문서는 앱카드 계정을 메가퀵결제 계정보다 앞에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3075515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유지됩니다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앱카드 계정 → 메가퀵결제 계정 → 카드사 선택 → 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계정(노출: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같은 계정 목록 조회 결과를 함께 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결제대행사로 등록한 기존 간편결제라 앱카드 연동 범위가 아닙니다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같지만, 버튼 아래 공간이 있어 드롭다운이 아래로 펼쳐집니다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 밀어서 결제와 같은 결제 요청을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바꿉니다.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 화면에서는 앱카드 계정도 「메가퀵결제」로 표기하고, 카드 이미지 · 카드사명 · 카드번호로 구분합니다.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5종은 결제수단 목록에 앱카드를 더합니다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39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결제수단에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앱카드를 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카드간편결제 · 신용카드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결제 전 체크를 통과해야 결제 거래번호를 요청합니다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84886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 메인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화면과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 위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예약기간 · 상품 상태 → 매장 오더 오픈 → 매장 품절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예약일시 → 개인정보 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메인 위 「보낸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주문완료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유효기간 5년 초과, 보유 + 충전 50만원 초과면 알럿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충전 금액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닫고 메가선불카드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충전 완료 알럿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0626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3311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화면은 앱카드 결제의 실패 · 취소 안내를 더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승인 뒤 매장에 주문이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주문번호 · tid(결제 거래번호)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approvalNo(승인번호) · pgTno(결제대행사 거래번호)를 함께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인증이나 승인이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화면이 실패 안내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결제를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 취소 ⑤를 부르고, 주문 결과 화면이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매장이 제조를 진행합니다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앱카드와 관계없이 현행 그대로입니다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앱카드 결제도 현행 상태를 그대로 쓰고, 취소는 승인 취소 ⑤로 처리합니다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88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인증 모듈을 공통 웹 컴포넌트로 띄우는 방식을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object/iframe으로 띄우고, 주소의 #/ 뒤에 호출값을 붙입니다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남고, 같은 화면에 인증 모듈을 두 번 만들지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주소에서 온 결과만 처리하고, 리스너는 띄울 때 등록 · 닫을 때 해제합니다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돌아갑니다(로그인은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컴포넌트가 인증 모듈에 전달합니다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처리가 없습니다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버튼으로 브릿지 페이지 열기, 카드사 앱 주소 가로채기 · 실행(없으면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복귀 알림만 하고, 인증 처리 로직은 Native에 두지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88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0000일 때만 메가MGC커피 서버가 확정합니다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7단계로 인증 모듈을 띄우고 결과를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3711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필요하면 거래번호를 요청하고, 메가MGC커피 서버는 transNo(로그인) 또는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tid(결제)를 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호출한 화면 위에 인증 모듈을 object/iframe으로 띄우고, 다른 페이지로 이동하지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동의한 뒤 카드사 앱에서 인증합니다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카드사 앱에서 돌아오면 현재 Webview의 nativeFocusHandler를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부릅니다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코드를 받고, 메시지가 인증 모듈 주소에서 왔는지 검증합니다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 조회 ·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승인을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토큰을 받아 홈 또는 주문으로, 결제는 주문 결과로 이동합니다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바꿉니다.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모듈은 인증 거래번호와 기기 구분 값만 있으면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3410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한 건을 가리키는 16자 번호이며, 메가MGC커피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인증 거래번호 발급 ①(reqTransNo.mv)로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받은 값을 그대로 넣고 5분 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화면과 카드사 앱 호출 방식을 고르는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값입니다(1 iOS Web · 2 iOS App · 3 AOS Web · 4 AOS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앱 Webview 2, Android 앱 Webview 4로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보입니다 [확인필요(핏콜라보 · 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있으면 그 카드사 화면만, 없으면 카드사 9곳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보여 줍니다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않습니다(고객이 인증 모듈에서 카드사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부르는 위치 구분값이며, 생략하면 N입니다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01은 카드사 앱 안 앱카드iN에서 부를 때만 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Y면 인증 모듈에 가맹점 약관을 함께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모듈은 tid · 금액 · 카드 구분을 받습니다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6179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로그인과 같은 값(하이브리드 Webview 값 확인 필요)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88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 받아 화면 2 ·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3의 1a에 보입니다.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받습니다.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결과 코드 0000만 메가MGC커피 서버 확인으로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9547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메가MGC커피 서버에 알리며, </a:t>
                      </a: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설치하기를 누르면 함께 온 scheme(스토어 주소)을 열고, 인증 모듈은 닫지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resultMessage(카드사 앱 미인증, 유효기간 만료 카드 등)를 안내합니다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이전 화면으로 돌아가며, 0001 직후의 0003은 스토어 이동에 따른 종료입니다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 결제 인증(payType 1)일 때 카드사 앱 인증 뒤에 전달됩니다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카드사 앱 주소를 가로채 열고, Android만 복귀를 알립니다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가로챕니다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Android는 shouldOverrideUrlLoading, iOS는 decidePolicyFor에서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카드사 앱 주소를 외부 앱으로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 Play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스토어를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추가합니다 [확인필요(CJ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ONS)]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알립니다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 보내지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않습니다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없습니다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없습니다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감지합니다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조회합니다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엽니다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CI 등 회원 정보를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거래번호와 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인증이 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 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 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 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88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2종은 인증 거래번호와 인증 토큰을 짝으로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번호와 토큰을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 · 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 1회용,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받습니다(인증 후 3분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② 응답의 gender(성별) · email(이메일)은 계약 제공 항목이 아니므로 메가MGC커피 서버가 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88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①~③은 결제 거래번호 · 결제 토큰 · 계정 ID를 이어서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73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 acntId(간편결제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계정 ID) · 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6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한 건의 결제 거래번호와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goodsName(상품명)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 · instType(할부 구분)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installment(할부 개월)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 · isOneclick(원클릭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여부) · payType(카드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 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결제에서 카드사 인증이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88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④~⑥과 카드 관리 API는 승인번호와 세션 키를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869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 · 세액 항목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 · 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mid(결제대행사 가맹점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 type(취소 구분,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 · 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88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않습니다.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서로 다른 값입니다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결제대행사 거래번호(pgTno)와 취소 거래번호(cancelTid · cancelPgTno)도 별개 값이며, 인증 모듈 2.1.2 결과 코드 표에 1200이 없는지 핏콜라보가 확인해야 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API는 POST · form-urlencoded로 보내고 JSON으로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보냅니다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서버와 핏콜라보 서버는 HTTPS(TLS 1.2 이상)로 통신합니다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합니다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승인 요청과 승인 취소의 응답을 30초~1분 기다립니다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판정(12장)을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12장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88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단계마다 보내는 쪽 · 받는 쪽 · 규칙이 정해져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966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핏콜라보를 부르고, storeId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transType(L)을 보내 transNo · token을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호출값은 transNo · deviceType · nativeYN=N이고, token은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 포커스를 전달하고, iOS는 인증 모듈이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감지합니다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성공 · 0001 스토어 이동 · 0002 실패 · 0003 취소, 1200은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token을 보내며, 3분을 넘기면 1500, token이 다르면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 · name · phoneNo · 생년 · nation만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저장하고, 생년월일은 만 14세 판정에만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CI로 같은 계정이 있으면 그 계정으로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로그인시키고, 없으면 가입 판정(12장)을 거쳐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Native는 홈 또는 진행 중이던 주문 화면으로 이동합니다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88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고객이 주문하면 로그인 후 그 주문으로 돌아갑니다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누릅니다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흐름(앞 장)과 같은 순서로 앱카드 로그인을 진행합니다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돌아갑니다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완료 화면 대신 원래 주문하기 화면을 열고 결제를 이어 갑니다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앱은 로그인 중에도 주문 정보를 유지해야 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씁니다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CI로 계정 목록을 조회하고 원클릭 조건을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합니다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기능이 없으면 CJ ONS가 앱 · 웹에 새로 만들어야 합니다 [확인필요(CJ ONS)]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앱 · 웹에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 응답에 따라 원클릭과 인증 결제로 나뉩니다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단계마다 메가MGC커피 서버가 지켜야 할 규칙이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승인을 다시 부르지 않고 거래 상태 조회(결제 ⑥)로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0(기존, 계정 ID 포함) 또는 1(신규, 카드사 코드)을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보냅니다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요청하는 순간부터 결제 버튼을 잠급니다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tid · amount · orderNo · payType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termYN=N입니다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reqToken을 보내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approvalNo를 저장하고, 응답이 없으면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 ⑥을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승인은 됐는데 주문이 없으면 메가MGC커피 서버가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⑤를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88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원클릭은 인증 없이, 인증 결제는 카드사 앱 인증 뒤 승인합니다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643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1a 앱카드 계정을 고르고 결제합니다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payType=0, isOneclick=Y, 고른 계정의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payType=1, 고른 카드사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결제 화면 위에 띄우고, 계정 ID는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③으로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주문을 만들고, 실패하면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원클릭과 같고, 이 카드는 다음 결제부터 계정 목록에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맞지 않으면 별도 안내 없이 인증 화면이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결제 키 대신 결제 거래번호로 현행 결제 흐름을 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3133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 보여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줍니다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 Webview에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· 간편결제 앱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앱은 포커스로 복귀를 알립니다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 5경로와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88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메가MGC커피 서버가 핏콜라보 응답으로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sessionKey를 받아 카드관리 페이지를 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100317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 주소에 sessionKey · token · storeId를 붙여 웹 화면 이동으로 엽니다(iframe 아님)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nativeFocusHandler를 받으므로 앱은 결제와 같은 처리를 씁니다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기준과 고객 안내 문구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결제 · 취소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고객 안내 문구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예외는 대부분 처음부터 다시 시작합니다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5810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scheme(스토어 주소)을 열고 인증 모듈은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resultMessage로 다시 시도를 안내합니다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직전 화면으로 돌아갑니다(로그인은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 발급합니다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뒤 3분이 지났으므로 reqTransNo부터 다시 시작합니다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때와 다른 token을 보냈으므로 거래번호 발급부터 다시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처음부터 다시 하고, 결제는 승인을 요청하지 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핏콜라보에 메가MGC커피 서버 공인 IP 등록을 요청합니다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예외에서 메가MGC커피 서버는 주문을 임의로 확정하지 않습니다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08381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발급하고, 인증 결제는 처음부터 다시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일시불만 쓰므로 일시불로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주문을 확정하지 않고 응답의 거절 사유(contents)를 확인합니다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다시 부르지 않고 30초~1분 기다린 뒤 reqCondition으로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appcardCancel로 전체 취소한 뒤 주문을 실패로 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조건이 맞지 않아 받은 tid 그대로 인증 모듈을 띄웁니다(재발급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성공으로 처리하지 않고 거래 상태 조회로 cancelState를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기취소(A009)나 취소 불가(A020 · A057)이므로 응답 사유를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고객 안내 문구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나면 고객 화면에는 정해진 문구만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거래번호 같은 내부 값은 고객 화면에 보이지 않고, 카드사 사유는 알럿 아래 줄에만 붙입니다.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인증에 실패했어요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카드사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없이 직전 화면으로 돌아갑니다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· 1500 인증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시간이 지나 처음부터 다시 진행해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· 1402 인증 미완료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인증이 끝나지 않아 다시 진행해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연동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일시적인 오류로 잠시 뒤 다시 시도해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결제 거래번호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시간이 지나 처음부터 다시 결제해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카드사에서 결제를 승인하지 않았어요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결과를 확인하고 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접수에 실패해 결제를 취소했어요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카드는 카드사 인증이 한 번 더 필요해요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 토스트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· A009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결제예요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A020 · A057 취소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결제를 취소할 수 없어 고객센터로 문의해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승인만 다시 부르지 않고, 나머지 API는 다시 불러도 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못 받아도 다시 부르지 않고 거래 상태 조회 ⑥으로 결과를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건이면 9001이 오므로 거래 상태 조회로 cancelState를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값을 다시 보내 결과를 다시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 새로 발급받고, 결과 미확인 결제가 있는 주문은 새로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248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516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388612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388612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승인은 다시 부르지 않고 거래 상태 조회로 결과를 확정합니다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845812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845812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937252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서버는 8가지 구현 기준을 지켜야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92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바텀시트 · 전체화면이 그려진 뒤 인증 모듈을 띄우고, object/WebView를 두 번 만들지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focus(true)만, 복귀 1회에 한 번만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인증 모듈을 띄울 때 리스너를 한 번 등록하고, 인증 모듈이 끝나면 해제합니다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화면의 성공 코드만으로 로그인 · 승인을 확정하지 않고, 메가MGC커피 서버 응답으로 확정합니다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주소에서 왔고 결과 코드가 있는 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token · reqToken · storeAuthKey를 관리하고, 앱 · 분석 로그에 원문을 남기지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 · 슬라이더는 실행 뒤 잠그고, 성공 · 실패가 확정되면 다시 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결제 ② · 승인 ④의 amount를 메가MGC커피 서버의 주문 금액과 대조하고,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가맹점에서 세 가지 사고가 반복됐습니다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300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· 웹뷰가 넣은 빈 메시지를 인증 모듈의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결과로 처리했습니다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출처를 검증하고, 결과 코드가 있는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결제 버튼을 연속으로 눌렀습니다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요청 시점부터 인증 모듈 표시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승인을 취소하고, 응답이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없던 건은 거래 상태 조회로 정리합니다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결제 흐름의 세 지점에서 기본 처리로 사고를 막습니다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핏콜라보가 승인하고 결제대행사는 승인 등록을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0448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연동 방식 회신 대기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승인 등록을 받는 연동 하나로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주문번호 · tid · 승인번호 · pgTno를 함께 보관합니다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495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결제 ② 요청 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만듭니다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네 값은 생기는 곳이 달라 메가MGC커피 서버가 함께 모아 저장합니다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구분값(pgType) 목록에 CJ ONS 추가가 필요합니다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CJ ONS(OnePG)를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7203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 목록(KICC · 이니시스 · KCP · 나이스 · 스마트로 · 토스 · KSNET · 신한은행)에 CJ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ONS(OnePG)가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할부 정보 조회 · 가맹점 번호 조회 · 승인 등록 · 거래 상태 조회 · 취소 5종을 만드는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중계 API는 기본 개발 범위에 넣지 않고, 핏콜라보 · CJ ONS 협의에서 필요하다고 정한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경우에만 개발 과제로 넣습니다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CJ ONS(OnePG) 추가 개발 일정과 승인 등록 연동 방식(회신 대기 1순위)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협의 안건으로 OnePG 쪽 중계 API 필요 여부를 공유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정보와 신용카드 가맹점 번호를 핏콜라보에 넘겨야 가맹점 ID(storeId)가 발급됩니다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핏콜라보가 CJ ONS를 추가하면 현행 정산 구조를 그대로 씁니다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CJ 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CJ ONS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   작업 매트릭스 — 메가MGC커피 서버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작업 매트릭스 — 앱 · 웹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메가MGC커피 서버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Native 작업이 가장 적습니다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결제수단 코드 반영과 취소 경로 연결도 메가MGC커피 서버 범위입니다.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8113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 서버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12 · 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방지(주문당 결제 1건, 결과 미확인 주문 재결제 차단)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대조(21 · 22장)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API(협의에서 필요하다고 정한 경우)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앱 · 웹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공통 웹 컴포넌트와 결제수단 화면을 새로 만듭니다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이동(29장)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가로채기나 주문 복귀 기능이 없으면 앱 작업이 늘어납니다.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전에 13개 개발 과제의 확인 사항을 먼저 풀어야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2건은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49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 범위 · 공수,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 추가 개발 일정(핏콜라보),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 때 승인 취소 ⑤ 호출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API 규격서 v1.0.4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88</a:t>
            </a:r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B.O와 리포트에 앱카드 결제수단 코드를 반영해야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주문 조회 값 · 결제수단 코드 · 로그 기준은 정해졌고, 매출 리포트 항목과 GA4 이벤트는 마케팅1팀이 정합니다.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6165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조회에 앱카드 결제수단 · 주문번호 · tid · 승인번호 ·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카드사를 보여 줍니다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결제수단별 매출에서 앱카드를 따로 집계합니다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 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· 매장 취소 경로가 승인 취소 ⑤를 부르도록 연결합니다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주기 작업의 실행 이력과 처리 결과(정상 · 취소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실패)를 기록합니다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· 실패 처리 담당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가립니다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남깁니다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 시작하려면 가맹점 ID와 방화벽부터 준비해야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 · 가맹점 번호를 주면 핏콜라보가 storeId를 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호스트 · 인증 모듈 주소 · 출처 검증 값을 설정값으로 둡니다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카드관리페이지 API 규격서 v1.0.4를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가맹점 ID와 방화벽이 열려야 스테이징 테스트를 시작할 수 있습니다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스테이징도 실제 승인이 나므로 본인 카드로 결제 후 취소합니다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결제 화면 5종(메가오더 · 함께오더, 퀵오더,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취소합니다.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전에는 운영 값 전환 4가지를 확인합니다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 서버 호스트, 인증 모듈 주소, 메시지 출처 검증 값이 스테이징 값에서 운영 값으로 바뀌었는지 확인합니다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메가MGC커피 서버 공인 IP가 등록되고 운영 방화벽이 열렸는지 확인합니다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가맹점 ID와 결제대행사 정보(pgType · 가맹점 번호)가 운영 값인지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금액과 주문 금액이 같은지, 승인 응답을 못 받은 건 정리가 동작하는지 확인합니다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심사에는 앱카드 전 과정 영상과 다른 로그인 계정을 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인증 모듈 → 카드사 앱 이동 · 인증 → 앱 복귀 → 로그인 · 결제 완료까지의 영상이나 캡처를 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심사 정보에 영상 · 캡처를 붙이고, 국내 카드사 앱 본인 인증이라 직접 확인할 수 없다고 메모에 적습니다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액세스 설명에 같은 내용을 적고 영상은 링크로 넣습니다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앱카드가 아닌 방식으로 로그인할 수 있는 심사용 계정을 함께 냅니다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 · 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   정책 기준 6가지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핏콜라보 회신 대기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CJ ONS 확인 12건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   법무 확인 6건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정책 기준 6가지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로그인 유지 · 본인인증 · 결제 확인 · 회원 · 오픈 기준입니다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6가지는 모두 확정된 개발 기준이며, 핏콜라보 확인이 남은 항목은 없습니다.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73646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모듈에 메가MGC커피 약관을 넣지 않음(storeTermYN 미사용, termYN=N)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 토큰 인증 API 미사용)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가입 때 본인인증 화면에서 앱카드 인증을 고를 수 있게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본인인증 건수 감소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밀어서 결제로 확인(생체인증 · 비밀번호 미적용)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신용카드와 같은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결제에만 적용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24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판정을 거침(12장)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가입(13장)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미보유 기존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· 로그인 · 결제 화면 5종 · 카드 관리를 </a:t>
                      </a:r>
                      <a:r>
                        <a:rPr lang="en-US" sz="135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오픈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중에는 결제대행사 승인 등록 방식이 가장 급합니다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81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ONS(OnePG) 추가 개발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규격서(storeUserNo · userName 선택),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응답의 카드 표시값,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 Webview의 deviceType 값, 카드사 취소 반영 기간(고객 안내 문구)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회신이 늦으면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  <p:sp>
        <p:nvSpPr>
          <p:cNvPr id="7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현행 앱 기능 · 데이터 구조와 OnePG 범위를 확인해야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범위가 달라지므로 공수 재산정 전에 받으며, 전체 목록 원장은 docx 11-3입니다.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00666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 이동을 가로채는지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iOS · Android에 가로채기 처리를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등록 카드사 앱 목록, 카드사 추가 때 갱신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국민 · 삼성 · 현대, Android 삼성 · 우리의 신규 등록 여부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실패의 결제 취소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취소 · 충전 실패 때 승인 취소 ⑤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주문 중 로그인 뒤 주문 복귀 기능이 있는지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앱 · 웹에 복귀 기능을 새로 만듭니다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 필요 여부(협의 안건)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필요하면 개발 과제에 넣고 공수를 다시 산정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작업 간격 · 실패 처리 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 시간, 실패 건 처리 주체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 차감 시점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차감, 승인 취소 뒤 복원(22장)을 적용할 수 있는지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 값의 본인인증 · 가입 판정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공수, 가입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기능 차단 장치 · 롤백 · 구버전 앱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때 앱카드만 내리는 방법, 강제 업데이트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88</a:t>
            </a:r>
          </a:p>
        </p:txBody>
      </p:sp>
      <p:sp>
        <p:nvSpPr>
          <p:cNvPr id="75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법무 확인 6건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법무팀은 개인정보 · 원클릭 책임 · 해지권 등 6가지를 봐야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[확인필요(법무팀)].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6600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응답의 성별 · 이메일(계약 제외 항목) 처리, 생년월일을 만 14세 판정에만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제22조의2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처리방침의 핏콜라보 수탁 · 제공 항목 개정과 기존 회원 고지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제26조 · 제30조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88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   통합 프로세스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200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 · 연동 요약서: transNo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tid 조회 실패,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핏콜라보 연동 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범위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일시불(installment 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9524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6.2.5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 6장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예제: 3(AOS Web)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예시: 2(iOS App)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 · CJ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별표2: 위탁 CI만, 제공 5항목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규격: 결제 storeUserNo · userName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 · di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CI만 전송, gender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email · di 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프로그램 목록: 일반 결제만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MGC_ORD_132 · 133: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2: 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3: 앱카드 퀵결제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외부IF리스트 · 화면설계서 설명: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휴대폰 계정에 SNS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회원마다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사전예약 폐기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88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2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화면으로, 로그인 수단 선택 · 전체메뉴 · 홈이 해당합니다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화면으로, 브릿지 페이지 · 본인인증 · 약관 · 주문하기 · 주문 결과 · 메가퀵결제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해당합니다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여는 Webview 페이지이며, 공통 웹 컴포넌트를 담아 인증 모듈을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 · 결과 수신 · 출처 검증 · 포커스 수신 · 메가MGC커피 서버 호출을 담은 공통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스크립트입니다(메가MGC커피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카드사 선택 · 약관 동의 · 카드사 앱 인증 웹 페이지(화면 1_2)입니다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앱카드 조회 · 등록 · 삭제 웹 페이지입니다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메가MGC커피의 현행 결제대행사 등록 간편결제이며, 전체메뉴 &gt; 결제에서 관리합니다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ONS가 운영하는 결제대행사(PG)입니다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인증으로 가입 · 로그인하는 수단(CI는 KCP 없이 받고, 신규 가입은 12장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88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거래번호(16자)와 함께 받는 1회용 토큰(32자)이며, token은 메가MGC커피 서버만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거래번호(20자)와 함께 받는 토큰(64자)이며, reqToken은 메가MGC커피 서버만 보관합니다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응답으로, Y는 인증 없이 승인(원클릭), N은 인증 뒤 승인입니다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보내는 카드 구분으로, 0은 기존 카드, 1은 새 카드입니다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간편결제 계정 ID와 간편결제 회원번호이며, 기존 카드 결제에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storeId는 핏콜라보가 발급한 가맹점 ID이고, storeUserNo(회원번호)는 보내지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승인번호와 결제대행사 거래번호이며, approvalNo는 승인 취소에 꼭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본인확인 연계정보로, 회원을 찾고 앱카드 계정을 조회하는 유일한 회원 식별값입니다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고객 행동과 판단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88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판정(12장)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않습니다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시스템별 처리와 데이터 흐름입니다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부릅니다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38장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16894</Words>
  <Application>Microsoft Office PowerPoint</Application>
  <PresentationFormat>와이드스크린</PresentationFormat>
  <Paragraphs>2756</Paragraphs>
  <Slides>83</Slides>
  <Notes>83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87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2026-10-22T10:10:36Z</dcterms:modified>
</cp:coreProperties>
</file>