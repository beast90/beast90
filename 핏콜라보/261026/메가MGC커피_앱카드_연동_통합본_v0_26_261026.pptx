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0"/>
  </p:notesMasterIdLst>
  <p:sldIdLst>
    <p:sldId id="256" r:id="rId2"/>
    <p:sldId id="257" r:id="rId3"/>
    <p:sldId id="258" r:id="rId4"/>
    <p:sldId id="259" r:id="rId5"/>
    <p:sldId id="326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340" r:id="rId14"/>
    <p:sldId id="341" r:id="rId15"/>
    <p:sldId id="268" r:id="rId16"/>
    <p:sldId id="269" r:id="rId17"/>
    <p:sldId id="270" r:id="rId18"/>
    <p:sldId id="342" r:id="rId19"/>
    <p:sldId id="271" r:id="rId20"/>
    <p:sldId id="272" r:id="rId21"/>
    <p:sldId id="273" r:id="rId22"/>
    <p:sldId id="335" r:id="rId23"/>
    <p:sldId id="336" r:id="rId24"/>
    <p:sldId id="274" r:id="rId25"/>
    <p:sldId id="275" r:id="rId26"/>
    <p:sldId id="276" r:id="rId27"/>
    <p:sldId id="277" r:id="rId28"/>
    <p:sldId id="278" r:id="rId29"/>
    <p:sldId id="279" r:id="rId30"/>
    <p:sldId id="343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337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44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  <p:sldId id="322" r:id="rId76"/>
    <p:sldId id="323" r:id="rId77"/>
    <p:sldId id="324" r:id="rId78"/>
    <p:sldId id="325" r:id="rId79"/>
    <p:sldId id="327" r:id="rId80"/>
    <p:sldId id="328" r:id="rId81"/>
    <p:sldId id="329" r:id="rId82"/>
    <p:sldId id="330" r:id="rId83"/>
    <p:sldId id="331" r:id="rId84"/>
    <p:sldId id="332" r:id="rId85"/>
    <p:sldId id="333" r:id="rId86"/>
    <p:sldId id="334" r:id="rId87"/>
    <p:sldId id="338" r:id="rId88"/>
    <p:sldId id="339" r:id="rId8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3148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5C3E84-8F60-434B-9787-D5EDA131128B}" v="3" dt="2026-10-26T06:59:32.4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Relationship Id="rId95" Type="http://schemas.microsoft.com/office/2016/11/relationships/changesInfo" Target="changesInfos/changesInfo1.xml"/><Relationship Id="rId9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문 진승" userId="4d4d7787-e10c-42c5-ab64-b0d0e0438d64" providerId="ADAL" clId="{DB4B0D55-DDE0-40F6-B946-69DBCD43A701}"/>
    <pc:docChg chg="undo redo custSel modSld">
      <pc:chgData name="문 진승" userId="4d4d7787-e10c-42c5-ab64-b0d0e0438d64" providerId="ADAL" clId="{DB4B0D55-DDE0-40F6-B946-69DBCD43A701}" dt="2026-10-26T07:05:36.172" v="466" actId="20577"/>
      <pc:docMkLst>
        <pc:docMk/>
      </pc:docMkLst>
      <pc:sldChg chg="addSp delSp modSp mod setBg">
        <pc:chgData name="문 진승" userId="4d4d7787-e10c-42c5-ab64-b0d0e0438d64" providerId="ADAL" clId="{DB4B0D55-DDE0-40F6-B946-69DBCD43A701}" dt="2026-10-21T04:29:51.820" v="11"/>
        <pc:sldMkLst>
          <pc:docMk/>
          <pc:sldMk cId="0" sldId="256"/>
        </pc:sldMkLst>
      </pc:sldChg>
      <pc:sldChg chg="modSp mod setBg">
        <pc:chgData name="문 진승" userId="4d4d7787-e10c-42c5-ab64-b0d0e0438d64" providerId="ADAL" clId="{DB4B0D55-DDE0-40F6-B946-69DBCD43A701}" dt="2026-10-21T04:30:14.145" v="17" actId="207"/>
        <pc:sldMkLst>
          <pc:docMk/>
          <pc:sldMk cId="0" sldId="258"/>
        </pc:sldMkLst>
        <pc:spChg chg="mod">
          <ac:chgData name="문 진승" userId="4d4d7787-e10c-42c5-ab64-b0d0e0438d64" providerId="ADAL" clId="{DB4B0D55-DDE0-40F6-B946-69DBCD43A701}" dt="2026-10-21T04:30:14.145" v="17" actId="207"/>
          <ac:spMkLst>
            <pc:docMk/>
            <pc:sldMk cId="0" sldId="258"/>
            <ac:spMk id="3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0:08.522" v="15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0:08.522" v="15" actId="207"/>
          <ac:spMkLst>
            <pc:docMk/>
            <pc:sldMk cId="0" sldId="258"/>
            <ac:spMk id="6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0:08.522" v="15" actId="207"/>
          <ac:spMkLst>
            <pc:docMk/>
            <pc:sldMk cId="0" sldId="258"/>
            <ac:spMk id="7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0:08.522" v="15" actId="207"/>
          <ac:spMkLst>
            <pc:docMk/>
            <pc:sldMk cId="0" sldId="258"/>
            <ac:spMk id="8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0:08.522" v="15" actId="207"/>
          <ac:spMkLst>
            <pc:docMk/>
            <pc:sldMk cId="0" sldId="258"/>
            <ac:spMk id="9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0:08.522" v="15" actId="207"/>
          <ac:spMkLst>
            <pc:docMk/>
            <pc:sldMk cId="0" sldId="258"/>
            <ac:spMk id="10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0:10.798" v="16" actId="207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문 진승" userId="4d4d7787-e10c-42c5-ab64-b0d0e0438d64" providerId="ADAL" clId="{DB4B0D55-DDE0-40F6-B946-69DBCD43A701}" dt="2026-10-26T07:05:36.172" v="466" actId="20577"/>
        <pc:sldMkLst>
          <pc:docMk/>
          <pc:sldMk cId="0" sldId="259"/>
        </pc:sldMkLst>
        <pc:spChg chg="mod">
          <ac:chgData name="문 진승" userId="4d4d7787-e10c-42c5-ab64-b0d0e0438d64" providerId="ADAL" clId="{DB4B0D55-DDE0-40F6-B946-69DBCD43A701}" dt="2026-10-26T06:55:59.638" v="142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6T06:57:37.445" v="250" actId="207"/>
          <ac:spMkLst>
            <pc:docMk/>
            <pc:sldMk cId="0" sldId="259"/>
            <ac:spMk id="16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6T07:05:36.172" v="466" actId="20577"/>
          <ac:spMkLst>
            <pc:docMk/>
            <pc:sldMk cId="0" sldId="259"/>
            <ac:spMk id="21" creationId="{00000000-0000-0000-0000-000000000000}"/>
          </ac:spMkLst>
        </pc:spChg>
        <pc:graphicFrameChg chg="mod modGraphic">
          <ac:chgData name="문 진승" userId="4d4d7787-e10c-42c5-ab64-b0d0e0438d64" providerId="ADAL" clId="{DB4B0D55-DDE0-40F6-B946-69DBCD43A701}" dt="2026-10-26T07:00:42.988" v="404" actId="20577"/>
          <ac:graphicFrameMkLst>
            <pc:docMk/>
            <pc:sldMk cId="0" sldId="259"/>
            <ac:graphicFrameMk id="5" creationId="{00000000-0000-0000-0000-000000000000}"/>
          </ac:graphicFrameMkLst>
        </pc:graphicFrameChg>
      </pc:sldChg>
      <pc:sldChg chg="modSp">
        <pc:chgData name="문 진승" userId="4d4d7787-e10c-42c5-ab64-b0d0e0438d64" providerId="ADAL" clId="{DB4B0D55-DDE0-40F6-B946-69DBCD43A701}" dt="2026-10-21T04:41:47.988" v="25" actId="21"/>
        <pc:sldMkLst>
          <pc:docMk/>
          <pc:sldMk cId="0" sldId="260"/>
        </pc:sldMkLst>
        <pc:graphicFrameChg chg="mod">
          <ac:chgData name="문 진승" userId="4d4d7787-e10c-42c5-ab64-b0d0e0438d64" providerId="ADAL" clId="{DB4B0D55-DDE0-40F6-B946-69DBCD43A701}" dt="2026-10-21T04:41:47.988" v="25" actId="21"/>
          <ac:graphicFrameMkLst>
            <pc:docMk/>
            <pc:sldMk cId="0" sldId="260"/>
            <ac:graphicFrameMk id="6" creationId="{00000000-0000-0000-0000-000000000000}"/>
          </ac:graphicFrameMkLst>
        </pc:graphicFrameChg>
      </pc:sldChg>
      <pc:sldChg chg="modSp mod">
        <pc:chgData name="문 진승" userId="4d4d7787-e10c-42c5-ab64-b0d0e0438d64" providerId="ADAL" clId="{DB4B0D55-DDE0-40F6-B946-69DBCD43A701}" dt="2026-10-21T04:43:28.224" v="47" actId="20577"/>
        <pc:sldMkLst>
          <pc:docMk/>
          <pc:sldMk cId="0" sldId="262"/>
        </pc:sldMkLst>
        <pc:spChg chg="mod">
          <ac:chgData name="문 진승" userId="4d4d7787-e10c-42c5-ab64-b0d0e0438d64" providerId="ADAL" clId="{DB4B0D55-DDE0-40F6-B946-69DBCD43A701}" dt="2026-10-21T04:43:28.224" v="47" actId="20577"/>
          <ac:spMkLst>
            <pc:docMk/>
            <pc:sldMk cId="0" sldId="262"/>
            <ac:spMk id="4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4:35:10.339" v="19" actId="1076"/>
          <ac:spMkLst>
            <pc:docMk/>
            <pc:sldMk cId="0" sldId="262"/>
            <ac:spMk id="8" creationId="{00000000-0000-0000-0000-000000000000}"/>
          </ac:spMkLst>
        </pc:spChg>
      </pc:sldChg>
      <pc:sldChg chg="addSp delSp modSp mod">
        <pc:chgData name="문 진승" userId="4d4d7787-e10c-42c5-ab64-b0d0e0438d64" providerId="ADAL" clId="{DB4B0D55-DDE0-40F6-B946-69DBCD43A701}" dt="2026-10-21T05:16:44.707" v="102" actId="122"/>
        <pc:sldMkLst>
          <pc:docMk/>
          <pc:sldMk cId="0" sldId="263"/>
        </pc:sldMkLst>
        <pc:graphicFrameChg chg="mod modGraphic">
          <ac:chgData name="문 진승" userId="4d4d7787-e10c-42c5-ab64-b0d0e0438d64" providerId="ADAL" clId="{DB4B0D55-DDE0-40F6-B946-69DBCD43A701}" dt="2026-10-21T05:16:44.707" v="102" actId="122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modSp mod">
        <pc:chgData name="문 진승" userId="4d4d7787-e10c-42c5-ab64-b0d0e0438d64" providerId="ADAL" clId="{DB4B0D55-DDE0-40F6-B946-69DBCD43A701}" dt="2026-10-21T05:17:00.245" v="103" actId="108"/>
        <pc:sldMkLst>
          <pc:docMk/>
          <pc:sldMk cId="0" sldId="264"/>
        </pc:sldMkLst>
        <pc:spChg chg="mod">
          <ac:chgData name="문 진승" userId="4d4d7787-e10c-42c5-ab64-b0d0e0438d64" providerId="ADAL" clId="{DB4B0D55-DDE0-40F6-B946-69DBCD43A701}" dt="2026-10-21T05:14:06.139" v="79" actId="207"/>
          <ac:spMkLst>
            <pc:docMk/>
            <pc:sldMk cId="0" sldId="264"/>
            <ac:spMk id="3" creationId="{00000000-0000-0000-0000-000000000000}"/>
          </ac:spMkLst>
        </pc:spChg>
        <pc:spChg chg="mod">
          <ac:chgData name="문 진승" userId="4d4d7787-e10c-42c5-ab64-b0d0e0438d64" providerId="ADAL" clId="{DB4B0D55-DDE0-40F6-B946-69DBCD43A701}" dt="2026-10-21T05:17:00.245" v="103" actId="108"/>
          <ac:spMkLst>
            <pc:docMk/>
            <pc:sldMk cId="0" sldId="264"/>
            <ac:spMk id="4" creationId="{00000000-0000-0000-0000-000000000000}"/>
          </ac:spMkLst>
        </pc:spChg>
        <pc:graphicFrameChg chg="modGraphic">
          <ac:chgData name="문 진승" userId="4d4d7787-e10c-42c5-ab64-b0d0e0438d64" providerId="ADAL" clId="{DB4B0D55-DDE0-40F6-B946-69DBCD43A701}" dt="2026-10-21T05:16:39.458" v="101" actId="122"/>
          <ac:graphicFrameMkLst>
            <pc:docMk/>
            <pc:sldMk cId="0" sldId="264"/>
            <ac:graphicFrameMk id="10" creationId="{00000000-0000-0000-0000-000000000000}"/>
          </ac:graphicFrameMkLst>
        </pc:graphicFrameChg>
      </pc:sldChg>
      <pc:sldChg chg="modSp mod">
        <pc:chgData name="문 진승" userId="4d4d7787-e10c-42c5-ab64-b0d0e0438d64" providerId="ADAL" clId="{DB4B0D55-DDE0-40F6-B946-69DBCD43A701}" dt="2026-10-21T05:20:33.990" v="136" actId="113"/>
        <pc:sldMkLst>
          <pc:docMk/>
          <pc:sldMk cId="0" sldId="267"/>
        </pc:sldMkLst>
        <pc:spChg chg="mod">
          <ac:chgData name="문 진승" userId="4d4d7787-e10c-42c5-ab64-b0d0e0438d64" providerId="ADAL" clId="{DB4B0D55-DDE0-40F6-B946-69DBCD43A701}" dt="2026-10-21T05:15:10.065" v="85" actId="108"/>
          <ac:spMkLst>
            <pc:docMk/>
            <pc:sldMk cId="0" sldId="267"/>
            <ac:spMk id="3" creationId="{00000000-0000-0000-0000-000000000000}"/>
          </ac:spMkLst>
        </pc:spChg>
        <pc:graphicFrameChg chg="modGraphic">
          <ac:chgData name="문 진승" userId="4d4d7787-e10c-42c5-ab64-b0d0e0438d64" providerId="ADAL" clId="{DB4B0D55-DDE0-40F6-B946-69DBCD43A701}" dt="2026-10-21T05:20:33.990" v="136" actId="113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문 진승" userId="4d4d7787-e10c-42c5-ab64-b0d0e0438d64" providerId="ADAL" clId="{DB4B0D55-DDE0-40F6-B946-69DBCD43A701}" dt="2026-10-21T05:21:28.519" v="137" actId="207"/>
        <pc:sldMkLst>
          <pc:docMk/>
          <pc:sldMk cId="0" sldId="268"/>
        </pc:sldMkLst>
        <pc:graphicFrameChg chg="modGraphic">
          <ac:chgData name="문 진승" userId="4d4d7787-e10c-42c5-ab64-b0d0e0438d64" providerId="ADAL" clId="{DB4B0D55-DDE0-40F6-B946-69DBCD43A701}" dt="2026-10-21T05:21:28.519" v="137" actId="207"/>
          <ac:graphicFrameMkLst>
            <pc:docMk/>
            <pc:sldMk cId="0" sldId="268"/>
            <ac:graphicFrameMk id="14" creationId="{00000000-0000-0000-0000-000000000000}"/>
          </ac:graphicFrameMkLst>
        </pc:graphicFrameChg>
      </pc:sldChg>
      <pc:sldChg chg="modSp mod">
        <pc:chgData name="문 진승" userId="4d4d7787-e10c-42c5-ab64-b0d0e0438d64" providerId="ADAL" clId="{DB4B0D55-DDE0-40F6-B946-69DBCD43A701}" dt="2026-10-21T05:44:59.569" v="138" actId="207"/>
        <pc:sldMkLst>
          <pc:docMk/>
          <pc:sldMk cId="0" sldId="270"/>
        </pc:sldMkLst>
        <pc:spChg chg="mod">
          <ac:chgData name="문 진승" userId="4d4d7787-e10c-42c5-ab64-b0d0e0438d64" providerId="ADAL" clId="{DB4B0D55-DDE0-40F6-B946-69DBCD43A701}" dt="2026-10-21T05:44:59.569" v="138" actId="207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문 진승" userId="4d4d7787-e10c-42c5-ab64-b0d0e0438d64" providerId="ADAL" clId="{DB4B0D55-DDE0-40F6-B946-69DBCD43A701}" dt="2026-10-21T05:45:12.209" v="139" actId="207"/>
        <pc:sldMkLst>
          <pc:docMk/>
          <pc:sldMk cId="0" sldId="272"/>
        </pc:sldMkLst>
        <pc:spChg chg="mod">
          <ac:chgData name="문 진승" userId="4d4d7787-e10c-42c5-ab64-b0d0e0438d64" providerId="ADAL" clId="{DB4B0D55-DDE0-40F6-B946-69DBCD43A701}" dt="2026-10-21T05:45:12.209" v="139" actId="207"/>
          <ac:spMkLst>
            <pc:docMk/>
            <pc:sldMk cId="0" sldId="272"/>
            <ac:spMk id="3" creationId="{00000000-0000-0000-0000-000000000000}"/>
          </ac:spMkLst>
        </pc:spChg>
      </pc:sldChg>
      <pc:sldChg chg="modSp mod">
        <pc:chgData name="문 진승" userId="4d4d7787-e10c-42c5-ab64-b0d0e0438d64" providerId="ADAL" clId="{DB4B0D55-DDE0-40F6-B946-69DBCD43A701}" dt="2026-10-21T05:45:43.677" v="140" actId="207"/>
        <pc:sldMkLst>
          <pc:docMk/>
          <pc:sldMk cId="0" sldId="282"/>
        </pc:sldMkLst>
        <pc:spChg chg="mod">
          <ac:chgData name="문 진승" userId="4d4d7787-e10c-42c5-ab64-b0d0e0438d64" providerId="ADAL" clId="{DB4B0D55-DDE0-40F6-B946-69DBCD43A701}" dt="2026-10-21T05:45:43.677" v="140" actId="207"/>
          <ac:spMkLst>
            <pc:docMk/>
            <pc:sldMk cId="0" sldId="282"/>
            <ac:spMk id="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5508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이 덱의 간지 구성 · API 연동 흐름 정의서 v0.2.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· 앱 현행 구조 안내 20261012.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업무 기준 2026-10-21 · 연동 가이드 4-2.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이 덱의 간지 구성 · 앱 현행 구조 안내 20261012 1-4.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 현행 구조 안내 20261012 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앱 현행 구조 안내 20261012 1-2 · 화면설계서 결제 화면 5종(MGC_ORD_025 · 45 · 132 · 133 · 112 · 113 · MGC_PAY_007).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API 연동 흐름 정의서 v0.2 4장 · 연동 가이드 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5장.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앱카드 회원 정책 기준(2026-10-21) · 앱 현행 구조 안내 2-4. 현행 앱에는 CI 미보유 기존 회원이 없다.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화면설계서_회원가입/로그인 V1.0(2025-06-10) 휴대폰번호로 시작하기 TO-BE 플로우 · Case 1~9 · 기타 체크 알럿 · 로그인 규격 1.2.8 6.3(인증 결과 조회 응답).</a:t>
            </a:r>
          </a:p>
          <a:p>
            <a:r>
              <a:t>- 판정 1이 같은 CI 기존 계정 로그인이고, 2~6은 신규 가입 판정이다.</a:t>
            </a:r>
          </a:p>
          <a:p>
            <a:r>
              <a:t>- 같은 CI 복수 계정 존재 여부 [확인필요(CJ ONS)].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화면설계서_회원가입/로그인 V1.0 MGC_COM_019(만 14세 미만 가입 시 약관동의 + 보호자 동의) · 정책(1) 회원체계 및 수집정보 · 개인정보 보호법 제22조의2.</a:t>
            </a:r>
          </a:p>
          <a:p>
            <a:r>
              <a:t>- 보호자 본인인증 화면 · 보호자 동의 영역은 현행 화면을 쓰고, 버튼 활성 순서만 맞춘다.</a:t>
            </a:r>
          </a:p>
          <a:p>
            <a:r>
              <a:t>- 보호자 동의 약관 원문 [확인필요(법무팀)].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1-5 · 연동 요약서 1-5.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요약서 1-2 · 연동 가이드 3장.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1-5 · 3-4 · 회신 요청 답변 2장.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화면설계서_메가오더 정책 V0.91 · 분할_FO_01_01 메가오더 · 퀵오더(일회용 컵 보증금)(현금영수증 · 메가선불카드 · 주문 상태값 · 취소 정책) · 메가오더 화면설계 V0.92 결제하기 · 홀케이크 · MD 예약 · 선물 주문하기 · 메가선불카드 금액 충전 MGC_PAY_007 V0.9.</a:t>
            </a:r>
          </a:p>
          <a:p>
            <a:r>
              <a:t>- 신용 앱카드로 메가선불카드 구매 · 충전을 결제할 수 있다(핏콜라보 회신).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인증 모듈 2.1.2 6장 · 연동 가이드 3-1.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회신 요청 답변 4장 · 연동 가이드 3-6.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계약 별표2(2026-09-21) · 로그인 6.3 · 간편결제 6.2 · 6.4 · 6.7 · 인증 모듈 4.2 · 핏콜라보 회신(storeUserNo · userName 선택, 카드 관리 storeUserNo 삭제).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근거: 앱 현행 구조 안내 반출검토본(20261012) 1-3a · 2-2a · 2-2b · 2-4a(내부 전용). 테이블 · 요청 이름은 메가 내부 개발 기준이며 외부 반출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근거: 앱 현행 구조 안내 반출검토본(20261012) 2-4a · 3-1a · 3-4a · 3-5a(내부 전용). 금액 대조는 현행 결제대행사 검증값 역할을 대신하며, 대조 방식은 핏콜라보 연동 가이드 범위를 따른다.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UI Flipbook(2026-09-30) 화면 1_1 · 연동 요약서 1-1 · 화면설계서_회원가입/로그인 V1.0 MGC_COM_011.</a:t>
            </a:r>
          </a:p>
          <a:p>
            <a:r>
              <a:t>- iOS는 Apple 버튼을 다른 로그인 버튼과 같은 크기로 노출한다(App Store 심사 지침 4.8).</a:t>
            </a:r>
          </a:p>
          <a:p>
            <a:r>
              <a:t>- 최근 로그인 수단 표시에 앱카드를 포함한다.</a:t>
            </a:r>
          </a:p>
          <a:p>
            <a:r>
              <a:t>- 휴대폰 번호 버튼은 흰 바탕 테두리로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UI Flipbook 2 · 연동 요약서 1-2.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UI Flipbook 2 · 연동 가이드 3-1 · 5-5.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UI Flipbook 3 · 연동 요약서 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화면설계서_메가오더 화면설계 V0.92 MGC_ORD_025 · 159 · 45 · 홀케이크 · MD 예약 MGC_ORD_132 · 133 · 선물 주문하기 MGC_ORD_112 · 113 · 카드 구매하기 · 메가선불카드 금액 충전 MGC_PAY_007.</a:t>
            </a:r>
          </a:p>
          <a:p>
            <a:r>
              <a:t>- 샌드위치 등 픽업 예약은 메가오더 주문하기의 픽업일시 선택(MGC_ORD_159)으로 처리한다(화면설계서 사전예약 정책).</a:t>
            </a:r>
          </a:p>
          <a:p>
            <a:r>
              <a:t>- 메가크루결제는 앱카드와 함께 쓰지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화면설계서 메가오더 「결제하기 버튼 선택 시 체크 로직」 · 함께오더 MGC_ORD_025 V0.4 · 홀케이크 · MD 예약 MGC_ORD_132 · 133 · 선물 주문하기 MGC_ORD_112 · 113 · 카드 구매하기 · 메가선불카드 금액 충전 MGC_PAY_007.</a:t>
            </a:r>
          </a:p>
          <a:p>
            <a:r>
              <a:t>- 인증 모듈은 현행 결제 모듈 팝업이 뜨던 자리(주문하기 위)에 띄운다.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 현행 구조 안내 3-5.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1-2 · 인증 모듈 2.1.2 1.1.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1-2.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인증 모듈 2.1.2 4.1.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인증 모듈 2.1.2 4.2 · 핏콜라보 회신(storeUserNo 선택).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인증 모듈 2.1.2 4.3 · 7장 · 연동 가이드 1-4.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1-3 · 인증 모듈 2.1.2 5.1.4 · 5.2.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앱카드 API 연동 흐름 정의서 v0.2 6장.</a:t>
            </a:r>
          </a:p>
          <a:p>
            <a:r>
              <a:t>메가MGC커피는 카드사 목록 조회 · 할부 정보 조회 · 카드 목록 · 삭제 API를 쓰지 않는다. 결제대행사 중계 5종은 핏콜라보가 결제대행사로 보낸다.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규격 1.2.8 6.1 · 6.3~6.5.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간편결제 규격 1.3.6 6.2~6.12 · 연동 가이드 3-6.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간편결제 표준 API 연동규격서 1.3.6 6장(승인 · 취소 · 거래 상태 조회) · 연동 가이드 3-6(카드관리 데이터 적재).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로그인 6.1.3 · 간편결제 6.4.3 · 7장.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간편결제 규격 4장 · 3.2 · 연동 가이드 1-5.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8장.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9장.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10장.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2-2 · 앱 현행 구조 안내 2-6.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앱카드 API 연동 흐름 정의서 v0.2 12장.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13장.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14장.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3-2 · 3-3.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 현행 구조 안내 20261012 3-3 · 3-4.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앱카드 API 연동 흐름 정의서 v0.2 16장.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17장 · 연동 가이드 3-4 · 3-5.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앱카드 API 연동 흐름 정의서 v0.2 18장 · 연동 가이드 3-6.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요약서 3장 · 연동 가이드 2-1 · 1-4.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요약서 3장 · 연동 가이드 3-2 · 3-4.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통합본 59 · 60장 예외 처리 기준 · 화면설계서 알럿 형식.</a:t>
            </a:r>
          </a:p>
          <a:p>
            <a:r>
              <a:t>- 카드사 사유는 resultMessage(인증) · contents(승인 거절)를 알럿 아래 줄에 붙인다.</a:t>
            </a:r>
          </a:p>
          <a:p>
            <a:r>
              <a:t>- 주문 실패 · 미확인 거래 정리 뒤 카드사 취소 반영 기간 [확인필요(핏콜라보)].</a:t>
            </a:r>
          </a:p>
          <a:p>
            <a:r>
              <a:t>- 취소 불가 때 안내할 고객센터 [확인필요(품질경영팀)].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3-5.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요약서 1-5.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요약서 4-5 · 연동 가이드 5-5.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 현행 구조 안내 20261012 3-2.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1-5 · 간편결제 6.7 · 6.8.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간편결제 규격 1.3.6 · 결제대행사 중계 규격(2025-11-25).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4-1 · 연동 요약서 2장 · 앱 현행 구조 안내 1-4.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4-1 · 연동 요약서 2장.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 현행 구조 안내 20261012 1-6.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 현행 구조 안내 1-4 · 연동 요약서 1-5 · 인증 모듈 2.1.2 7장.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5-1 · 연동 요약서 4-1.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5-2.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5-3.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연동 가이드 5-4.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산출물 재검토 2026-10-20 · 앱 현행 구조 안내 3-7.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앱 현행 구조 안내 1-6 · 산출물 재검토 2026-10-20.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산출물 재검토 2026-10-20.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근거: 규격서 4종 · 핏콜라보 회신 산출물 2026-10-08.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규격서 4종 · 앱 현행 구조 안내 20261012 · UI Flipbook · 화면설계서_회원가입/로그인 V1.0(2025-06-10).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API 연동 흐름 정의서 v0.2 2장 · UI Flipbook(2026-09-30).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로그인 6.1.3 · 간편결제 6.4.3 · 연동 가이드 1-5.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앱카드 API 연동 흐름 정의서 v0.2 8 · 12장 · 통합본 13 · 30장.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근거: 앱카드 API 연동 흐름 정의서 v0.2 9 · 13장.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400" b="1" dirty="0">
                <a:solidFill>
                  <a:srgbClr val="FFD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연동 통합본 v0.26</a:t>
            </a:r>
          </a:p>
        </p:txBody>
      </p:sp>
      <p:sp>
        <p:nvSpPr>
          <p:cNvPr id="3" name="Text 1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앱카드(핏콜라보) 연동</a:t>
            </a:r>
            <a:endParaRPr lang="ko-KR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None/>
            </a:pPr>
            <a:r>
              <a:rPr lang="ko-KR" altLang="en-US" sz="16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· 개발 · 결제대행사가 함께 보는 로그인 · 결제 · 카드 관리 기준</a:t>
            </a:r>
            <a:endParaRPr lang="ko-KR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2026-10-26 · 마케팅1팀 서비스기획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</a:t>
            </a:r>
            <a:endParaRPr lang="ko-KR" sz="1100" dirty="0"/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순서: 영역마다 정책 → 화면 → API → 흐름 → 예외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읽는 사람은 결론(4장)과 정책 기준(5장)을 먼저 보고, 담당별로 먼저 볼 장(6장)으로 이동합니다.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503801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43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담은 내용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볼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3~10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결론 · 정책 기준 6가지 · 앱 구조 · 개발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주체 · 유스케이스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무엇을 정했고 누가 무엇을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만드나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정책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11~23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회원 · 거래번호 · 결제 · 카드 · 개인정보 · 현행 시스템 연결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규칙과 처리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24~31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UI Flipbook 화면 1_1 · 1_2 · 2 · 3, 결제 화면 5종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 요소별 동작, 결제 전 체크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연동 구조 · API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32~44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연동 방식, 호출값, 결과 코드, API 9종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호출 주체, 파라미터, 키값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흐름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45~57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· 결제 · 취소 · 카드 관리 흐름도와 송수신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다이어그램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단계 순서와 주고받는 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58~64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결과 코드 · 만료 · 무응답 · 취소 실패 처리, 고객 안내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코드별 처리, 재호출 기준, 구현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 · 정산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65~68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승인 대행과 결제대행사(OnePG) 등록 · 정산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역할, 거래 식별값, 연동 리스크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범위 · 운영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69~77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작업 매트릭스 · 착수 전 확인 · B.O · 테스트 · 오픈 · 심사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누가 무엇을 만들고 무엇을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필요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78~81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회신 · CJ ONS 확인 · 법무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누가 무엇을 답해야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82~88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문서 간 불일치, 용어, 통합 플로우 · 프로세스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현재 적용 기준과 용어 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· 정책 기준 · 앱 구조 · 개발 주체</a:t>
            </a:r>
            <a:endParaRPr lang="ko-KR" sz="1500" dirty="0">
              <a:solidFill>
                <a:schemeClr val="bg1"/>
              </a:solidFill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  결론과 핵심 수치</a:t>
            </a:r>
            <a:endParaRPr lang="ko-KR" sz="1300" dirty="0">
              <a:solidFill>
                <a:schemeClr val="bg1"/>
              </a:solidFill>
            </a:endParaRP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   정책 기준 6가지</a:t>
            </a:r>
            <a:endParaRPr lang="ko-KR" sz="1300" dirty="0">
              <a:solidFill>
                <a:schemeClr val="bg1"/>
              </a:solidFill>
            </a:endParaRP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   독자별 먼저 볼 장</a:t>
            </a:r>
            <a:endParaRPr lang="ko-KR" sz="1300" dirty="0">
              <a:solidFill>
                <a:schemeClr val="bg1"/>
              </a:solidFill>
            </a:endParaRPr>
          </a:p>
        </p:txBody>
      </p:sp>
      <p:sp>
        <p:nvSpPr>
          <p:cNvPr id="8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   앱 구조</a:t>
            </a:r>
            <a:endParaRPr lang="ko-KR" sz="1300" dirty="0">
              <a:solidFill>
                <a:schemeClr val="bg1"/>
              </a:solidFill>
            </a:endParaRPr>
          </a:p>
        </p:txBody>
      </p:sp>
      <p:sp>
        <p:nvSpPr>
          <p:cNvPr id="9" name="간지 목록"/>
          <p:cNvSpPr txBox="1"/>
          <p:nvPr/>
        </p:nvSpPr>
        <p:spPr>
          <a:xfrm>
            <a:off x="8229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   화면별 구분과 연동 관계</a:t>
            </a:r>
            <a:endParaRPr lang="ko-KR" sz="1300" dirty="0">
              <a:solidFill>
                <a:schemeClr val="bg1"/>
              </a:solidFill>
            </a:endParaRPr>
          </a:p>
        </p:txBody>
      </p:sp>
      <p:sp>
        <p:nvSpPr>
          <p:cNvPr id="10" name="간지 목록"/>
          <p:cNvSpPr txBox="1"/>
          <p:nvPr/>
        </p:nvSpPr>
        <p:spPr>
          <a:xfrm>
            <a:off x="822960" y="5440679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   구성 요소와 개발 주체</a:t>
            </a:r>
            <a:endParaRPr lang="ko-KR" sz="1300" dirty="0">
              <a:solidFill>
                <a:schemeClr val="bg1"/>
              </a:solidFill>
            </a:endParaRPr>
          </a:p>
        </p:txBody>
      </p:sp>
      <p:sp>
        <p:nvSpPr>
          <p:cNvPr id="11" name="간지 목록"/>
          <p:cNvSpPr txBox="1"/>
          <p:nvPr/>
        </p:nvSpPr>
        <p:spPr>
          <a:xfrm>
            <a:off x="822960" y="57881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chemeClr val="bg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  유스케이스 6개</a:t>
            </a:r>
            <a:endParaRPr lang="ko-KR" sz="13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결론과 핵심 수치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API 호출은 메가MGC커피 서버, Webview는 거래번호만 처리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구조와 정책은 정해졌고, 착수 전에는 핏콜라보의 pgType OnePG 추가 일정을 확인해야 합니다.</a:t>
            </a:r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2635758" cy="1143000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핵심 수치"/>
          <p:cNvSpPr txBox="1"/>
          <p:nvPr/>
        </p:nvSpPr>
        <p:spPr>
          <a:xfrm>
            <a:off x="777240" y="1920240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9종</a:t>
            </a:r>
            <a:endParaRPr lang="ko-KR" sz="2800" dirty="0"/>
          </a:p>
        </p:txBody>
      </p:sp>
      <p:sp>
        <p:nvSpPr>
          <p:cNvPr id="8" name="수치 설명"/>
          <p:cNvSpPr txBox="1"/>
          <p:nvPr/>
        </p:nvSpPr>
        <p:spPr>
          <a:xfrm>
            <a:off x="777240" y="2496312"/>
            <a:ext cx="21785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메가MGC커피가 부르는 API</a:t>
            </a:r>
          </a:p>
        </p:txBody>
      </p:sp>
      <p:sp>
        <p:nvSpPr>
          <p:cNvPr id="9" name="Shape 6"/>
          <p:cNvSpPr/>
          <p:nvPr/>
        </p:nvSpPr>
        <p:spPr>
          <a:xfrm>
            <a:off x="3367278" y="1783080"/>
            <a:ext cx="2635758" cy="1143000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핵심 수치"/>
          <p:cNvSpPr txBox="1"/>
          <p:nvPr/>
        </p:nvSpPr>
        <p:spPr>
          <a:xfrm>
            <a:off x="3595878" y="1920240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9곳</a:t>
            </a:r>
            <a:endParaRPr lang="ko-KR" sz="2800" dirty="0"/>
          </a:p>
        </p:txBody>
      </p:sp>
      <p:sp>
        <p:nvSpPr>
          <p:cNvPr id="11" name="수치 설명"/>
          <p:cNvSpPr txBox="1"/>
          <p:nvPr/>
        </p:nvSpPr>
        <p:spPr>
          <a:xfrm>
            <a:off x="3595878" y="2496312"/>
            <a:ext cx="21785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등록하는 카드사 앱</a:t>
            </a:r>
            <a:endParaRPr lang="ko-KR" sz="1200" dirty="0"/>
          </a:p>
        </p:txBody>
      </p:sp>
      <p:sp>
        <p:nvSpPr>
          <p:cNvPr id="12" name="Shape 9"/>
          <p:cNvSpPr/>
          <p:nvPr/>
        </p:nvSpPr>
        <p:spPr>
          <a:xfrm>
            <a:off x="6185916" y="1783080"/>
            <a:ext cx="2635758" cy="1143000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핵심 수치"/>
          <p:cNvSpPr txBox="1"/>
          <p:nvPr/>
        </p:nvSpPr>
        <p:spPr>
          <a:xfrm>
            <a:off x="6414516" y="1920240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</a:t>
            </a:r>
            <a:endParaRPr lang="ko-KR" sz="2800" dirty="0"/>
          </a:p>
        </p:txBody>
      </p:sp>
      <p:sp>
        <p:nvSpPr>
          <p:cNvPr id="14" name="수치 설명"/>
          <p:cNvSpPr txBox="1"/>
          <p:nvPr/>
        </p:nvSpPr>
        <p:spPr>
          <a:xfrm>
            <a:off x="6414516" y="2496312"/>
            <a:ext cx="21785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kern="0" spc="-4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앱카드를 더하는 결제 화면</a:t>
            </a:r>
          </a:p>
        </p:txBody>
      </p:sp>
      <p:sp>
        <p:nvSpPr>
          <p:cNvPr id="15" name="Shape 12"/>
          <p:cNvSpPr/>
          <p:nvPr/>
        </p:nvSpPr>
        <p:spPr>
          <a:xfrm>
            <a:off x="9004554" y="1783080"/>
            <a:ext cx="2635758" cy="1143000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핵심 수치"/>
          <p:cNvSpPr txBox="1"/>
          <p:nvPr/>
        </p:nvSpPr>
        <p:spPr>
          <a:xfrm>
            <a:off x="9233154" y="1920240"/>
            <a:ext cx="21785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8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CI만</a:t>
            </a:r>
          </a:p>
        </p:txBody>
      </p:sp>
      <p:sp>
        <p:nvSpPr>
          <p:cNvPr id="17" name="수치 설명"/>
          <p:cNvSpPr txBox="1"/>
          <p:nvPr/>
        </p:nvSpPr>
        <p:spPr>
          <a:xfrm>
            <a:off x="9233154" y="2496312"/>
            <a:ext cx="21785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핏콜라보로 보내는 개인정보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8343967"/>
              </p:ext>
            </p:extLst>
          </p:nvPr>
        </p:nvGraphicFramePr>
        <p:xfrm>
          <a:off x="548640" y="3154680"/>
          <a:ext cx="11091672" cy="154813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9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연동 구조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핏콜라보 API를 호출하고, Webview는 거래번호만 인증 모듈에 넘김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거래번호 2종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</a:t>
                      </a:r>
                      <a:r>
                        <a:rPr lang="en-US" sz="1100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</a:t>
                      </a: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거래번호(transNo)는 로그인 인증, </a:t>
                      </a:r>
                      <a:r>
                        <a:rPr lang="ko-KR" alt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r>
                        <a:rPr lang="en-US" sz="1100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거래번호(tid)는 결제 승인에 쓰는 별개 값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</a:t>
                      </a:r>
                      <a:r>
                        <a:rPr lang="en-US" sz="1100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메가MGC커피는</a:t>
                      </a: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로그인 버튼 · 결제수단 화면을 만들고, </a:t>
                      </a:r>
                      <a:r>
                        <a:rPr lang="ko-KR" alt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r>
                        <a:rPr lang="en-US" sz="1100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핏콜라보는</a:t>
                      </a: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인증 모듈 · 카드관리 페이지를 제공함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3642078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작업</a:t>
                      </a:r>
                      <a:endParaRPr lang="en-US" sz="1100" b="1" dirty="0">
                        <a:solidFill>
                          <a:srgbClr val="2E241D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핏콜라보가 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pgType에 OnePG를 추가</a:t>
                      </a: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해야 앱카드 승인이 결제대행사에 </a:t>
                      </a:r>
                      <a:r>
                        <a:rPr lang="en-US" sz="1100" b="1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등록됨</a:t>
                      </a: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</a:t>
                      </a:r>
                      <a:r>
                        <a:rPr lang="ko-KR" altLang="en-US" sz="1100" b="1" dirty="0" err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r>
                        <a:rPr lang="ko-KR" alt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↔ </a:t>
                      </a:r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OnePG </a:t>
                      </a:r>
                      <a:r>
                        <a:rPr lang="ko-KR" alt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연동 일정 검토 필요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저장</a:t>
                      </a:r>
                      <a:endParaRPr lang="en-US" sz="1100" b="1" dirty="0">
                        <a:solidFill>
                          <a:srgbClr val="2E241D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인증 결과 조회 응답의 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gender · email · </a:t>
                      </a:r>
                      <a:r>
                        <a:rPr lang="en-US" sz="1100" b="1" dirty="0" err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di를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b="1" dirty="0" err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저장하지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100" b="1" dirty="0" err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않음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</a:t>
                      </a:r>
                      <a:r>
                        <a:rPr lang="en-US" altLang="ko-KR" sz="1100" b="1" dirty="0" err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</a:t>
                      </a:r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</a:t>
                      </a:r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100" b="1" dirty="0">
                        <a:solidFill>
                          <a:srgbClr val="2E241D"/>
                        </a:solidFill>
                        <a:latin typeface="Malgun Gothic" pitchFamily="34" charset="0"/>
                        <a:ea typeface="Malgun Gothic" pitchFamily="34" charset="-122"/>
                        <a:cs typeface="Malgun Gothic" pitchFamily="34" charset="-12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11091672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11091672" cy="310896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요약 연동 구조</a:t>
            </a:r>
            <a:r>
              <a:rPr sz="1100" b="1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①Native → ②Webview → ③메가MGC커피 서버 → ④핏콜라보 서버 → ⑤결제대행사 순으로 거래번호와 승인 정보 송·수신</a:t>
            </a:r>
            <a:endParaRPr sz="1100" dirty="0">
              <a:solidFill>
                <a:srgbClr val="2E241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13232" y="5623560"/>
            <a:ext cx="1691640" cy="548640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Native</a:t>
            </a:r>
          </a:p>
          <a:p>
            <a:pPr algn="ctr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로그인 버튼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5623560"/>
            <a:ext cx="1691640" cy="548640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Webview</a:t>
            </a:r>
          </a:p>
          <a:p>
            <a:pPr algn="ctr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브릿지 · 인증 모듈 표시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30368" y="5623560"/>
            <a:ext cx="1691640" cy="548640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메가MGC커피</a:t>
            </a:r>
            <a:r>
              <a:rPr sz="1150" b="1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서버</a:t>
            </a:r>
            <a:endParaRPr sz="1150" b="1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  <a:p>
            <a:pPr algn="ctr"/>
            <a:r>
              <a:rPr sz="950" b="0" dirty="0" err="1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토큰</a:t>
            </a:r>
            <a:r>
              <a:rPr sz="950" b="0" dirty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50" b="0" dirty="0" err="1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보관</a:t>
            </a:r>
            <a:r>
              <a:rPr sz="950" b="0" dirty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sz="950" b="0" dirty="0" err="1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CI로</a:t>
            </a:r>
            <a:r>
              <a:rPr sz="950" b="0" dirty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50" b="0" dirty="0" err="1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계정</a:t>
            </a:r>
            <a:r>
              <a:rPr sz="950" b="0" dirty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50" b="0" dirty="0" err="1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확인</a:t>
            </a:r>
            <a:endParaRPr sz="950" b="0" dirty="0">
              <a:solidFill>
                <a:srgbClr val="E6DDD4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488936" y="5623560"/>
            <a:ext cx="1691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150"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  <a:r>
              <a:rPr sz="1150"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150"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서버</a:t>
            </a:r>
            <a:endParaRPr sz="1150" b="1" dirty="0">
              <a:solidFill>
                <a:srgbClr val="FF0000"/>
              </a:solidFill>
              <a:latin typeface="Malgun Gothic"/>
              <a:ea typeface="Malgun Gothic"/>
              <a:cs typeface="Malgun Gothic"/>
            </a:endParaRPr>
          </a:p>
          <a:p>
            <a:pPr algn="ctr"/>
            <a:r>
              <a:rPr sz="95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거래번호</a:t>
            </a:r>
            <a:r>
              <a:rPr sz="95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5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발급</a:t>
            </a:r>
            <a:r>
              <a:rPr sz="95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sz="95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</a:t>
            </a:r>
            <a:r>
              <a:rPr sz="95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5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대행</a:t>
            </a:r>
            <a:endParaRPr sz="950" b="0" dirty="0">
              <a:solidFill>
                <a:srgbClr val="7A6A5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747504" y="5623560"/>
            <a:ext cx="16916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A69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결제대행사(OnePG)</a:t>
            </a:r>
          </a:p>
          <a:p>
            <a:pPr algn="ctr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등록 · 정산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5367528"/>
            <a:ext cx="6208776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050" b="1">
                <a:solidFill>
                  <a:srgbClr val="3B2A20"/>
                </a:solidFill>
                <a:latin typeface="Malgun Gothic"/>
                <a:ea typeface="Malgun Gothic"/>
                <a:cs typeface="Malgun Gothic"/>
              </a:rPr>
              <a:t>메가MGC커피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88936" y="5367528"/>
            <a:ext cx="169164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050"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  <a:endParaRPr sz="1050" b="1" dirty="0">
              <a:solidFill>
                <a:srgbClr val="FF0000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747504" y="5367528"/>
            <a:ext cx="169164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050" b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외부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441448" y="5897880"/>
            <a:ext cx="493776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359152" y="5650992"/>
            <a:ext cx="658368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열기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00016" y="5897880"/>
            <a:ext cx="493776" cy="0"/>
          </a:xfrm>
          <a:prstGeom prst="line">
            <a:avLst/>
          </a:prstGeom>
          <a:ln w="12700">
            <a:solidFill>
              <a:srgbClr val="7A6A5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617720" y="5650992"/>
            <a:ext cx="658368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거래번호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958584" y="5897880"/>
            <a:ext cx="493776" cy="0"/>
          </a:xfrm>
          <a:prstGeom prst="line">
            <a:avLst/>
          </a:prstGeom>
          <a:ln w="12700">
            <a:solidFill>
              <a:srgbClr val="7A6A5D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876288" y="5650992"/>
            <a:ext cx="658368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API 9종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17151" y="5897880"/>
            <a:ext cx="493777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34855" y="5650992"/>
            <a:ext cx="658368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등록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정책 기준 6가지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기준: 앱카드 연동 기준 6가지 확정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6가지는 개발이 따르는 최종 기준이며, 세부 처리 기준은 확정 정책(12~23장)에 있습니다.</a:t>
            </a:r>
          </a:p>
        </p:txBody>
      </p:sp>
      <p:graphicFrame>
        <p:nvGraphicFramePr>
          <p:cNvPr id="72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549942"/>
              </p:ext>
            </p:extLst>
          </p:nvPr>
        </p:nvGraphicFramePr>
        <p:xfrm>
          <a:off x="548640" y="1783080"/>
          <a:ext cx="11091672" cy="378536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3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안 약관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약관은 인증 모듈에 넣지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않음(storeTermYN 미사용, termYN=N)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유지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자체 토큰으로 로그인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유지(핏콜라보 토큰 인증 API 미사용)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본인인증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다른 수단으로 가입하는 고객도 본인인증 화면에서 앱카드 인증 선택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KCP 본인인증 건수 감소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확인 방식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결제는 </a:t>
                      </a:r>
                      <a:r>
                        <a:rPr lang="en-US" sz="125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밀어서 결제</a:t>
                      </a: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 확인(생체인증 · 비밀번호 미적용)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한도는 현행 간편결제 · 신용카드와 같은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결제에만 적용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98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정책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앱카드는 신규 가입 수단, CI는 KCP 없이 앱카드 인증으로 받음</a:t>
                      </a: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같은 CI 계정이 있으면 어느 수단으로 들어와도 그 계정으로 로그인</a:t>
                      </a: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신규 가입은 휴대폰 번호 가입과 같은 가입 판정(13장)</a:t>
                      </a: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만 14세 미만은 보호자 본인인증 · 동의 뒤 가입(14장)</a:t>
                      </a: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재가입 제한 · 결제수단 기억은 현행 정책을 CI 기준으로 적용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앱에 CI 미보유 기존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없음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 방식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가입 · 로그인 · 결제 화면 5종 · 카드 관리를 </a:t>
                      </a:r>
                      <a:r>
                        <a:rPr lang="en-US" sz="125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번에 오픈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0702913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가입 · 로그인과 본인인증 화면 모두 KCP를 거치지 않아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 인증 수수료가 줄어듭니다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독자별 먼저 볼 장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독자별 먼저 볼 장: 기획 · 개발 3영역 · 결제대행사별 구분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기획은 정책 기준 · 확인 필요를, 개발은 연동 구조 · 처리 흐름 · 예외를, 결제대행사는 정산 장을 먼저 봅니다.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651262"/>
              </p:ext>
            </p:extLst>
          </p:nvPr>
        </p:nvGraphicFramePr>
        <p:xfrm>
          <a:off x="548640" y="1783080"/>
          <a:ext cx="11091672" cy="3995801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8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먼저 볼 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확인할 것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7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기획(마케팅1팀)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정책 기준(5)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정책(12~23)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화면(25~31)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확인 필요(79~81)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정책 기준 6가지, 화면 요소별 동작</a:t>
                      </a: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회신 대기 항목, CJ ONS 확인 항목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개발(Native)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구조(33~44)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처리 흐름(46~57)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로그인 버튼으로 브릿지 페이지 열기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 앱 9곳 등록 · 주소 가로채기 · Android 복귀 포커스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6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개발(Webview)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화면(25~31)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구조(33~44)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예외(59~64)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 · 브릿지 페이지 · 결과 코드 출처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· 본인인증 화면의 앱카드 선택, 결제 버튼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74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개발(메가MGC커피 서버)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정책(12~23)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API(33~44)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처리 흐름(46~57)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예외(59~64)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API 9종 호출, token · reqToken 보관</a:t>
                      </a: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가입(KCP 없이 CI) · 같은 CI 계정 로그인</a:t>
                      </a: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무응답 처리 · 주문 실패 승인 취소 · 미확인 거래 정리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7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결제대행사(OnePG)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정산(66~68)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예외(59~64)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pgType에 OnePG를 추가한 뒤 승인 등록을 받는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거래 식별값 연결, 취소 · 정산 경로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CJ ONS 서버 담당은 연동 구조(33~44장)부터 예외(59~64장)까지를 먼저 봅니다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앱 구조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구조: Native 화면 3개 외 모두 Webview로 동작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앱은 하이브리드 앱이라 로그인 수단 선택 · 전체메뉴 · 홈만 Native이고, 인증 · 결제 · 카드 관리는 Webview입니다.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25312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521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인증 모듈은 Webview 위에 뜨고,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서버 호출은 메가MGC커피 서버만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83080"/>
            <a:ext cx="329184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100" b="1">
                <a:solidFill>
                  <a:srgbClr val="3B2A20"/>
                </a:solidFill>
                <a:latin typeface="Malgun Gothic"/>
                <a:ea typeface="Malgun Gothic"/>
                <a:cs typeface="Malgun Gothic"/>
              </a:rPr>
              <a:t>고객 휴대폰 · 메가MGC커피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783080"/>
            <a:ext cx="201168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100" b="1">
                <a:solidFill>
                  <a:srgbClr val="3B2A20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783080"/>
            <a:ext cx="448056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100" b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외부 연동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94560"/>
            <a:ext cx="3291840" cy="9601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Native</a:t>
            </a:r>
          </a:p>
          <a:p>
            <a:pPr algn="ctr"/>
            <a:r>
              <a:rPr sz="105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홈 · 전체메뉴 · 로그인 수단 선택</a:t>
            </a:r>
          </a:p>
          <a:p>
            <a:pPr algn="ctr"/>
            <a:r>
              <a:rPr sz="105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매장 · 메뉴 선택 · 장바구니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886200"/>
            <a:ext cx="3291840" cy="1051560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Webview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본인인증 · 약관 동의 · 주문하기 · 결제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주문 결과 · 등록 카드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45920" y="3154680"/>
            <a:ext cx="0" cy="73152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3310128"/>
            <a:ext cx="786384" cy="45720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Webview 열기</a:t>
            </a:r>
          </a:p>
          <a:p>
            <a:pPr algn="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포커스 전달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291840" y="3154680"/>
            <a:ext cx="0" cy="73152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346704" y="3401568"/>
            <a:ext cx="768096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앱 기능 요청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2194560"/>
            <a:ext cx="2011680" cy="2743200"/>
          </a:xfrm>
          <a:prstGeom prst="rect">
            <a:avLst/>
          </a:prstGeom>
          <a:solidFill>
            <a:srgbClr val="E6DDD4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회원 · 토큰 관리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주문 처리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 요청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0" y="2670048"/>
            <a:ext cx="50292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14800" y="2395728"/>
            <a:ext cx="502920" cy="237744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서버 호출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14800" y="4407408"/>
            <a:ext cx="50292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4133087"/>
            <a:ext cx="502920" cy="237744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서버 호출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78040" y="219456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A69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2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결제대행사(OnePG)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현행 결제 승인 · 정산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886200"/>
            <a:ext cx="2148840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  <a:endParaRPr sz="1300" b="1" dirty="0">
              <a:solidFill>
                <a:srgbClr val="FF0000"/>
              </a:solidFill>
              <a:latin typeface="Malgun Gothic"/>
              <a:ea typeface="Malgun Gothic"/>
              <a:cs typeface="Malgun Gothic"/>
            </a:endParaRPr>
          </a:p>
          <a:p>
            <a:pPr algn="ctr"/>
            <a:r>
              <a:rPr sz="1050" b="0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앱카드</a:t>
            </a:r>
            <a:r>
              <a:rPr sz="1050" b="0" dirty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50" b="0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</a:t>
            </a:r>
            <a:r>
              <a:rPr sz="1050" b="0" dirty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· </a:t>
            </a:r>
            <a:r>
              <a:rPr sz="1050" b="0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승인</a:t>
            </a:r>
            <a:endParaRPr sz="1050" b="0" dirty="0">
              <a:solidFill>
                <a:srgbClr val="2E241D"/>
              </a:solidFill>
              <a:latin typeface="Malgun Gothic"/>
              <a:ea typeface="Malgun Gothic"/>
              <a:cs typeface="Malgun Gothic"/>
            </a:endParaRPr>
          </a:p>
          <a:p>
            <a:pPr algn="ctr"/>
            <a:r>
              <a:rPr sz="1050" b="0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</a:t>
            </a:r>
            <a:r>
              <a:rPr sz="1050" b="0" dirty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50" b="0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취소</a:t>
            </a:r>
            <a:endParaRPr sz="1050" b="0" dirty="0">
              <a:solidFill>
                <a:srgbClr val="2E241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921240" y="2194560"/>
            <a:ext cx="169164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A69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카드사 앱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629400" y="2670048"/>
            <a:ext cx="54864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629400" y="2395728"/>
            <a:ext cx="548640" cy="237744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 요청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29400" y="4407408"/>
            <a:ext cx="54864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629400" y="4133087"/>
            <a:ext cx="548640" cy="237744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API 호출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8247888" y="3154680"/>
            <a:ext cx="0" cy="73152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02752" y="3383280"/>
            <a:ext cx="155448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· 정산 정보 전달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326880" y="2670048"/>
            <a:ext cx="59436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26880" y="2395728"/>
            <a:ext cx="594360" cy="237744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326880" y="4407408"/>
            <a:ext cx="594360" cy="0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26880" y="4133087"/>
            <a:ext cx="594360" cy="237744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인증 · 승인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468880" y="4937760"/>
            <a:ext cx="0" cy="384048"/>
          </a:xfrm>
          <a:prstGeom prst="line">
            <a:avLst/>
          </a:prstGeom>
          <a:ln w="158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68880" y="5321808"/>
            <a:ext cx="5779008" cy="0"/>
          </a:xfrm>
          <a:prstGeom prst="line">
            <a:avLst/>
          </a:prstGeom>
          <a:ln w="158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247888" y="4937760"/>
            <a:ext cx="0" cy="384048"/>
          </a:xfrm>
          <a:prstGeom prst="line">
            <a:avLst/>
          </a:prstGeom>
          <a:ln w="15875">
            <a:solidFill>
              <a:srgbClr val="FF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926080" y="5358384"/>
            <a:ext cx="4937760" cy="237744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9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인증 모듈 호출(Webview → 핏콜라보)</a:t>
            </a:r>
          </a:p>
        </p:txBody>
      </p:sp>
      <p:sp>
        <p:nvSpPr>
          <p:cNvPr id="42" name="흐름 번호 1"/>
          <p:cNvSpPr/>
          <p:nvPr/>
        </p:nvSpPr>
        <p:spPr>
          <a:xfrm>
            <a:off x="1737360" y="3401568"/>
            <a:ext cx="237744" cy="237744"/>
          </a:xfrm>
          <a:prstGeom prst="ellipse">
            <a:avLst/>
          </a:prstGeom>
          <a:solidFill>
            <a:srgbClr val="3B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43" name="흐름 번호 2"/>
          <p:cNvSpPr/>
          <p:nvPr/>
        </p:nvSpPr>
        <p:spPr>
          <a:xfrm>
            <a:off x="4247388" y="3840480"/>
            <a:ext cx="237744" cy="237744"/>
          </a:xfrm>
          <a:prstGeom prst="ellipse">
            <a:avLst/>
          </a:prstGeom>
          <a:solidFill>
            <a:srgbClr val="3B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44" name="흐름 번호 3"/>
          <p:cNvSpPr/>
          <p:nvPr/>
        </p:nvSpPr>
        <p:spPr>
          <a:xfrm>
            <a:off x="6784848" y="3840480"/>
            <a:ext cx="237744" cy="237744"/>
          </a:xfrm>
          <a:prstGeom prst="ellipse">
            <a:avLst/>
          </a:prstGeom>
          <a:solidFill>
            <a:srgbClr val="3B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45" name="흐름 번호 4"/>
          <p:cNvSpPr/>
          <p:nvPr/>
        </p:nvSpPr>
        <p:spPr>
          <a:xfrm>
            <a:off x="3931920" y="5367528"/>
            <a:ext cx="237744" cy="237744"/>
          </a:xfrm>
          <a:prstGeom prst="ellipse">
            <a:avLst/>
          </a:prstGeom>
          <a:solidFill>
            <a:srgbClr val="3B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46" name="흐름 번호 5"/>
          <p:cNvSpPr/>
          <p:nvPr/>
        </p:nvSpPr>
        <p:spPr>
          <a:xfrm>
            <a:off x="9505188" y="3840480"/>
            <a:ext cx="237744" cy="237744"/>
          </a:xfrm>
          <a:prstGeom prst="ellipse">
            <a:avLst/>
          </a:prstGeom>
          <a:solidFill>
            <a:srgbClr val="3B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47" name="흐름 번호 6"/>
          <p:cNvSpPr/>
          <p:nvPr/>
        </p:nvSpPr>
        <p:spPr>
          <a:xfrm>
            <a:off x="7955279" y="3401568"/>
            <a:ext cx="237744" cy="237744"/>
          </a:xfrm>
          <a:prstGeom prst="ellipse">
            <a:avLst/>
          </a:prstGeom>
          <a:solidFill>
            <a:srgbClr val="3B2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548640" y="5614416"/>
            <a:ext cx="11091672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9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※ 1~6은 앱카드 인증 · 결제의 데이터 흐름 순서이며, 번호 없는 선은 현행 결제 흐름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화면별 구분과 연동 관계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화면: Native 로그인 버튼 1곳 · Webview 화면 9곳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앱카드는 Native 로그인 버튼과 Webview 결제 · 카드 관리 화면에 들어가고,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전체메뉴에는 넣지 않습니다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</p:txBody>
      </p:sp>
      <p:graphicFrame>
        <p:nvGraphicFramePr>
          <p:cNvPr id="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840683"/>
              </p:ext>
            </p:extLst>
          </p:nvPr>
        </p:nvGraphicFramePr>
        <p:xfrm>
          <a:off x="548640" y="1783080"/>
          <a:ext cx="11091672" cy="3766566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0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52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연동이 더하는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수단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버튼이 브릿지 페이지를 열어 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로그인 수단 5종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본인인증 · 약관 동의 · 가입 완료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본인인증 수단에 앱카드 인증을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미가입 회원만 진입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주문하기(메가오더 · 함께오더)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함께오더 · 픽업 예약 포함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주문하기(퀵오더)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퀵오더 전용 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주문하기(홀케이크 · MD 예약)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메가오더와 같은 결제수단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선물 주문하기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선불카드 구매도 같은 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685333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메가선불카드 금액 충전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선불카드별 충전 팝업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0873099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·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결제 때 이 화면 위에 인증 모듈을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띄움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일반 · 등록 카드 결제 공통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실패 · 취소 안내 문구를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완료 · 실패 · 취소별 표시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카드 관리(메가퀵결제)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카드관리 페이지 진입을 더함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전체메뉴 &gt; 결제 아래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연동은 현행 화면에 요소를 더하는 방식이며, 새로 만드는 화면은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브릿지 페이지뿐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구성 요소와 개발 주체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주체: 구성 요소 9개 중 CJ ONS 4개 · 핏콜라보 3개 담당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CJ ONS는 Native · 메가MGC커피 서버를 고치고 브릿지 페이지 · 공통 웹 컴포넌트를 새로 만들며, 핏콜라보는 3개를 제공합니다.</a:t>
            </a:r>
          </a:p>
        </p:txBody>
      </p:sp>
      <p:graphicFrame>
        <p:nvGraphicFramePr>
          <p:cNvPr id="10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0189891"/>
              </p:ext>
            </p:extLst>
          </p:nvPr>
        </p:nvGraphicFramePr>
        <p:xfrm>
          <a:off x="548640" y="1783080"/>
          <a:ext cx="11091671" cy="40538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4276586891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3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쓰는 흐름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주체 · 구분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 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휴대폰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수단 선택의 앱카드 버튼, 카드사 앱 열기,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토큰 수신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기존 수정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브릿지 페이지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 로그인 버튼으로 열리며, 인증 모듈을 띄울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컴포넌트를 담음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신규 개발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거래번호로 인증 모듈 표시, 결과 코드 수신 · 출처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신규 개발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2.1.2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 선택 · 약관 동의 뒤 카드사 앱 인증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· 제공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 9곳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휴대폰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본인 카드 인증 뒤 메가MGC커피 앱으로 복귀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결제 · 카드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 API 호출 · 토큰 보관 · CI 계정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· 주문 · 취소 처리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· 기존 수정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결제 · 카드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거래번호 발급 · 인증 결과 제공 · 승인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대행 · 결제대행사 등록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· 제공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카드관리 페이지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조회 · 등록 · 삭제, 닫으면 메가퀵결제로 복귀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· 제공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핏콜라보의 승인 등록 수신 · 정산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OnePG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협의 뒤 범위 확정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88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· 유스케이스 6개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유스케이스: 고객용 4가지 · 결제 취소 1가지 · 주기 작업 1가지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· 로그인과 카드 관리는 핏콜라보 · 카드사 앱과, 결제 · 취소 · 미확인 거래 정리는 결제대행사까지 연결됩니다.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25312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521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· 상담원의 결제 취소와 메가MGC커피 서버의 미확인 거래 정리도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연동 범위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55648"/>
            <a:ext cx="173736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050" b="1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누가</a:t>
            </a:r>
            <a:r>
              <a:rPr sz="1050" b="1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50" b="1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쓰나</a:t>
            </a:r>
            <a:endParaRPr sz="1050" b="1" dirty="0">
              <a:solidFill>
                <a:srgbClr val="7A6A5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23160" y="1755648"/>
            <a:ext cx="457200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50" b="1">
                <a:solidFill>
                  <a:srgbClr val="3B2A20"/>
                </a:solidFill>
                <a:latin typeface="Malgun Gothic"/>
                <a:ea typeface="Malgun Gothic"/>
                <a:cs typeface="Malgun Gothic"/>
              </a:rPr>
              <a:t>기능(메가MGC커피 앱 · 메가MGC커피 서버)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755648"/>
            <a:ext cx="141732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50" b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쓰는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755648"/>
            <a:ext cx="96012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0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1755648"/>
            <a:ext cx="960120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050" b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카드사 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52760" y="1755648"/>
            <a:ext cx="987552" cy="2743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050" b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결제대행사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67127"/>
            <a:ext cx="1737360" cy="393191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고객</a:t>
            </a:r>
            <a:endParaRPr sz="1000" b="1" dirty="0">
              <a:solidFill>
                <a:srgbClr val="FFFFFF"/>
              </a:solidFill>
              <a:latin typeface="Malgun Gothic"/>
              <a:ea typeface="Malgun Gothic"/>
              <a:cs typeface="Malgun Gothic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286000" y="2363724"/>
            <a:ext cx="137160" cy="0"/>
          </a:xfrm>
          <a:prstGeom prst="line">
            <a:avLst/>
          </a:prstGeom>
          <a:ln w="12700">
            <a:solidFill>
              <a:srgbClr val="A696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423160" y="2103120"/>
            <a:ext cx="4572000" cy="521207"/>
          </a:xfrm>
          <a:prstGeom prst="roundRect">
            <a:avLst>
              <a:gd name="adj" fmla="val 12000"/>
            </a:avLst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앱카드로 가입 · 로그인</a:t>
            </a:r>
          </a:p>
          <a:p>
            <a:pPr algn="l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앱카드 CI로 가입하고, 같은 CI 계정이 있으면 그 계정으로 로그인함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103120"/>
            <a:ext cx="14173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로그인 ① · 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103120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103120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2103120"/>
            <a:ext cx="987552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7132320" y="2656332"/>
            <a:ext cx="4507992" cy="0"/>
          </a:xfrm>
          <a:prstGeom prst="line">
            <a:avLst/>
          </a:prstGeom>
          <a:ln w="6350">
            <a:solidFill>
              <a:srgbClr val="E6DD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2752343"/>
            <a:ext cx="1737360" cy="393191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86000" y="2948939"/>
            <a:ext cx="137160" cy="0"/>
          </a:xfrm>
          <a:prstGeom prst="line">
            <a:avLst/>
          </a:prstGeom>
          <a:ln w="12700">
            <a:solidFill>
              <a:srgbClr val="A696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423160" y="2688335"/>
            <a:ext cx="4572000" cy="521207"/>
          </a:xfrm>
          <a:prstGeom prst="roundRect">
            <a:avLst>
              <a:gd name="adj" fmla="val 12000"/>
            </a:avLst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로그인 뒤 주문으로 복귀</a:t>
            </a:r>
          </a:p>
          <a:p>
            <a:pPr algn="l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비로그인 주문 중 로그인하면 주문 화면으로 돌아감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688335"/>
            <a:ext cx="14173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앱 안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688335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92640" y="2688335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652760" y="2688335"/>
            <a:ext cx="987552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7132320" y="3241547"/>
            <a:ext cx="4507992" cy="0"/>
          </a:xfrm>
          <a:prstGeom prst="line">
            <a:avLst/>
          </a:prstGeom>
          <a:ln w="6350">
            <a:solidFill>
              <a:srgbClr val="E6DD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548640" y="3337559"/>
            <a:ext cx="1737360" cy="393191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고객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286000" y="3534156"/>
            <a:ext cx="137160" cy="0"/>
          </a:xfrm>
          <a:prstGeom prst="line">
            <a:avLst/>
          </a:prstGeom>
          <a:ln w="12700">
            <a:solidFill>
              <a:srgbClr val="A696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23160" y="3273551"/>
            <a:ext cx="4572000" cy="521207"/>
          </a:xfrm>
          <a:prstGeom prst="roundRect">
            <a:avLst>
              <a:gd name="adj" fmla="val 12000"/>
            </a:avLst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앱카드 결제(원클릭 · 인증 결제)</a:t>
            </a:r>
          </a:p>
          <a:p>
            <a:pPr algn="l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등록 카드는 바로 승인, 새 카드는 카드사 앱 인증 뒤 승인함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3273551"/>
            <a:ext cx="14173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 ①~④ · 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3273551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3273551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52760" y="3273551"/>
            <a:ext cx="987552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132320" y="3826763"/>
            <a:ext cx="4507992" cy="0"/>
          </a:xfrm>
          <a:prstGeom prst="line">
            <a:avLst/>
          </a:prstGeom>
          <a:ln w="6350">
            <a:solidFill>
              <a:srgbClr val="E6DD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48640" y="3922776"/>
            <a:ext cx="1737360" cy="393191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고객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286000" y="4119372"/>
            <a:ext cx="137160" cy="0"/>
          </a:xfrm>
          <a:prstGeom prst="line">
            <a:avLst/>
          </a:prstGeom>
          <a:ln w="12700">
            <a:solidFill>
              <a:srgbClr val="A696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23160" y="3858768"/>
            <a:ext cx="4572000" cy="521207"/>
          </a:xfrm>
          <a:prstGeom prst="roundRect">
            <a:avLst>
              <a:gd name="adj" fmla="val 12000"/>
            </a:avLst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등록 카드 조회 · 추가 · 삭제</a:t>
            </a:r>
          </a:p>
          <a:p>
            <a:pPr algn="l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메가퀵결제에서 핏콜라보 카드관리 페이지로 이동함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32320" y="3858768"/>
            <a:ext cx="14173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카드 관리 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3858768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3858768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52760" y="3858768"/>
            <a:ext cx="987552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7132320" y="4411980"/>
            <a:ext cx="4507992" cy="0"/>
          </a:xfrm>
          <a:prstGeom prst="line">
            <a:avLst/>
          </a:prstGeom>
          <a:ln w="6350">
            <a:solidFill>
              <a:srgbClr val="E6DD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548640" y="4507992"/>
            <a:ext cx="1737360" cy="393191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고객 · 매장 · 상담원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286000" y="4704588"/>
            <a:ext cx="137160" cy="0"/>
          </a:xfrm>
          <a:prstGeom prst="line">
            <a:avLst/>
          </a:prstGeom>
          <a:ln w="12700">
            <a:solidFill>
              <a:srgbClr val="A696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2423160" y="4443983"/>
            <a:ext cx="4572000" cy="521207"/>
          </a:xfrm>
          <a:prstGeom prst="roundRect">
            <a:avLst>
              <a:gd name="adj" fmla="val 12000"/>
            </a:avLst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 취소(전체)</a:t>
            </a:r>
          </a:p>
          <a:p>
            <a:pPr algn="l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취소 요청을 승인 취소 API로 처리함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0" y="4443983"/>
            <a:ext cx="14173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 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4443983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4443983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652760" y="4443983"/>
            <a:ext cx="987552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132320" y="4997196"/>
            <a:ext cx="4507992" cy="0"/>
          </a:xfrm>
          <a:prstGeom prst="line">
            <a:avLst/>
          </a:prstGeom>
          <a:ln w="6350">
            <a:solidFill>
              <a:srgbClr val="E6DD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548640" y="5093207"/>
            <a:ext cx="1737360" cy="393191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286000" y="5289803"/>
            <a:ext cx="137160" cy="0"/>
          </a:xfrm>
          <a:prstGeom prst="line">
            <a:avLst/>
          </a:prstGeom>
          <a:ln w="12700">
            <a:solidFill>
              <a:srgbClr val="A6968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2423160" y="5029199"/>
            <a:ext cx="4572000" cy="521207"/>
          </a:xfrm>
          <a:prstGeom prst="roundRect">
            <a:avLst>
              <a:gd name="adj" fmla="val 12000"/>
            </a:avLst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18288" rIns="128016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결과 미확인 거래 정리</a:t>
            </a:r>
          </a:p>
          <a:p>
            <a:pPr algn="l"/>
            <a:r>
              <a:rPr sz="9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응답을 못 받은 거래를 상태 조회로 확정하거나 취소함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029199"/>
            <a:ext cx="14173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10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 ⑥ · 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029199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92640" y="5029199"/>
            <a:ext cx="960120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652760" y="5029199"/>
            <a:ext cx="987552" cy="521207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2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5559552"/>
            <a:ext cx="2953512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r"/>
            <a:r>
              <a:rPr sz="90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● </a:t>
            </a:r>
            <a:r>
              <a:rPr sz="90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기능이</a:t>
            </a:r>
            <a:r>
              <a:rPr sz="90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0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연결되는</a:t>
            </a:r>
            <a:r>
              <a:rPr sz="90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0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90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900" b="0" dirty="0" err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시스템</a:t>
            </a:r>
            <a:endParaRPr sz="900" b="0" dirty="0">
              <a:solidFill>
                <a:srgbClr val="7A6A5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5" name="본문"/>
          <p:cNvSpPr txBox="1"/>
          <p:nvPr/>
        </p:nvSpPr>
        <p:spPr>
          <a:xfrm>
            <a:off x="548640" y="5559552"/>
            <a:ext cx="8046720" cy="219456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900" b="0" dirty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※ API 번호 · 호출 경로는 39장, 기능별 호출 순서는 46~57장(처리 흐름)에서 확인함</a:t>
            </a:r>
          </a:p>
        </p:txBody>
      </p:sp>
      <p:sp>
        <p:nvSpPr>
          <p:cNvPr id="65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수단 · 거래번호 · 결제 · 카드 관리 · 개인정보 기준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   앱카드 가입 수단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   앱카드 가입 판정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   만 14세 미만 가입</a:t>
            </a:r>
          </a:p>
        </p:txBody>
      </p:sp>
      <p:sp>
        <p:nvSpPr>
          <p:cNvPr id="8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   거래번호 · 토큰 원칙</a:t>
            </a:r>
          </a:p>
        </p:txBody>
      </p:sp>
      <p:sp>
        <p:nvSpPr>
          <p:cNvPr id="9" name="간지 목록"/>
          <p:cNvSpPr txBox="1"/>
          <p:nvPr/>
        </p:nvSpPr>
        <p:spPr>
          <a:xfrm>
            <a:off x="8229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   결제 정책(판단 · 경로)</a:t>
            </a:r>
          </a:p>
        </p:txBody>
      </p:sp>
      <p:sp>
        <p:nvSpPr>
          <p:cNvPr id="10" name="간지 목록"/>
          <p:cNvSpPr txBox="1"/>
          <p:nvPr/>
        </p:nvSpPr>
        <p:spPr>
          <a:xfrm>
            <a:off x="822960" y="5440679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   결제 정책(결과 · 정산 · 취소)</a:t>
            </a:r>
          </a:p>
        </p:txBody>
      </p:sp>
      <p:sp>
        <p:nvSpPr>
          <p:cNvPr id="11" name="간지 목록"/>
          <p:cNvSpPr txBox="1"/>
          <p:nvPr/>
        </p:nvSpPr>
        <p:spPr>
          <a:xfrm>
            <a:off x="63093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   결제 정책(결제 화면별 기준)</a:t>
            </a:r>
          </a:p>
        </p:txBody>
      </p:sp>
      <p:sp>
        <p:nvSpPr>
          <p:cNvPr id="13" name="간지 목록"/>
          <p:cNvSpPr txBox="1"/>
          <p:nvPr/>
        </p:nvSpPr>
        <p:spPr>
          <a:xfrm>
            <a:off x="63093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   카드사 9곳 코드 · 앱 등록값</a:t>
            </a:r>
          </a:p>
        </p:txBody>
      </p:sp>
      <p:sp>
        <p:nvSpPr>
          <p:cNvPr id="14" name="간지 목록"/>
          <p:cNvSpPr txBox="1"/>
          <p:nvPr/>
        </p:nvSpPr>
        <p:spPr>
          <a:xfrm>
            <a:off x="63093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   카드 관리 정책</a:t>
            </a:r>
          </a:p>
        </p:txBody>
      </p:sp>
      <p:sp>
        <p:nvSpPr>
          <p:cNvPr id="15" name="간지 목록"/>
          <p:cNvSpPr txBox="1"/>
          <p:nvPr/>
        </p:nvSpPr>
        <p:spPr>
          <a:xfrm>
            <a:off x="63093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   개인정보 별표2 대조</a:t>
            </a:r>
          </a:p>
        </p:txBody>
      </p:sp>
      <p:sp>
        <p:nvSpPr>
          <p:cNvPr id="16" name="간지 목록"/>
          <p:cNvSpPr txBox="1"/>
          <p:nvPr/>
        </p:nvSpPr>
        <p:spPr>
          <a:xfrm>
            <a:off x="63093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   현행 시스템 연결 ① 회원 · 로그인</a:t>
            </a:r>
          </a:p>
        </p:txBody>
      </p:sp>
      <p:sp>
        <p:nvSpPr>
          <p:cNvPr id="17" name="간지 목록"/>
          <p:cNvSpPr txBox="1"/>
          <p:nvPr/>
        </p:nvSpPr>
        <p:spPr>
          <a:xfrm>
            <a:off x="6309360" y="5440679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   현행 시스템 연결 ② 주문 · 결제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88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앱카드 가입 수단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</a:rPr>
              <a:t>가입 수단: 앱카드로 신규 가입, 같은 CI면 기존 계정으로 로그인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가입의 CI는 KCP 없이 앱카드 인증으로 받고, 같은 CI 계정이 있으면 그 계정으로 로그인합니다.</a:t>
            </a:r>
          </a:p>
        </p:txBody>
      </p:sp>
      <p:graphicFrame>
        <p:nvGraphicFramePr>
          <p:cNvPr id="13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2265724"/>
              </p:ext>
            </p:extLst>
          </p:nvPr>
        </p:nvGraphicFramePr>
        <p:xfrm>
          <a:off x="548640" y="2606040"/>
          <a:ext cx="11091672" cy="3203448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가입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같은 CI 계정이 없으면 메가MGC커피 서버가 KCP 본인인증 없이 앱카드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인증의 CI로 가입시킴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수정(가입 수단에 앱카드 추가)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CI 계정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같은 CI로 다른 수단에 가입한 계정이 있으면 메가MGC커피 서버가 그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계정으로 로그인시킴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개발</a:t>
                      </a: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(현행 1:1 구조와 다름)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수단 로그인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앱카드로 가입한 회원이 다른 수단으로 들어와도 같은 CI면 그 계정으로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로그인시킴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개발</a:t>
                      </a: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(현행 1:1 구조와 다름)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구조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회원 1명(CI 1개)에 로그인 수단 여러 개를 연결하고, 1인 1계정은 CI로 관리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개발</a:t>
                      </a: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(범위 · 공수 CJ ONS 확인)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본인인증 화면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다른 수단으로 가입하는 고객도 본인인증 화면에서 앱카드 인증 선택 가능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수정(인증 선택지 추가)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8491494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 판정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휴대폰 번호 가입과 같은 판정 순서로 신규 가입 처리(13장)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0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수정(앱카드 인증 값 연결)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14세 미만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보호자 본인인증 · 동의를 마친 뒤 가입(14장)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0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수정(현행 보호자 동의 화면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100" b="0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243279"/>
                  </a:ext>
                </a:extLst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88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755648"/>
            <a:ext cx="4480560" cy="713232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가입 수단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휴대폰 번호 · 간편 로그인 4종 · </a:t>
            </a:r>
            <a:r>
              <a:rPr sz="10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앱카드(신규)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755648"/>
            <a:ext cx="457200" cy="713232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800" b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0" y="1755648"/>
            <a:ext cx="2468880" cy="713232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CI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KCP 없이 앱카드 인증으로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1755648"/>
            <a:ext cx="457200" cy="713232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1800" b="1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755648"/>
            <a:ext cx="3227832" cy="713232"/>
          </a:xfrm>
          <a:prstGeom prst="rect">
            <a:avLst/>
          </a:prstGeom>
          <a:solidFill>
            <a:srgbClr val="E6DDD4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회원 ID</a:t>
            </a:r>
          </a:p>
          <a:p>
            <a:pPr algn="ctr"/>
            <a:r>
              <a:rPr sz="10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CI 1개에 로그인 수단 여러 개 연결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81446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핵심 문장 요약"/>
          <p:cNvSpPr txBox="1"/>
          <p:nvPr/>
        </p:nvSpPr>
        <p:spPr>
          <a:xfrm>
            <a:off x="731520" y="5908294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가입 · 로그인은 KCP CI 인증을 거치지 않아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 인증 수수료가 줄어듭니다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앱카드 가입 판정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판정: 휴대폰 번호 가입과 같은 판정 순서 적용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앱카드 인증 결과의 ci(연계정보) · phoneNo(휴대폰번호) · birthDate(생년월일)로 현행 가입 판정을 진행합니다.</a:t>
            </a:r>
          </a:p>
        </p:txBody>
      </p:sp>
      <p:graphicFrame>
        <p:nvGraphicFramePr>
          <p:cNvPr id="1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691128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구분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23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CI 계정이 있음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그 계정으로 로그인시키고, 로그인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수단에 앱카드 연결</a:t>
                      </a:r>
                    </a:p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같은 CI 계정이 2개 이상이면 계정 선택 화면 표시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개발</a:t>
                      </a: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(현행 1:1</a:t>
                      </a:r>
                    </a:p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구조와 다름)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탈퇴 후 30일이 지나지 않은 CI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가입 불가 알럿을 띄우고 로그인 수단 선택으로 돌려보냄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수정(현행 알럿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휴대폰번호로 적립한 오프라인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오프라인에서 적립한 스탬프를 매칭해 앱카드 회원으로 가입시킴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수정(앱카드 인증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연결)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휴대폰번호가 다른 CI 계정에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그 번호에 기존 혜택이 있다는 고객센터 안내 알럿을 띄우고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가입시키지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수정(현행 알럿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 · 만 14세 이상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약관 동의(KCP 본인인증 생략)를 받고 가입 완료 팝업을 띄움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수정(가입 수단에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추가)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 · 만 14세 미만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보호자 본인인증 · 동의(14장)를 받은 뒤 가입시킴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수정(현행 보호자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동의 화면 재사용)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인증의 휴대폰번호는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카드사에 등록된 현재 번호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이므로 KCP 인증 번호와 같은 기준으로 판정합니다</a:t>
            </a:r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88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만 14세 미만 가입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14세 미만: 보호자 본인인증 · 동의 완료 뒤 가입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 번호 · 간편 로그인 · 앱카드 어느 수단이든 신규 가입이 생기는 지점에서 같은 기준으로 판정합니다.</a:t>
            </a:r>
          </a:p>
        </p:txBody>
      </p:sp>
      <p:graphicFrame>
        <p:nvGraphicFramePr>
          <p:cNvPr id="72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549942"/>
              </p:ext>
            </p:extLst>
          </p:nvPr>
        </p:nvGraphicFramePr>
        <p:xfrm>
          <a:off x="548640" y="1783080"/>
          <a:ext cx="11091672" cy="3815842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· 확인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나이 판정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생년월일 8자리로 가입일 기준 만 나이를 계산함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민법 제158조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경로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휴대폰 번호 · 간편 로그인 4종 · 앱카드 · 오프라인 회원 전환의 신규 가입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보호자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만 19세 이상이며, 가입하는 아동과 CI가 달라야 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민법 제4조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보호자 인증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보호자는 KCP 휴대폰 본인인증으로 인증함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인증은 쓰지 않음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동의 순서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보호자 본인인증이 끝나야 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보호자 동의 체크와 가입 버튼이 켜짐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보호자 동의 화면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동의 범위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보호자가 필수 약관 · 위치 기반 서비스 · 마케팅(선택)을 항목별로 동의함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개인정보 보호법 제22조의2</a:t>
                      </a:r>
                    </a:p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위치정보법 제25조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62541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아동 정보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보호자 동의 전에는 저장하지 않고, 인증 취소 · 실패 때 즉시 파기함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[법무팀 검토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30572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보호자 정보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이름 · 휴대폰번호 · 동의 일시 · 인증 거래번호만 저장함(CI 미저장)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[법무팀 검토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1687550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14세</a:t>
                      </a:r>
                    </a:p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도달 · 철회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만 14세가 되는 날 보호자 정보를 파기함</a:t>
                      </a: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보호자의 동의 철회는 고객센터가 받아 탈퇴로 처리함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[법무팀 검토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3686620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보호자 동의 전에는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아동 정보를 저장하지 않고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보호자 본인인증이 끝나야 동의를 받습니다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거래번호 · 토큰 원칙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거래번호 · 토큰: 거래번호만 Webview 전달, 토큰은 서버에만 보관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거래번호만 Webview로 넘기고 토큰은 서버에만 보관하며, 토큰을 URL · 앱 로그에 남기지 않습니다.</a:t>
            </a:r>
            <a:endParaRPr lang="ko-KR" sz="1300" dirty="0"/>
          </a:p>
        </p:txBody>
      </p:sp>
      <p:graphicFrame>
        <p:nvGraphicFramePr>
          <p:cNvPr id="14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9995338"/>
              </p:ext>
            </p:extLst>
          </p:nvPr>
        </p:nvGraphicFramePr>
        <p:xfrm>
          <a:off x="548640" y="1783080"/>
          <a:ext cx="11091672" cy="3900932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발급 · 보관하나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Webview에 넘기나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어디에 쓰나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(인증 거래번호, 16자)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인증 거래번호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 ①로 받음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인증 모듈 호출, 인증 결과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②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token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(32자, 30분 · 1회용)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인증 거래번호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 ① 응답으로 받아 보관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넘기지 않음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결과 조회 ②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(결제 거래번호, 20자)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결제 거래번호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 ②로 받음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넘기지 않음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인증 모듈 호출, 결제 ③~⑥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reqToken(64자)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결제 거래번호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 ② 응답으로 받아 보관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넘기지 않음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인증 결과 조회 ③, 승인 ④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인증 결과 조회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②로 받아 보관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넘기지 않음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 목록 조회 ①, 결제 거래번호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 ②, 카드관리 데이터 적재 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71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storeAuthKey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고정 IP를 쓸 수 없을 때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핏콜라보에서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넘기지 않음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모든 API 요청에 함께 보냄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본문"/>
          <p:cNvSpPr txBox="1"/>
          <p:nvPr/>
        </p:nvSpPr>
        <p:spPr>
          <a:xfrm>
            <a:off x="548640" y="6045453"/>
            <a:ext cx="11091672" cy="218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브릿지 페이지 주소에는 메가MGC커피 내부 참조값(세션 등)만 붙이고, 앱 로그 · 분석 로그에는 토큰 원문을 남기지 않음</a:t>
            </a:r>
            <a:endParaRPr lang="ko-KR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88</a:t>
            </a:r>
          </a:p>
        </p:txBody>
      </p:sp>
      <p:sp>
        <p:nvSpPr>
          <p:cNvPr id="15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결제 정책(판단 · 경로)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판단: 핏콜라보 응답 authYN으로 최종 결정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핏콜라보는 결제 거래번호 발급 요청을 받으면 등록 계정 · CI · 원클릭 여부를 확인해 authYN(인증 필요 여부)으로 알려 줍니다.</a:t>
            </a:r>
            <a:endParaRPr lang="ko-KR" sz="1300" dirty="0"/>
          </a:p>
        </p:txBody>
      </p:sp>
      <p:graphicFrame>
        <p:nvGraphicFramePr>
          <p:cNvPr id="1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88264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9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83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원클릭 판단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결제 거래번호 발급 ②에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payType(카드 구분) · acntId(간편결제 계정 ID) · isOneclick(원클릭 여부) · CI를 보냄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핏콜라보가 그 계정의 원클릭 가능 여부를 판단해 authYN=Y(바로 승인) 또는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N(인증 뒤 승인)으로 돌려줌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판단 조건(CI 일치 외) </a:t>
                      </a:r>
                      <a:r>
                        <a:rPr lang="en-US" sz="14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확인 필요]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경로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화면 5종(메가오더 · 함께오더 공용, 퀵오더, 홀케이크 · MD 예약, 선물 주문하기,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메가선불카드 금액 충전)은 결제 경로 1개를 씀</a:t>
                      </a: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화면별 결제 전 체크를 통과한 뒤에만 결제 거래번호 발급 ②를 요청함(30장)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메가MGC커피는 일시불만 씀(Flipbook 기준)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호출값 installment(할부 개월)는 "00"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목록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앱은 카드사 9곳을 고정 목록으로 표시하고, 카드사 목록 조회 API는 쓰지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결제는 결제대행사에서 결제 키를 받아 결제 화면을 띄우고 승인함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앱카드는 결제 키 없이 핏콜라보 tid(결제 거래번호)로 인증 · 승인 · 취소 · 상태 조회를 모두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여부는 화면 표시가 아니라 결제 거래번호 발급 응답의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authYN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정합니다</a:t>
            </a:r>
          </a:p>
        </p:txBody>
      </p:sp>
      <p:sp>
        <p:nvSpPr>
          <p:cNvPr id="16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결제 정책(결과 · 정산 · 취소)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결과: 결과 통지 없이 메가MGC커피 서버가 조회해 확정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서버가 묻고 응답으로 받는 단방향 구조라서, 메가MGC커피는 결과 수신 창구를 만들지 않습니다.</a:t>
            </a:r>
            <a:endParaRPr lang="ko-KR" sz="1300" dirty="0"/>
          </a:p>
        </p:txBody>
      </p:sp>
      <p:graphicFrame>
        <p:nvGraphicFramePr>
          <p:cNvPr id="1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1007199"/>
              </p:ext>
            </p:extLst>
          </p:nvPr>
        </p:nvGraphicFramePr>
        <p:xfrm>
          <a:off x="548640" y="1783080"/>
          <a:ext cx="11091672" cy="36449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9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전달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핏콜라보는 승인 결과를 승인 요청의 응답에 담아 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핏콜라보가 메가MGC커피 서버로 결과를 따로 보내는 통지는 없음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· 정산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핏콜라보는 승인을 대행한 뒤 결제대행사에 승인 · 정산 정보를 등록함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대금 정산은 현행 결제대행사 기준을 그대로 따름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25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취소만</a:t>
                      </a: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요청하고, 부분 취소는 하지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취소 경로와 예약 미수령 폐기 기준은 18장을 따르며, 취소 기간 제한은 없음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일부 쓴 메가선불카드 충전 · 선물은 현행 잔액 기준 환불 조건으로 잔액을 돌려줌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승인 취소는 쓰지 않은 충전 · 선물에만 요청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확인 방식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결제는 밀어서 결제로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원클릭 결제에도 생체인증 · 비밀번호를 걸지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한도는 현행 간편결제 · 신용카드 결제와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기준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자동 등록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로그인 인증을 하면 그 카드가 결제 계정으로 자동 등록돼 첫 결제부터 원클릭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자동 등록의 고객 동의 범위 </a:t>
                      </a:r>
                      <a:r>
                        <a:rPr lang="en-US" sz="14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[법무팀 검토 필요]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메가MGC커피는 결과 수신 창구를 만들지 않고, 응답이 없으면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상태 조회로 확정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결제 정책(결제 화면별 기준)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화면별 기준: 다섯 결제 화면 모두 같은 결제 · 취소 기준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금액 · 증빙 · 확인 방식 · 취소 기준을 결제 화면과 관계없이 하나로 맞춥니다.</a:t>
            </a:r>
          </a:p>
        </p:txBody>
      </p:sp>
      <p:graphicFrame>
        <p:nvGraphicFramePr>
          <p:cNvPr id="72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5549942"/>
              </p:ext>
            </p:extLst>
          </p:nvPr>
        </p:nvGraphicFramePr>
        <p:xfrm>
          <a:off x="548640" y="1783080"/>
          <a:ext cx="11091671" cy="436753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712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96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· 확인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전 체크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화면별 결제하기 체크를 모두 통과한 뒤 결제 거래번호 발급 ②를 요청(30장)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화면설계서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금액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제휴 멤버십 · 쿠폰 · 금액권 · 메가선불카드를 뺀 남은 금액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선물하기는 혜택 없이 총 결제금액 전액(선물 금액 × 받는 분 수)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일회용 컵 보증금(300원, 세종 · 제주 시행 매장)은 앱카드 금액에 넣고 비과세로 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화면설계서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선불카드 · 증빙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메가선불카드는 다른 결제수단과 같은 기준으로 앱카드와 함께 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결제 금액은 현금영수증 발행 대상이 아니며, 영역 노출은 신용카드와 같음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선불카드 · 현금영수증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확인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고객의 결제 인증 설정과 관계없이 밀어서 결제로 확인(선물 주문하기 포함)</a:t>
                      </a: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메가크루결제와는 함께 쓰지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퀵오더 표시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저장된 앱카드 계정을 카드사 · 카드번호 끝 4자리로 표시하고, 계정이 없어지면 결제수단 없음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상태로 둠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1874504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경로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고객(주문완료 상태) · 매장 · 에이전트 자동 취소 · 상담원 · 선물 결제 취소 요청을 승인 취소 ⑤로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취소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정책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6153081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미수령 폐기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결제금액을 환불하지 않으므로 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취소를 요청하지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 안내 문구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8389929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다인 선물 취소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받는 분이 여러 명이어도 </a:t>
                      </a: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1건 전체 취소만 허용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347614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선불카드 충전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금액 충전에도 앱카드를 쓰며, 유효기간 5년 초과 · 보유 + 충전 50만원 초과면 결제 전에 막음</a:t>
                      </a: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뒤 충전이 실패하면 승인 취소 ⑤로 정리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MGC_PAY_007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5047943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/ 88</a:t>
            </a:r>
          </a:p>
        </p:txBody>
      </p:sp>
      <p:sp>
        <p:nvSpPr>
          <p:cNvPr id="73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카드사 9곳 코드 · 앱 등록값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앱 등록: Native에 카드사 9곳 앱 이름 사전 등록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코드는 결제 요청에 쓰고, 패키지명과 스킴은 Native가 카드사 앱을 찾아 열 때 씁니다.</a:t>
            </a:r>
            <a:endParaRPr lang="ko-KR" sz="1300" dirty="0"/>
          </a:p>
        </p:txBody>
      </p:sp>
      <p:graphicFrame>
        <p:nvGraphicFramePr>
          <p:cNvPr id="17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731895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37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코드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 패키지명(queries)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iOS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스킴(LSApplicationQueriesSchemes)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NH농협카드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1011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nh.smart.nhallonepay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nhallonepayansimclick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KB국민카드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2004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com.kbcard.cxh.appcard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kb-simplepay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com.wooricard.smartapp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com.wooricard.wcard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BC카드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2050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kvp.jjy.MispAndroid320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ispmobile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롯데카드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2055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com.lcacApp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lotteappcard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삼성카드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2066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net.ib.android.smcard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monimo.simplepay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현대카드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2077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com.hyundaicard.appcard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hyundaicardappcard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2081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com.hanaskcard.paycla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cloudpay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신한카드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2088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com.shcard.smartpay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shinhan-sr-ansimclick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본문"/>
          <p:cNvSpPr txBox="1"/>
          <p:nvPr/>
        </p:nvSpPr>
        <p:spPr>
          <a:xfrm>
            <a:off x="548640" y="57881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로그인 규격 1.2.8 6.2.5의 목록은 이전 버전이므로 쓰지 않음</a:t>
            </a:r>
            <a:endParaRPr lang="ko-KR" sz="1050" dirty="0"/>
          </a:p>
          <a:p>
            <a:pPr algn="l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카드사 코드 · 패키지명 · 스킴이 바뀌면 핏콜라보 공지를 받아 CJ ONS가 고정 목록과 Native 등록값을 고쳐 앱을 배포합니다</a:t>
            </a:r>
            <a:endParaRPr lang="ko-KR" sz="1050" dirty="0"/>
          </a:p>
          <a:p>
            <a:pPr algn="l">
              <a:buNone/>
            </a:pPr>
            <a:r>
              <a:rPr lang="ko-KR" altLang="en-US" sz="1050" dirty="0" b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[핏콜라보 공지 방식 확인 필요]</a:t>
            </a:r>
            <a:endParaRPr lang="ko-KR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/ 88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카드 관리 정책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관리: 조회 · 등록 · 삭제는 핏콜라보 카드관리 페이지 담당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메가MGC커피는 메가퀵결제 화면의 진입과 데이터 적재 호출만 만들고, 앱카드 조회 · 등록 · 삭제 화면은 핏콜라보가 제공합니다.</a:t>
            </a:r>
            <a:endParaRPr lang="ko-KR" sz="1300" dirty="0"/>
          </a:p>
        </p:txBody>
      </p:sp>
      <p:graphicFrame>
        <p:nvGraphicFramePr>
          <p:cNvPr id="18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043426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카드관리 페이지가 하는 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개발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메가퀵결제 화면에서 앱카드 관리를 누르면, 메가MGC커피 서버가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적재(insSessionData.mv)로 sessionKey(세션 키)를 받고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Webview가 카드관리 페이지로 이동함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진입 버튼, 데이터 적재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조회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CI로 등록된 앱카드 계정 목록을 보여 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등록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카드사를 고르면 인증 모듈 → 카드사 앱 인증으로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등록함(앱카드 로그인 · 결제 중 새 카드 인증 때도 자동 등록)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삭제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고른 앱카드 계정을 삭제함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닫기를 누르면 redirectUrl(복귀 주소)로 지정한 메가퀵결제 화면으로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redirectUrl 지정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 복귀 포커스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 앱에서 돌아올 때 nativeFocusHandler를 카드관리 페이지가 받아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결제와 같은 Native 처리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기능 · 문의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 이름 변경 · 대표 카드 지정 · 약관 재표시 · 해지 기능 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해지 · 등록 카드 · 탈퇴 뒤 카드 계정 문의는 </a:t>
                      </a:r>
                      <a:r>
                        <a:rPr lang="en-US" sz="13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핏콜라보가 전담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[법무팀 해지권 검토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필요]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9109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91794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메가MGC커피는 메가퀵결제 화면에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진입만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더하고, 카드 관리 화면은 개발하지 않습니다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개인정보 별표2 대조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개인정보: CI만 위탁, 계약 외 응답 항목은 미저장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결제 API · 카드 관리 API에 회원번호 · 주문자 이름을 보내지 않고, 고객 식별은 CI로만 합니다.</a:t>
            </a:r>
          </a:p>
        </p:txBody>
      </p:sp>
      <p:graphicFrame>
        <p:nvGraphicFramePr>
          <p:cNvPr id="1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413644"/>
              </p:ext>
            </p:extLst>
          </p:nvPr>
        </p:nvGraphicFramePr>
        <p:xfrm>
          <a:off x="548640" y="1783080"/>
          <a:ext cx="11091672" cy="274497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별표2 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적용 · 규격 응답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기준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65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→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(처리위탁)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CI만 위탁함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핏콜라보는 CI를 저장하지 않고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즉시 파기함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API · 결제 인증 모듈 · 카드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 API에 회원번호 · 주문자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이름을 보내지 않음</a:t>
                      </a: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 식별은 ci로만 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3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계약과 같음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57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→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300" b="1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</a:t>
                      </a: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(제3자 </a:t>
                      </a:r>
                      <a:r>
                        <a:rPr lang="en-US" sz="1300" b="1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</a:t>
                      </a: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 · 성명 · 휴대폰번호 ·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생년(4자리) · 내외국인을 받음</a:t>
                      </a: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성별 · 이메일 · 주소는 제공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아님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결과 조회 ② 응답에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gender(필수) · email(선택) ·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di가 들어옴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birthDate(생년월일) 8자리는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14세 판정에만 쓰고, 생년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4자리만 저장함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gender · email ·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di를 저장하지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6108192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60350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gender · email · di는 계약 제외 항목이므로 메가MGC커피 서버가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저장하지 않습니다</a:t>
            </a:r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/ 88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71466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4871466"/>
            <a:ext cx="11091672" cy="292608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개인정보 흐름</a:t>
            </a:r>
            <a:r>
              <a:rPr sz="1100" b="1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 dirty="0" err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메가MGC커피는 CI만 위탁하고, 핏콜라보가 돌려주는 5항목만 저장함</a:t>
            </a:r>
            <a:endParaRPr sz="950" b="0" dirty="0">
              <a:solidFill>
                <a:srgbClr val="7A6A5D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13232" y="5328666"/>
            <a:ext cx="2490216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회원 CI 보유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9368" y="5328666"/>
            <a:ext cx="2490216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CI로 인증 · 즉시 파기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5504" y="5328666"/>
            <a:ext cx="2490216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5항목 저장 · gender · email · di 미저장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40024" y="5630418"/>
            <a:ext cx="157276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85160" y="5237226"/>
            <a:ext cx="1682496" cy="36576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위탁: CI만</a:t>
            </a:r>
          </a:p>
          <a:p>
            <a:pPr algn="ctr"/>
            <a:r>
              <a:rPr sz="8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회원번호 · 이름 미전달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76160" y="5630418"/>
            <a:ext cx="157276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21296" y="5237226"/>
            <a:ext cx="1682496" cy="36576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제공: CI · 성명 · 휴대폰</a:t>
            </a:r>
          </a:p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생년 · 내외국인</a:t>
            </a:r>
          </a:p>
        </p:txBody>
      </p:sp>
      <p:sp>
        <p:nvSpPr>
          <p:cNvPr id="29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현행 시스템 연결 ① 회원 · 로그인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회원 · 로그인: 로그인 요청 · 회원 테이블에 앱카드 값 추가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앱카드는 신규 가입 수단이므로, 현행 로그인 요청과 회원 테이블에 앱카드 계정 유형을 더하고 같은 CI 계정 로그인을 허용합니다.</a:t>
            </a:r>
          </a:p>
        </p:txBody>
      </p:sp>
      <p:graphicFrame>
        <p:nvGraphicFramePr>
          <p:cNvPr id="1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933952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78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메가MGC커피 시스템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적용 기준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요청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 고유값 · 계정 유형을 로그인 요청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(/api/login/social)으로 보내고 3종 분기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 유형에 앱카드 추가(계정 고유값은 CI)</a:t>
                      </a: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같은 CI 계정이 있으면 그 계정으로 로그인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[CJ ONS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테이블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회원(APP_USER)마다 로그인유형코드 1개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와 CI(암호화)를 저장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회원 1명에 로그인 수단 여러 개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연결(구조 개선)</a:t>
                      </a: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기존 회원의 로그인유형코드는 그대로 둠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[CJ ONS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 미보유 회원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 없는 기존 회원은 재로그인 때 1회 수집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(요구사항 FO_004 · 005)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앱에 CI 없는 기존 회원이 없어 중복 계정이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생기지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해당 없음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탈퇴 후 재가입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탈퇴 후 30일이 지나야 재가입(새 회원ID)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신규 가입도 CI로 같은 제한 적용(13장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2)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확정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유지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토큰은 만료 없이 유지(FO_005),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 요청 /api/common/alive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토큰으로 로그인 유지(핏콜라보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토큰 인증 API 미사용)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확정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87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연결 기능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certificationComplete(토큰 전달)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closeWindow · reqHomeFromOrd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refreshApi · reqSendToken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브릿지 페이지 · 주문 결과에서 그대로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재사용</a:t>
                      </a: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생체인증 요청(requestAuth · hasBio)은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확정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계정 유형 값과 로그인유형코드 처리는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CJ ONS가 현행 구조를 보고 확정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/ 88</a:t>
            </a:r>
          </a:p>
        </p:txBody>
      </p:sp>
      <p:sp>
        <p:nvSpPr>
          <p:cNvPr id="20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정책 · 현행 시스템 연결 ② 주문 · 결제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주문 · 결제: 앱카드 거래값 저장 위치 확정 필요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결제는 현행 결제대행사 검증값이 없고 거래값이 늘어나므로, 저장 위치와 금액 대조 기준을 함께 정합니다.</a:t>
            </a:r>
          </a:p>
        </p:txBody>
      </p:sp>
      <p:graphicFrame>
        <p:nvGraphicFramePr>
          <p:cNvPr id="1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941064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메가MGC커피 시스템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적용 기준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04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결제 데이터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 결제(APP_ORD_DTL): 결제 유형 3종,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결제수단 코드, 승인 · 취소 번호, 거래번호 1칸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유형 · 결제수단 코드에 앱카드 추가</a:t>
                      </a:r>
                    </a:p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approvalNo · approvalDate는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승인번호 · 승인 일시 칸에 저장</a:t>
                      </a:r>
                    </a:p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 · pgTno 저장 위치는 CJ ONS가 정함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[CJ ONS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23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결제 설정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그룹 A 메가퀵결제 · B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신용카드 · C 간편결제, 다음 주문 결제수단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그룹 값 추가(CJ ONS 확인)</a:t>
                      </a:r>
                    </a:p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고른 앱카드 계정은 현행대로 다음 주문에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기억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[CJ ONS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방식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인증 설정 A 비밀번호 · B 생체인증 · C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밀어서 결제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앱카드는 설정과 관계없이 밀어서 결제로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확인(생체인증 · 비밀번호 미적용)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확정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42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 검증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결제대행사는 검증값(가맹점 ID + 금액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 주문번호 + 꼬리값)으로 위변조 확인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앱카드는 검증값이 없어 결제 ② · 승인 ④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amount를 메가MGC커피 서버 주문 금액과 대조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필수(핏콜라보 연동</a:t>
                      </a:r>
                    </a:p>
                    <a:p>
                      <a:pPr>
                        <a:buNone/>
                      </a:pPr>
                      <a:r>
                        <a:rPr lang="en-US" sz="12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가이드 범위)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04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복합 결제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쿠폰 · 교환권 · 금액권 · 선불카드 · 멤버십을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함께 쓰고 결제수단 선택 순서 저장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amount(결제 금액)는 차감 후 남은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</a:t>
                      </a:r>
                    </a:p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쿠폰 · 금액권 · 선불카드는</a:t>
                      </a:r>
                    </a:p>
                    <a:p>
                      <a:pPr marL="103632" indent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뒤 차감</a:t>
                      </a: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하고, 승인 취소 ⑤ 뒤 복원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[CJ ONS 현행 차감</a:t>
                      </a:r>
                    </a:p>
                    <a:p>
                      <a:pPr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화면에서 받은 금액이 아니라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서버의 주문 금액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결제 · 승인 금액을 대조합니다</a:t>
            </a:r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/ 88</a:t>
            </a:r>
          </a:p>
        </p:txBody>
      </p:sp>
      <p:sp>
        <p:nvSpPr>
          <p:cNvPr id="20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Flipbook 화면 1_1 · 1_2 · 2 · 3, 결제 화면 5종과 결제 전 체크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   화면 1_1 → 1_2 로그인</a:t>
            </a:r>
          </a:p>
        </p:txBody>
      </p:sp>
      <p:sp>
        <p:nvSpPr>
          <p:cNvPr id="12" name="간지 목록"/>
          <p:cNvSpPr txBox="1"/>
          <p:nvPr/>
        </p:nvSpPr>
        <p:spPr>
          <a:xfrm>
            <a:off x="8229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   화면 2 결제수단 목록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   화면 2 밀어서 결제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   화면 3 주문서</a:t>
            </a:r>
          </a:p>
        </p:txBody>
      </p:sp>
      <p:sp>
        <p:nvSpPr>
          <p:cNvPr id="8" name="간지 목록"/>
          <p:cNvSpPr txBox="1"/>
          <p:nvPr/>
        </p:nvSpPr>
        <p:spPr>
          <a:xfrm>
            <a:off x="8229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   결제 화면 5종 적용</a:t>
            </a:r>
          </a:p>
        </p:txBody>
      </p:sp>
      <p:sp>
        <p:nvSpPr>
          <p:cNvPr id="9" name="간지 목록"/>
          <p:cNvSpPr txBox="1"/>
          <p:nvPr/>
        </p:nvSpPr>
        <p:spPr>
          <a:xfrm>
            <a:off x="822960" y="5440679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   결제 전 체크 · 완료 이동</a:t>
            </a:r>
          </a:p>
        </p:txBody>
      </p:sp>
      <p:sp>
        <p:nvSpPr>
          <p:cNvPr id="10" name="간지 목록"/>
          <p:cNvSpPr txBox="1"/>
          <p:nvPr/>
        </p:nvSpPr>
        <p:spPr>
          <a:xfrm>
            <a:off x="621792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   주문 결과 상태</a:t>
            </a:r>
          </a:p>
        </p:txBody>
      </p:sp>
      <p:sp>
        <p:nvSpPr>
          <p:cNvPr id="11" name="Text 9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/ 88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 · 화면 1_1 → 1_2 로그인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화면: 앱카드 버튼을 누르면 핏콜라보 인증 모듈 표시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메가MGC커피는 화면 1_1의 버튼을 만들고, 화면 1_2 인증 모듈은 핏콜라보가 제공하므로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메가MGC커피가 개발하지 않습니다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ko-KR" sz="1300" dirty="0"/>
          </a:p>
        </p:txBody>
      </p:sp>
      <p:pic>
        <p:nvPicPr>
          <p:cNvPr id="6" name="Image 0" descr="로그인 수단 선택 화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762308" cy="3931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762308" cy="3931920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화면 캡션"/>
          <p:cNvSpPr txBox="1"/>
          <p:nvPr/>
        </p:nvSpPr>
        <p:spPr>
          <a:xfrm>
            <a:off x="365760" y="5989319"/>
            <a:ext cx="21280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1_1 로그인(메가MGC커피)</a:t>
            </a:r>
            <a:endParaRPr lang="ko-KR" sz="1200" dirty="0"/>
          </a:p>
        </p:txBody>
      </p:sp>
      <p:pic>
        <p:nvPicPr>
          <p:cNvPr id="9" name="Image 1" descr="앱카드 인증 모듈 카드사 선택 화면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988" y="1783080"/>
            <a:ext cx="3817951" cy="393192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630988" y="1783080"/>
            <a:ext cx="3817951" cy="3931920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화면 캡션"/>
          <p:cNvSpPr txBox="1"/>
          <p:nvPr/>
        </p:nvSpPr>
        <p:spPr>
          <a:xfrm>
            <a:off x="2448108" y="5989319"/>
            <a:ext cx="41837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1_2 인증 모듈(핏콜라보)</a:t>
            </a:r>
            <a:endParaRPr lang="ko-KR" sz="1200" dirty="0"/>
          </a:p>
        </p:txBody>
      </p:sp>
      <p:graphicFrame>
        <p:nvGraphicFramePr>
          <p:cNvPr id="21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783080"/>
          <a:ext cx="4828032" cy="443738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8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73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1_1 · 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쓰는 앱카드로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계속하기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 버튼이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브릿지 페이지를 열고,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 안의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모듈을 띄움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70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1_2 · 1,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Dim 영역 · 닫기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0003(취소)을 보내면,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브릿지 페이지를 닫고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수단 선택으로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돌아감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6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1_2 · 3~6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이용안내 · 카드사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· 약관 동의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모듈이 처리하므로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개발은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74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이후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 · 복귀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Webview가 카드사 앱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주소를 가로채 열고,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Android는 복귀 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포커스를 전달함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/ 88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 · 화면 2 결제수단 목록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퀵오더 결제수단: 앱카드 계정 → 카드사 선택 → 변경하기 순서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퀵오더 바텀시트는 고객의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계정을 먼저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보여 주고, 계정이 없으면 카드사 선택 칸부터 보여 줍니다.</a:t>
            </a:r>
            <a:endParaRPr lang="ko-KR" sz="1300" dirty="0"/>
          </a:p>
        </p:txBody>
      </p:sp>
      <p:pic>
        <p:nvPicPr>
          <p:cNvPr id="6" name="Image 0" descr="퀵오더 빠른결제 바텀시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762308" cy="3931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762308" cy="3931920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화면 캡션"/>
          <p:cNvSpPr txBox="1"/>
          <p:nvPr/>
        </p:nvSpPr>
        <p:spPr>
          <a:xfrm>
            <a:off x="365760" y="5989319"/>
            <a:ext cx="21280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1200" dirty="0"/>
          </a:p>
        </p:txBody>
      </p:sp>
      <p:pic>
        <p:nvPicPr>
          <p:cNvPr id="9" name="Image 1" descr="내가 쓰는 앱카드 선택 드롭다운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5268" y="1783080"/>
            <a:ext cx="1763912" cy="393192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585268" y="1783080"/>
            <a:ext cx="1763912" cy="3931920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화면 캡션"/>
          <p:cNvSpPr txBox="1"/>
          <p:nvPr/>
        </p:nvSpPr>
        <p:spPr>
          <a:xfrm>
            <a:off x="2402388" y="5989319"/>
            <a:ext cx="2129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선택 드롭다운</a:t>
            </a:r>
            <a:endParaRPr lang="ko-KR" sz="1200" dirty="0"/>
          </a:p>
        </p:txBody>
      </p:sp>
      <p:graphicFrame>
        <p:nvGraphicFramePr>
          <p:cNvPr id="22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783080"/>
          <a:ext cx="6885432" cy="3816729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5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정의와 연동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36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결제수단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계정이 있으면 계정 목록 → 카드사 선택 →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변경하기 순서</a:t>
                      </a: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계정은 최근 사용 순, 처음 진입하면 첫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선택</a:t>
                      </a: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바텀시트가 열리면 메가MGC커피 서버가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 조회 ① 호출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08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계정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(노출: 메가퀵결제)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 이미지 · 카드사명 · 카드명 · 마스킹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번호를 보여 주고, 계정이 없으면 숨김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08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1b · 1b-1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쓰는 앱카드 선택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누르면 카드사 9곳 드롭다운이 위로 펼쳐짐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드롭다운 밖을 누르면 닫힘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085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1b-2 · 1c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선택 · 선택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고른 카드사 코드로 결제하면 인증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결제(payType 1)가 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99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누르면 화면 3 주문서로 이동함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/ 88</a:t>
            </a:r>
          </a:p>
        </p:txBody>
      </p:sp>
      <p:sp>
        <p:nvSpPr>
          <p:cNvPr id="23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 · 화면 2 밀어서 결제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밀어서 결제: 끝까지 밀어야 메가MGC커피 서버가 결제 거래번호 요청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버튼은 고객이 슬라이더를 끝(value 100)까지 밀었을 때만 결제를 시작하고, 결과가 나올 때까지 잠깁니다.</a:t>
            </a:r>
            <a:endParaRPr lang="ko-KR" sz="1300" dirty="0"/>
          </a:p>
        </p:txBody>
      </p:sp>
      <p:graphicFrame>
        <p:nvGraphicFramePr>
          <p:cNvPr id="23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1" cy="365150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13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고객이 보는 흐름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메가MGC커피가 처리하는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5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카드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①드래그 완료 → ②결제 진행 중 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③주문 완료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결제 거래번호 발급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②(requestTid.mv)를 부름(payType 0)</a:t>
                      </a: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authYN=Y이면 바로 승인 ④(appcardPayment.mv)를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25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카드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①드래그 완료 → ②카드사 인증 →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③결제 진행 중 → ④주문 완료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결제 거래번호 발급 ②를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부름(payType 1)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인증 뒤 결제 인증 결과 조회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③(reqAuthDataPay.mv) · 승인 ④로 이어짐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 상태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진행 중 문구를 보여 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Webview가 결제 요청 시점부터 인증 모듈 표시 또는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응답까지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버튼을 잠금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방식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input type="range" 슬라이더이며, thumb가 value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100에 닿으면 결제를 시작함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1616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4301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버튼을 잠그지 않으면 연속 실행으로 결제가 두 번 진행된 사례가 다른 가맹점에 있었습니다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/ 88</a:t>
            </a:r>
          </a:p>
        </p:txBody>
      </p:sp>
      <p:sp>
        <p:nvSpPr>
          <p:cNvPr id="24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 · 화면 3 주문서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주문서 결제수단: 앱카드 계정을 기존 메가퀵결제 계정보다 앞에 표시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주문서 결제수단은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계정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메가퀵결제 계정, 카드사 선택, 메가퀵결제 등록 순서로 놓입니다.</a:t>
            </a:r>
            <a:endParaRPr lang="ko-KR" sz="1300" dirty="0"/>
          </a:p>
        </p:txBody>
      </p:sp>
      <p:pic>
        <p:nvPicPr>
          <p:cNvPr id="6" name="Image 0" descr="주문하기 화면 결제수단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672283" cy="3931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672283" cy="3931920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화면 캡션"/>
          <p:cNvSpPr txBox="1"/>
          <p:nvPr/>
        </p:nvSpPr>
        <p:spPr>
          <a:xfrm>
            <a:off x="365760" y="5989319"/>
            <a:ext cx="20380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주문서</a:t>
            </a:r>
            <a:endParaRPr lang="ko-KR" sz="1200" dirty="0"/>
          </a:p>
        </p:txBody>
      </p:sp>
      <p:graphicFrame>
        <p:nvGraphicFramePr>
          <p:cNvPr id="24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0" y="1783080"/>
          <a:ext cx="8714232" cy="3451607"/>
        </p:xfrm>
        <a:graphic>
          <a:graphicData uri="http://schemas.openxmlformats.org/drawingml/2006/table">
            <a:tbl>
              <a:tblPr/>
              <a:tblGrid>
                <a:gridCol w="822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13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정의와 연동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30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결제수단 목록(메가퀵결제)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가장 왼쪽 카드가 선택된 채로 진입하고, 드래그해도 선택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순서: ①앱카드 계정 → ②메가퀵결제 계정 → ③카드사 선택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④메가퀵결제 등록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1a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계정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(노출: 메가퀵결제)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 2와 같은 계정 목록 조회 결과를 함께 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1b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메가퀵결제 계정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결제대행사로 등록한 기존 간편결제라 앱카드 연동 범위가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1c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내가 쓰는 앱카드 선택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 2와 같지만, 버튼 아래 공간이 있어 드롭다운이 아래로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펼쳐짐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92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 2 밀어서 결제와 같은 결제 요청을 보냄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본문"/>
          <p:cNvSpPr txBox="1"/>
          <p:nvPr/>
        </p:nvSpPr>
        <p:spPr>
          <a:xfrm>
            <a:off x="2926080" y="5440679"/>
            <a:ext cx="8714232" cy="383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결제수단을 바꿀 때 메가MGC커피는 바텀시트 또는 주문서 상태를 유지하고 결제수단만 바꿈</a:t>
            </a:r>
            <a:endParaRPr lang="ko-KR" sz="1050" dirty="0"/>
          </a:p>
          <a:p>
            <a:pPr algn="l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고객 화면에서는 앱카드 계정도 「메가퀵결제」로 표기하고, 카드 이미지 · 카드사명 · 카드번호로 구분</a:t>
            </a:r>
            <a:endParaRPr lang="ko-KR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/ 88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 · 결제 화면 5종 적용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화면 5종: 결제수단 목록에 앱카드 추가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결제 화면은 같은 결제 경로를 쓰고, 화면마다 결제수단 목록과 결제 확인 위치만 맞춥니다.</a:t>
            </a:r>
            <a:endParaRPr lang="ko-KR" sz="1300" dirty="0"/>
          </a:p>
        </p:txBody>
      </p:sp>
      <p:graphicFrame>
        <p:nvGraphicFramePr>
          <p:cNvPr id="2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539236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화면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결제수단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44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메가오더 · 함께오더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주문하기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팝업(MGC_ORD_025)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픽업 예약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주문(MGC_ORD_159)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메가퀵결제 · 신용카드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간편결제 · 메가크루결제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함께오더는 장바구니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위에 같은 팝업을 띄움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퀵오더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주문하기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바텀시트(MGC_ORD_45)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메가퀵결제 · 신용카드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간편결제 · 메가크루결제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저장된 결제수단에 앱카드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계정을 표시함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결제수단은 필수값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홀케이크 · MD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주문하기(MGC_ORD_132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133)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메가퀵결제 · 신용카드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간편결제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전 개인정보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제3자 제공 동의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선물하기 · 선불카드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주문하기(MGC_ORD_112 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113)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메가퀵결제 · 신용카드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간편결제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선불카드 구매는 선물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주문하기를 그대로 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메가선불카드 금액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금액 충전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팝업(MGC_PAY_007)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카드간편결제 · 신용카드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간편결제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 목록에 앱카드를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혜택 표시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2749847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78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59663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결제 화면 모두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앱카드는 밀어서 결제로 확인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결제 경로는 하나입니다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 / 88</a:t>
            </a:r>
          </a:p>
        </p:txBody>
      </p:sp>
      <p:sp>
        <p:nvSpPr>
          <p:cNvPr id="35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 · 결제 화면별 결제 전 체크 · 완료 이동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전 체크: 화면별 체크 통과 뒤에만 결제 거래번호 요청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결제하기를 누르면 화면설계서의 체크 로직을 먼저 돌리고, 통과하면 결제 거래번호 발급 ②로 넘어갑니다.</a:t>
            </a:r>
            <a:endParaRPr lang="ko-KR" sz="1300" dirty="0"/>
          </a:p>
        </p:txBody>
      </p:sp>
      <p:graphicFrame>
        <p:nvGraphicFramePr>
          <p:cNvPr id="2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1" cy="401650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3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화면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전 체크(화면설계서)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결제 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· 취소 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0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메가오더 · 퀵오더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매장 오더 오픈 · 판매 · 품절 · 픽업시간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쿠폰 · 금액권 · 선불카드 사용 가능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제휴 멤버십 응답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· 바텀시트 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전체화면 로딩 → 메인 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주문완료 팝업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주문하기 화면과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입력값 유지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함께오더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메가오더와 같음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판매 안함 · 품절이면 알럿 뒤 장바구니로 이동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장바구니 위 주문하기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메가오더와 같음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메가오더와 같음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80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홀케이크 · MD 예약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①예약기간 · 상품 상태 → ②매장 오더 오픈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③매장 품절 → ④예약일시 → ⑤개인정보 제3자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 동의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주문하기 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메가오더와 같음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메가오더와 같음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선물하기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상품 판매 상태 · 판매 기간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보내는 분 · 받는 분 · 결제수단 필수값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 주문하기 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선물하기 메인 위 「보낸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선물」 팝업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 주문하기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선불카드 구매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선물하기와 같음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 주문하기 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①전체화면 로딩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②메가선불카드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새로고침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③주문완료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선물 주문하기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0694684"/>
                  </a:ext>
                </a:extLst>
              </a:tr>
              <a:tr h="6480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선불카드 충전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유효기간 5년 초과, 보유 + 충전 50만원 초과면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충전 금액 · 결제수단 필수값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금액 충전 팝업 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팝업 닫고 메가선불카드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 충전 완료 알럿 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새로고침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금액 충전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· 입력값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175593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61126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87974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뒤 주문 생성 · 충전이 실패하면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취소 ⑤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정리하고 실패 안내를 보여 줍니다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 / 88</a:t>
            </a:r>
          </a:p>
        </p:txBody>
      </p:sp>
      <p:sp>
        <p:nvSpPr>
          <p:cNvPr id="35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명세 · 주문 결과 상태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결과: 앱카드 결제 실패 · 취소 안내 문구 추가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결과 상태는 현행과 같고, 앱카드 결제에서는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· 취소 안내 문구와 승인 식별값 보관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더해집니다.</a:t>
            </a:r>
            <a:endParaRPr lang="ko-KR" sz="1300" dirty="0"/>
          </a:p>
        </p:txBody>
      </p:sp>
      <p:graphicFrame>
        <p:nvGraphicFramePr>
          <p:cNvPr id="2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497455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3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결과 상태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앱카드에서 메가MGC커피가 처리하는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71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완료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승인 뒤 매장에 주문이 전달됨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주문번호 · tid(결제 거래번호) · approvalNo(승인번호) ·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pgTno(결제대행사 거래번호)를 함께 보관함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실패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인증이나 승인이 실패했음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 결과 화면이 실패 안내 문구를 보여 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71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취소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 · 매장 · 에이전트 자동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· 선물 결제 취소 요청으로 주문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승인 취소 ⑤를 부르고, 주문 결과 화면이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안내를 보여 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준비 중 ~ 픽업 완료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매장이 제조를 진행함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앱카드와 관계없이 현행 그대로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718556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645404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결과 상태는 늘지 않고, 실패 · 취소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 문구와 승인 식별값 보관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더해집니다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385564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4385564"/>
            <a:ext cx="11091672" cy="292608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주문 결과 상태 흐름</a:t>
            </a:r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앱카드 결제도 현행 상태를 그대로 쓰고, 취소는 승인 취소 ⑤로 처리함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4842764"/>
            <a:ext cx="2039112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승인 ④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실패하면 결제 실패 안내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21024" y="4842764"/>
            <a:ext cx="2039112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주문 완료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주문번호 · tid · approvalNo 보관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28816" y="4842764"/>
            <a:ext cx="2039112" cy="603504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준비 중 ~ 픽업 완료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현행 그대로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36608" y="4842764"/>
            <a:ext cx="2039112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주문 취소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취소 ⑤ · 취소 안내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788920" y="5144516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696712" y="5144516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604504" y="5144516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49640" y="4934203"/>
            <a:ext cx="905256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취소 요청 시</a:t>
            </a:r>
          </a:p>
        </p:txBody>
      </p:sp>
      <p:sp>
        <p:nvSpPr>
          <p:cNvPr id="37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 연동 방식, 호출값, 결과 코드, API 9종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   인증 모듈 연동 방식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   공통 웹 컴포넌트 7단계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   로그인 인증 모듈 호출값</a:t>
            </a:r>
          </a:p>
        </p:txBody>
      </p:sp>
      <p:sp>
        <p:nvSpPr>
          <p:cNvPr id="8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   결제 인증 모듈 호출값</a:t>
            </a:r>
          </a:p>
        </p:txBody>
      </p:sp>
      <p:sp>
        <p:nvSpPr>
          <p:cNvPr id="9" name="간지 목록"/>
          <p:cNvSpPr txBox="1"/>
          <p:nvPr/>
        </p:nvSpPr>
        <p:spPr>
          <a:xfrm>
            <a:off x="822960" y="5093207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   콜백과 결과 코드</a:t>
            </a:r>
          </a:p>
        </p:txBody>
      </p:sp>
      <p:sp>
        <p:nvSpPr>
          <p:cNvPr id="10" name="간지 목록"/>
          <p:cNvSpPr txBox="1"/>
          <p:nvPr/>
        </p:nvSpPr>
        <p:spPr>
          <a:xfrm>
            <a:off x="822960" y="5440679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   카드사 앱 이동 · 복귀</a:t>
            </a:r>
          </a:p>
        </p:txBody>
      </p:sp>
      <p:sp>
        <p:nvSpPr>
          <p:cNvPr id="11" name="간지 목록"/>
          <p:cNvSpPr txBox="1"/>
          <p:nvPr/>
        </p:nvSpPr>
        <p:spPr>
          <a:xfrm>
            <a:off x="621792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   핏콜라보 API 9종</a:t>
            </a:r>
          </a:p>
        </p:txBody>
      </p:sp>
      <p:sp>
        <p:nvSpPr>
          <p:cNvPr id="12" name="간지 목록"/>
          <p:cNvSpPr txBox="1"/>
          <p:nvPr/>
        </p:nvSpPr>
        <p:spPr>
          <a:xfrm>
            <a:off x="621792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   로그인 API 키값</a:t>
            </a:r>
          </a:p>
        </p:txBody>
      </p:sp>
      <p:sp>
        <p:nvSpPr>
          <p:cNvPr id="13" name="간지 목록"/>
          <p:cNvSpPr txBox="1"/>
          <p:nvPr/>
        </p:nvSpPr>
        <p:spPr>
          <a:xfrm>
            <a:off x="621792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   결제 API 키값 ①</a:t>
            </a:r>
          </a:p>
        </p:txBody>
      </p:sp>
      <p:sp>
        <p:nvSpPr>
          <p:cNvPr id="14" name="간지 목록"/>
          <p:cNvSpPr txBox="1"/>
          <p:nvPr/>
        </p:nvSpPr>
        <p:spPr>
          <a:xfrm>
            <a:off x="6217920" y="5093207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   transNo와 tid 구분</a:t>
            </a:r>
          </a:p>
        </p:txBody>
      </p:sp>
      <p:sp>
        <p:nvSpPr>
          <p:cNvPr id="15" name="간지 목록"/>
          <p:cNvSpPr txBox="1"/>
          <p:nvPr/>
        </p:nvSpPr>
        <p:spPr>
          <a:xfrm>
            <a:off x="6217920" y="5440679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   통신 규칙</a:t>
            </a:r>
          </a:p>
        </p:txBody>
      </p:sp>
      <p:sp>
        <p:nvSpPr>
          <p:cNvPr id="16" name="Text 1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 / 88</a:t>
            </a:r>
          </a:p>
        </p:txBody>
      </p:sp>
      <p:sp>
        <p:nvSpPr>
          <p:cNvPr id="17" name="간지 목록"/>
          <p:cNvSpPr txBox="1"/>
          <p:nvPr/>
        </p:nvSpPr>
        <p:spPr>
          <a:xfrm>
            <a:off x="621792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   결제 API 키값 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인증 모듈 연동 방식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방식: 인증 모듈을 공통 웹 컴포넌트로 표시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본인인증 · 로그인 모두 Webview에서 같은 공통 웹 컴포넌트로 인증 모듈을 띄우므로 Native 작업이 가장 적습니다.</a:t>
            </a:r>
            <a:endParaRPr lang="ko-KR" sz="1300" dirty="0"/>
          </a:p>
        </p:txBody>
      </p:sp>
      <p:graphicFrame>
        <p:nvGraphicFramePr>
          <p:cNvPr id="28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766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2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 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거래번호 요청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컴포넌트가 메가MGC커피 서버에 거래번호를 요청함</a:t>
                      </a: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transNo(인증 거래번호) · tid(결제 거래번호)만 내려주고 토큰은 보관함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표시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컴포넌트가 호출한 화면 위에 인증 모듈을 object/iframe으로 띄우고, 주소의 #/ 뒤에 호출값을 붙임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바텀시트 · 주문서는 그대로 남기고, 같은 화면에 인증 모듈을 두 번 만들지 않음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수신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모듈이 postMessage로 resultCode(결과 코드)를 보냄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컴포넌트는 인증 모듈 주소에서 온 결과만 처리하고, 리스너는 띄울 때 등록 · 닫을 때 해제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- 0000이면 메가MGC커피 서버가 인증 결과 조회 ② 또는 결제 인증 결과 조회 ③ · 승인 ④로 확정함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- 0002 · 0003이면 인증 모듈을 닫고 원래 화면으로 돌아감(로그인은 로그인 수단 선택)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복귀 포커스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Android: Native가 onResume에서 nativeFocusHandler(true)를 1회 부르면 공통 웹 컴포넌트가 인증 모듈에 전달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iOS: 인증 모듈이 포커스 변화를 스스로 감지하므로 Native 처리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 작업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Native는 앱카드 버튼으로 브릿지 페이지를 열고, 카드사 앱 주소를 가로채 실행(앱이 없으면 스토어)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Native는 Android 복귀 알림만 하고, 인증 처리 로직은 두지 않음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6860661"/>
                  </a:ext>
                </a:extLst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 / 88</a:t>
            </a:r>
          </a:p>
        </p:txBody>
      </p:sp>
      <p:sp>
        <p:nvSpPr>
          <p:cNvPr id="29" name="도식 제목"/>
          <p:cNvSpPr txBox="1"/>
          <p:nvPr/>
        </p:nvSpPr>
        <p:spPr>
          <a:xfrm>
            <a:off x="548640" y="5169408"/>
            <a:ext cx="5486400" cy="2181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공통 웹 컴포넌트 처리 순서</a:t>
            </a:r>
          </a:p>
        </p:txBody>
      </p:sp>
      <p:sp>
        <p:nvSpPr>
          <p:cNvPr id="30" name="도식 상자"/>
          <p:cNvSpPr/>
          <p:nvPr/>
        </p:nvSpPr>
        <p:spPr>
          <a:xfrm>
            <a:off x="548640" y="5425440"/>
            <a:ext cx="1658112" cy="548640"/>
          </a:xfrm>
          <a:prstGeom prst="rect">
            <a:avLst/>
          </a:prstGeom>
          <a:solidFill>
            <a:srgbClr val="3B2A20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인증이 필요한 화면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주문하기 · 본인인증 · 로그인</a:t>
            </a:r>
          </a:p>
        </p:txBody>
      </p:sp>
      <p:cxnSp>
        <p:nvCxnSpPr>
          <p:cNvPr id="31" name="도식 화살표"/>
          <p:cNvCxnSpPr/>
          <p:nvPr/>
        </p:nvCxnSpPr>
        <p:spPr>
          <a:xfrm>
            <a:off x="2225040" y="5699760"/>
            <a:ext cx="192024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도식 상자"/>
          <p:cNvSpPr/>
          <p:nvPr/>
        </p:nvSpPr>
        <p:spPr>
          <a:xfrm>
            <a:off x="2435352" y="5425440"/>
            <a:ext cx="1658112" cy="548640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거래번호 요청</a:t>
            </a:r>
          </a:p>
          <a:p>
            <a:pPr algn="ctr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메가MGC커피 서버 경유</a:t>
            </a:r>
          </a:p>
        </p:txBody>
      </p:sp>
      <p:cxnSp>
        <p:nvCxnSpPr>
          <p:cNvPr id="33" name="도식 화살표"/>
          <p:cNvCxnSpPr/>
          <p:nvPr/>
        </p:nvCxnSpPr>
        <p:spPr>
          <a:xfrm>
            <a:off x="4111751" y="5699760"/>
            <a:ext cx="192025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도식 상자"/>
          <p:cNvSpPr/>
          <p:nvPr/>
        </p:nvSpPr>
        <p:spPr>
          <a:xfrm>
            <a:off x="4322064" y="5425440"/>
            <a:ext cx="1658112" cy="548640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 표시</a:t>
            </a:r>
          </a:p>
          <a:p>
            <a:pPr algn="ctr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#/ 뒤 호출값, 원래 화면 유지</a:t>
            </a:r>
          </a:p>
        </p:txBody>
      </p:sp>
      <p:cxnSp>
        <p:nvCxnSpPr>
          <p:cNvPr id="35" name="도식 화살표"/>
          <p:cNvCxnSpPr/>
          <p:nvPr/>
        </p:nvCxnSpPr>
        <p:spPr>
          <a:xfrm>
            <a:off x="5998464" y="5699760"/>
            <a:ext cx="192024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도식 상자"/>
          <p:cNvSpPr/>
          <p:nvPr/>
        </p:nvSpPr>
        <p:spPr>
          <a:xfrm>
            <a:off x="6208776" y="5425440"/>
            <a:ext cx="165811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앱 인증 · 복귀</a:t>
            </a:r>
          </a:p>
          <a:p>
            <a:pPr algn="ctr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Android 포커스 · iOS 자동</a:t>
            </a:r>
          </a:p>
        </p:txBody>
      </p:sp>
      <p:cxnSp>
        <p:nvCxnSpPr>
          <p:cNvPr id="37" name="도식 화살표"/>
          <p:cNvCxnSpPr/>
          <p:nvPr/>
        </p:nvCxnSpPr>
        <p:spPr>
          <a:xfrm>
            <a:off x="7885176" y="5699760"/>
            <a:ext cx="192024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도식 상자"/>
          <p:cNvSpPr/>
          <p:nvPr/>
        </p:nvSpPr>
        <p:spPr>
          <a:xfrm>
            <a:off x="8095488" y="5425440"/>
            <a:ext cx="1658112" cy="548640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결과 코드 수신</a:t>
            </a:r>
          </a:p>
          <a:p>
            <a:pPr algn="ctr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postMessage · 출처 검증</a:t>
            </a:r>
          </a:p>
        </p:txBody>
      </p:sp>
      <p:cxnSp>
        <p:nvCxnSpPr>
          <p:cNvPr id="39" name="도식 화살표"/>
          <p:cNvCxnSpPr/>
          <p:nvPr/>
        </p:nvCxnSpPr>
        <p:spPr>
          <a:xfrm>
            <a:off x="9771888" y="5699760"/>
            <a:ext cx="192024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도식 상자"/>
          <p:cNvSpPr/>
          <p:nvPr/>
        </p:nvSpPr>
        <p:spPr>
          <a:xfrm>
            <a:off x="9982200" y="5425440"/>
            <a:ext cx="1658112" cy="548640"/>
          </a:xfrm>
          <a:prstGeom prst="rect">
            <a:avLst/>
          </a:prstGeom>
          <a:solidFill>
            <a:srgbClr val="3B2A20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서버 확정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0000 → 조회 · 승인</a:t>
            </a:r>
          </a:p>
        </p:txBody>
      </p:sp>
      <p:sp>
        <p:nvSpPr>
          <p:cNvPr id="41" name="본문"/>
          <p:cNvSpPr txBox="1"/>
          <p:nvPr/>
        </p:nvSpPr>
        <p:spPr>
          <a:xfrm>
            <a:off x="548640" y="6028944"/>
            <a:ext cx="11091672" cy="2016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0002(실패) · 0003(취소)이면 인증 모듈을 닫고 원래 화면으로 돌아가며, </a:t>
            </a:r>
            <a:r>
              <a:rPr sz="10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0000일 때만</a:t>
            </a:r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 메가MGC커피 서버가 확정</a:t>
            </a:r>
          </a:p>
        </p:txBody>
      </p:sp>
      <p:sp>
        <p:nvSpPr>
          <p:cNvPr id="42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공통 웹 컴포넌트 7단계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웹 컴포넌트: 7단계로 인증 모듈 표시 · 결과 전달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웹 컴포넌트는 거래번호 요청부터 결과 전달까지 맡고,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확정은 언제나 메가MGC커피 서버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합니다.</a:t>
            </a:r>
            <a:endParaRPr lang="ko-KR" sz="1300" dirty="0"/>
          </a:p>
        </p:txBody>
      </p:sp>
      <p:graphicFrame>
        <p:nvGraphicFramePr>
          <p:cNvPr id="2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144518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주체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 → 메가MGC커피 서버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인증이 필요하면 거래번호를 요청하고, 메가MGC커피 서버는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transNo(로그인) 또는 tid(결제)를 발급받음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호출한 화면 위에 인증 모듈을 object/iframe으로 띄우고, 다른 페이지로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이동하지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· 카드사 앱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카드사를 고르고 약관에 동의한 뒤 카드사 앱에서 인증함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 → 공통 웹 컴포넌트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Android Native는 카드사 앱에서 돌아오면 현재 Webview의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nativeFocusHandler를 부름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결과 코드를 받고, 메시지가 인증 모듈 주소에서 왔는지 검증함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66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 → 메가MGC커피 서버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- 0000이면 메가MGC커피 서버에 알리고, 메가MGC커피 서버가 인증 결과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· 승인을 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- 0002 · 0003이면 인증 모듈을 닫고 원래 화면을 유지함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①로그인은 Native가 토큰을 받아 홈 또는 주문 화면으로, ②결제는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Webview가 주문 결과 화면으로 이동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본문"/>
          <p:cNvSpPr txBox="1"/>
          <p:nvPr/>
        </p:nvSpPr>
        <p:spPr>
          <a:xfrm>
            <a:off x="548640" y="6045453"/>
            <a:ext cx="11091672" cy="218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인증 모듈 주소는 해시(#/) 방식이라 호출값을 반드시 #/ 뒤에 붙이고, 주소와 출처 검증 값은 설정값으로 관리해 운영 전환 때 함께 바꿈</a:t>
            </a:r>
            <a:endParaRPr lang="ko-KR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 / 88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로그인 인증 모듈 호출값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인증 모듈 호출값: 인증 거래번호 · 기기 구분 값만 필요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웹 컴포넌트는 메가MGC커피 서버에서 받은 transNo(인증 거래번호)를 인증 모듈 주소 뒤에 붙여 로그인 인증을 시작합니다.</a:t>
            </a:r>
            <a:endParaRPr lang="ko-KR" sz="1300" dirty="0"/>
          </a:p>
        </p:txBody>
      </p:sp>
      <p:graphicFrame>
        <p:nvGraphicFramePr>
          <p:cNvPr id="30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31571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적용값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transNo(인증 거래번호)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한 건을 가리키는 16자 번호이며,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인증 거래번호 발급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①(reqTransNo.mv)로 받음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받은 값을 그대로 넣고,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 뒤 5분 안에 호출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deviceType(기기 구분)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모듈이 화면과 카드사 앱 호출 방식을 고르는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값(1 iOS Web · 2 iOS App · 3 AOS Web · 4 AOS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 · 5 PC)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iOS 앱 Webview 2, Android 앱 Webview 4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[추정] </a:t>
                      </a: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↔ CJ ONS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cardCode(카드사 코드)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값이 있으면 그 카드사 화면만, 없으면 카드사 9곳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화면을 보여 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보내지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않음(고객이 인증 모듈에서 카드사 선택)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nativeYN(Native 호출 여부)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모듈을 부르는 위치 구분값이며, 생략하면 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N(Webview의 공통 웹 컴포넌트에서 호출)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callType(호출 구분)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- 01은 카드사 앱 안 앱카드iN에서 부를 때만 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보내지 않음(일반 호출)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storeTermYN(가맹점 약관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노출 여부)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Y면 인증 모듈에 가맹점 약관을 함께 보여 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N(인증 모듈에 메가MGC커피 약관을 넣지 않음)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deviceType(기기 구분) 값은 하이브리드 앱 기준으로 핏콜라보 · CJ ONS가 확정해야 합니다</a:t>
            </a:r>
          </a:p>
        </p:txBody>
      </p:sp>
      <p:sp>
        <p:nvSpPr>
          <p:cNvPr id="31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결제 인증 모듈 호출값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인증 모듈 호출값: tid · 금액 · 카드 구분 전달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카드(payType 0)는 계정 ID를 함께 보내고, 새 카드(payType 1)는 인증 뒤에 계정 ID를 받습니다.</a:t>
            </a:r>
            <a:endParaRPr lang="ko-KR" sz="1300" dirty="0"/>
          </a:p>
        </p:txBody>
      </p:sp>
      <p:graphicFrame>
        <p:nvGraphicFramePr>
          <p:cNvPr id="31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6417408"/>
              </p:ext>
            </p:extLst>
          </p:nvPr>
        </p:nvGraphicFramePr>
        <p:xfrm>
          <a:off x="548640" y="1783080"/>
          <a:ext cx="11091672" cy="3689604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5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3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 · 메가MGC커피 적용값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tid(결제 거래번호)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결제 거래번호 발급 ②(requestTid.mv)로 받은 20자 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deviceType(기기 구분)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인증 모듈과 같은 값 </a:t>
                      </a:r>
                      <a:r>
                        <a:rPr lang="en-US" sz="105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↔ CJ ONS 확인 필요]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storeId(가맹점 ID)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핏콜라보가 발급한 메가MGC커피 가맹점 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amount(결제 금액) · orderNo(주문번호)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금액(원)과 메가MGC커피 주문번호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instType(할부 구분) · installment(할부 개월)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일시불만 쓰므로 installment는 "00"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cardCode(카드사 코드)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고른 카드사 코드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storeUserNo(회원번호)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05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보내지 않음</a:t>
                      </a: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(개인정보는 CI만 전달)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payType(카드 구분)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 기존 카드 · 1 새 카드(아래 기준)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acntId(간편결제 계정 ID) · userNo(간편결제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payType 0이면 필수, payType 1이면 보내지 않음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termYN(약관 동의 기본값) · nativeYN(Native </a:t>
                      </a:r>
                      <a:r>
                        <a:rPr lang="en-US" sz="1050" b="1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</a:t>
                      </a: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여부</a:t>
                      </a: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termYN=N(고객이 약관 동의를 직접 체크), nativeYN=N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 / 88</a:t>
            </a:r>
          </a:p>
        </p:txBody>
      </p:sp>
      <p:sp>
        <p:nvSpPr>
          <p:cNvPr id="32" name="본문"/>
          <p:cNvSpPr txBox="1"/>
          <p:nvPr/>
        </p:nvSpPr>
        <p:spPr>
          <a:xfrm>
            <a:off x="548640" y="5554599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기존 카드(payType 0)는 앱카드 로그인 인증 · 이전 앱카드 결제 · 카드관리 페이지 등록으로 이미 등록된 카드이며, 주문하기 진입 때 계정 목록 조회 ①로</a:t>
            </a:r>
          </a:p>
          <a:p>
            <a:pPr algn="l"/>
            <a:r>
              <a:rPr sz="10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받아 화면 2 · 3의 1a에 보임</a:t>
            </a:r>
          </a:p>
          <a:p>
            <a:pPr algn="l"/>
            <a:r>
              <a:rPr sz="10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새 카드(payType 1)는 고객이 내가 쓰는 앱카드 선택에서 카드사를 고른 경우이며, 인증 뒤 결제 인증 결과 조회 ③으로 계정 ID를 받음</a:t>
            </a:r>
          </a:p>
        </p:txBody>
      </p:sp>
      <p:sp>
        <p:nvSpPr>
          <p:cNvPr id="33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콜백과 결과 코드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코드: 0000만 메가MGC커피 서버 확인 단계로 전달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모듈의 결과 코드는 화면 처리용이며, 로그인 · 결제의 최종 확정은 메가MGC커피 서버의 조회 · 승인 응답으로 합니다.</a:t>
            </a:r>
            <a:endParaRPr lang="ko-KR" sz="1300" dirty="0"/>
          </a:p>
        </p:txBody>
      </p:sp>
      <p:graphicFrame>
        <p:nvGraphicFramePr>
          <p:cNvPr id="32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187833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65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3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컴포넌트가 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성공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모듈을 닫고 메가MGC커피 서버에 알리며, </a:t>
                      </a:r>
                      <a:r>
                        <a:rPr lang="en-US" sz="125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코드만으로 로그인 · 결제를 확정하지 않음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스토어 이동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설치하기를 누르면 함께 온 scheme(스토어 주소)을 열고, 인증 모듈은 닫지 않음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실패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모듈을 닫고, 실패 알럿 아래 줄에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resultMessage(카드사 앱 미인증 · 유효기간 만료 카드 등)를 붙임(61장)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취소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모듈을 닫고 이전 화면으로 돌아가며, 0001 직후의 0003은 스토어 이동에 따른 종료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3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53180"/>
          <a:ext cx="11091672" cy="166420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콜백 필드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resultCode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- 0000 · 0001 · 0002 · 0003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resultMessage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0002 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결과 · 오류 안내 메시지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scheme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 앱 스토어 주소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userNo · acntId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새 카드 결제 인증(payType 1)일 때 카드사 앱 인증 뒤에 전달됨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 / 88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5819140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74598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모듈의 0000은 화면 처리용이며, 로그인 · 승인 확정은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 응답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합니다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카드사 앱 이동 · 복귀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앱 이동: Webview가 주소를 가로채 열고 Android만 복귀 알림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앱에서 메가MGC커피 앱으로 돌아오는 전용 바로가기는 필요 없고,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알림은 Android 앱만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보냅니다.</a:t>
            </a:r>
            <a:endParaRPr lang="ko-KR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iOS는 별도 복귀 처리가 없고,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Android만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복귀 때 포커스를 한 번 전달합니다</a:t>
            </a:r>
          </a:p>
        </p:txBody>
      </p:sp>
      <p:sp>
        <p:nvSpPr>
          <p:cNvPr id="13" name="설명 제목"/>
          <p:cNvSpPr txBox="1"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이동: Webview가 카드사 앱 주소를 가로챔</a:t>
            </a:r>
          </a:p>
        </p:txBody>
      </p:sp>
      <p:sp>
        <p:nvSpPr>
          <p:cNvPr id="14" name="설명"/>
          <p:cNvSpPr txBox="1"/>
          <p:nvPr/>
        </p:nvSpPr>
        <p:spPr>
          <a:xfrm>
            <a:off x="548640" y="2052574"/>
            <a:ext cx="5486400" cy="11262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- ①Android는 shouldOverrideUrlLoading, ②iOS는</a:t>
            </a:r>
          </a:p>
          <a:p>
            <a:pPr algn="l" marL="94996" indent="0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decidePolicyFor에서 카드사 앱 주소를 외부 앱으로 열어 줌</a:t>
            </a:r>
          </a:p>
          <a:p>
            <a:pPr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- Android 주소는 intent 형식이며, 카드사 앱이 없으면 패키지명으로</a:t>
            </a:r>
          </a:p>
          <a:p>
            <a:pPr algn="l" marL="94996" indent="0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Play 스토어를 열어 줌</a:t>
            </a:r>
          </a:p>
          <a:p>
            <a:pPr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- 현행 Webview에 가로채기가 없으면 CJ ONS가 추가함</a:t>
            </a:r>
          </a:p>
          <a:p>
            <a:pPr algn="l" marL="94996" indent="0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[CJ ONS 확인 필요]</a:t>
            </a:r>
          </a:p>
        </p:txBody>
      </p:sp>
      <p:sp>
        <p:nvSpPr>
          <p:cNvPr id="15" name="설명 제목"/>
          <p:cNvSpPr txBox="1"/>
          <p:nvPr/>
        </p:nvSpPr>
        <p:spPr>
          <a:xfrm>
            <a:off x="548640" y="337083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복귀: Android Native는 onResume에서 한 번만 알림</a:t>
            </a:r>
          </a:p>
        </p:txBody>
      </p:sp>
      <p:sp>
        <p:nvSpPr>
          <p:cNvPr id="16" name="설명"/>
          <p:cNvSpPr txBox="1"/>
          <p:nvPr/>
        </p:nvSpPr>
        <p:spPr>
          <a:xfrm>
            <a:off x="548640" y="3640327"/>
            <a:ext cx="5486400" cy="5814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- 복귀 1회에 nativeFocusHandler(true)를 한 번만 부르고, blur는</a:t>
            </a:r>
          </a:p>
          <a:p>
            <a:pPr marL="94996" indent="0"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보내지 않음</a:t>
            </a:r>
          </a:p>
          <a:p>
            <a:pPr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- 함수 이름 nativeFocusHandler는 바꿀 수 없음</a:t>
            </a:r>
          </a:p>
        </p:txBody>
      </p:sp>
      <p:sp>
        <p:nvSpPr>
          <p:cNvPr id="17" name="설명 제목"/>
          <p:cNvSpPr txBox="1"/>
          <p:nvPr/>
        </p:nvSpPr>
        <p:spPr>
          <a:xfrm>
            <a:off x="548640" y="441375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iOS 하이브리드 앱은 처리할 것이 없음</a:t>
            </a:r>
          </a:p>
        </p:txBody>
      </p:sp>
      <p:sp>
        <p:nvSpPr>
          <p:cNvPr id="18" name="설명"/>
          <p:cNvSpPr txBox="1"/>
          <p:nvPr/>
        </p:nvSpPr>
        <p:spPr>
          <a:xfrm>
            <a:off x="548640" y="4683251"/>
            <a:ext cx="5486400" cy="399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- 인증 모듈이 화면 포커스 변화를 스스로 감지함</a:t>
            </a:r>
          </a:p>
          <a:p>
            <a:pPr algn="l"/>
            <a:r>
              <a:rPr sz="11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- 포커스가 오지 않는 인앱 브라우저는 인증 모듈의 확인 버튼으로 조회함</a:t>
            </a:r>
          </a:p>
        </p:txBody>
      </p:sp>
      <p:sp>
        <p:nvSpPr>
          <p:cNvPr id="19" name="도식 상자"/>
          <p:cNvSpPr/>
          <p:nvPr/>
        </p:nvSpPr>
        <p:spPr>
          <a:xfrm>
            <a:off x="6400800" y="1783080"/>
            <a:ext cx="5239512" cy="548640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모듈(Webview 안)</a:t>
            </a:r>
          </a:p>
          <a:p>
            <a:pPr algn="ctr"/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고객이 카드사를 고르면 카드사 앱 주소를 열어 줌</a:t>
            </a:r>
          </a:p>
        </p:txBody>
      </p:sp>
      <p:cxnSp>
        <p:nvCxnSpPr>
          <p:cNvPr id="20" name="도식 화살표"/>
          <p:cNvCxnSpPr/>
          <p:nvPr/>
        </p:nvCxnSpPr>
        <p:spPr>
          <a:xfrm>
            <a:off x="9020556" y="2331720"/>
            <a:ext cx="0" cy="210312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도식 상자"/>
          <p:cNvSpPr/>
          <p:nvPr/>
        </p:nvSpPr>
        <p:spPr>
          <a:xfrm>
            <a:off x="6400800" y="2542032"/>
            <a:ext cx="5239512" cy="548640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Webview가 주소 가로채기</a:t>
            </a:r>
          </a:p>
          <a:p>
            <a:pPr algn="ctr"/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Android shouldOverrideUrlLoading · iOS decidePolicyFor</a:t>
            </a:r>
          </a:p>
        </p:txBody>
      </p:sp>
      <p:cxnSp>
        <p:nvCxnSpPr>
          <p:cNvPr id="22" name="도식 화살표"/>
          <p:cNvCxnSpPr/>
          <p:nvPr/>
        </p:nvCxnSpPr>
        <p:spPr>
          <a:xfrm>
            <a:off x="9020556" y="3090672"/>
            <a:ext cx="0" cy="210312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도식 상자"/>
          <p:cNvSpPr/>
          <p:nvPr/>
        </p:nvSpPr>
        <p:spPr>
          <a:xfrm>
            <a:off x="6400800" y="3300984"/>
            <a:ext cx="523951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앱 실행 · 카드 인증</a:t>
            </a:r>
          </a:p>
          <a:p>
            <a:pPr algn="ctr"/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카드사 앱이 없으면 스토어로 이동(결과 코드 0001)</a:t>
            </a:r>
          </a:p>
        </p:txBody>
      </p:sp>
      <p:cxnSp>
        <p:nvCxnSpPr>
          <p:cNvPr id="24" name="도식 화살표"/>
          <p:cNvCxnSpPr/>
          <p:nvPr/>
        </p:nvCxnSpPr>
        <p:spPr>
          <a:xfrm flipH="1">
            <a:off x="7680960" y="3849624"/>
            <a:ext cx="1339596" cy="210312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도식 화살표"/>
          <p:cNvCxnSpPr/>
          <p:nvPr/>
        </p:nvCxnSpPr>
        <p:spPr>
          <a:xfrm>
            <a:off x="9020556" y="3849624"/>
            <a:ext cx="1339596" cy="210312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도식 상자"/>
          <p:cNvSpPr/>
          <p:nvPr/>
        </p:nvSpPr>
        <p:spPr>
          <a:xfrm>
            <a:off x="6400800" y="4059936"/>
            <a:ext cx="2514600" cy="640080"/>
          </a:xfrm>
          <a:prstGeom prst="rect">
            <a:avLst/>
          </a:prstGeom>
          <a:solidFill>
            <a:srgbClr val="3B2A20"/>
          </a:solidFill>
          <a:ln w="9525">
            <a:solidFill>
              <a:srgbClr val="C9B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Android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Native가 onResume에서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nativeFocusHandler(true) 1회</a:t>
            </a:r>
          </a:p>
        </p:txBody>
      </p:sp>
      <p:sp>
        <p:nvSpPr>
          <p:cNvPr id="27" name="도식 상자"/>
          <p:cNvSpPr/>
          <p:nvPr/>
        </p:nvSpPr>
        <p:spPr>
          <a:xfrm>
            <a:off x="9125712" y="4059936"/>
            <a:ext cx="2514600" cy="640080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iOS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인증 모듈이 포커스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변화를 스스로 감지</a:t>
            </a:r>
          </a:p>
        </p:txBody>
      </p:sp>
      <p:cxnSp>
        <p:nvCxnSpPr>
          <p:cNvPr id="28" name="도식 화살표"/>
          <p:cNvCxnSpPr/>
          <p:nvPr/>
        </p:nvCxnSpPr>
        <p:spPr>
          <a:xfrm>
            <a:off x="7680960" y="4700016"/>
            <a:ext cx="1339596" cy="210312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도식 화살표"/>
          <p:cNvCxnSpPr/>
          <p:nvPr/>
        </p:nvCxnSpPr>
        <p:spPr>
          <a:xfrm flipH="1">
            <a:off x="9020556" y="4700016"/>
            <a:ext cx="1339596" cy="210312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도식 상자"/>
          <p:cNvSpPr/>
          <p:nvPr/>
        </p:nvSpPr>
        <p:spPr>
          <a:xfrm>
            <a:off x="6400800" y="4910328"/>
            <a:ext cx="5239512" cy="548640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18288" rIns="54864" bIns="18288" rtlCol="0" anchor="ctr"/>
          <a:lstStyle/>
          <a:p>
            <a:pPr algn="ctr"/>
            <a:r>
              <a:rPr sz="11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모듈이 결과 코드 전달</a:t>
            </a:r>
          </a:p>
          <a:p>
            <a:pPr algn="ctr"/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0000이면 공통 웹 컴포넌트가 메가MGC커피 서버에 알림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핏콜라보 API 9종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API 9종: 메가MGC커피 서버만 호출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번호는 이 장이 원본이며, 다른 장의 로그인 ① · 결제 ② 같은 표기는 모두 이 목록을 가리킵니다.</a:t>
            </a:r>
          </a:p>
        </p:txBody>
      </p:sp>
      <p:graphicFrame>
        <p:nvGraphicFramePr>
          <p:cNvPr id="34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43738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47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경로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/reqTransNo.mv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로그인 6.1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거래번호 · 인증 토큰을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결과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/reqAuthData.mv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로그인 6.3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인증이 끝난 고객의 CI 등 회원 정보를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/api/getPayCardInfo.mv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 CI로 등록된 앱카드 계정 목록을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거래번호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/prepay/requestTid.mv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거래번호와 인증 필요 여부를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③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결과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/reqAuthDataPay.mv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· 결제 6.6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 인증이 끝난 계정 ID를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④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/mobileCert/appcardPayment.mv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승인을 요청해 승인번호를 받음(재호출 금지)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취소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/ext/appcardCancel.mv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승인을 전체 취소함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 상태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/mobileCert/reqCondition.mv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결제 6.12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· 취소 상태로 미확인 거래를 확정함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관리 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적재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/api/insSessionData.mv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카드관리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 페이지 진입용 세션 키를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/ 88</a:t>
            </a:r>
          </a:p>
        </p:txBody>
      </p:sp>
      <p:sp>
        <p:nvSpPr>
          <p:cNvPr id="35" name="본문"/>
          <p:cNvSpPr txBox="1"/>
          <p:nvPr/>
        </p:nvSpPr>
        <p:spPr>
          <a:xfrm>
            <a:off x="548640" y="5330190"/>
            <a:ext cx="110916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로그인 유지는 메가MGC커피 자체 토큰으로 하므로, 핏콜라보 규격의 토큰 인증 API는 쓰지 않음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로그인 API 키값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API 2종: 인증 거래번호 · 인증 토큰을 짝으로 송·수신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인증 거래번호 발급 ①에서 받은 transNo(인증 거래번호) · token(인증 토큰)을 인증 결과 조회 ②에 그대로 보냅니다.</a:t>
            </a:r>
            <a:endParaRPr lang="ko-KR" sz="1300" dirty="0"/>
          </a:p>
        </p:txBody>
      </p:sp>
      <p:graphicFrame>
        <p:nvGraphicFramePr>
          <p:cNvPr id="3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074671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84134742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보내는 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받는 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 발급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(reqTransNo.mv)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인증 한 건을 시작할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 · 인증 토큰을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storeId(가맹점 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transType(거래 구분: L 로그인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가입)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transNo(인증 거래번호, 16자)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token(인증 토큰, 32자, 30분 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1회용, 메가MGC커피 서버 보관)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606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②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결과 조회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(reqAuthData.mv)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인증이 끝난 고객의 회원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정보를 받음(인증 후 3분 안)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storeId(가맹점 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transNo(인증 거래번호)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token(인증 토큰)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ci(연계정보) · di(중복가입확인정보)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name(성명) · phoneNo(휴대폰번호)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birthDate(생년월일) · gender(성별)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nation(내외국인) · email(이메일, 선택)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- 3분 초과 1500, token 불일치 1402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1616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4301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결과 조회 ② 응답의 gender(성별) · email(이메일)은 메가MGC커피 서버가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저장하지 않습니다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 / 88</a:t>
            </a:r>
          </a:p>
        </p:txBody>
      </p:sp>
      <p:sp>
        <p:nvSpPr>
          <p:cNvPr id="36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결제 API 키값 ①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API ①~③: 결제 거래번호 · 결제 토큰 · 계정 ID 연속 사용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결제 거래번호 발급 ②에서 받은 tid(결제 거래번호) · reqToken(결제 토큰)을 승인 ④까지 보관합니다.</a:t>
            </a:r>
            <a:endParaRPr lang="ko-KR" sz="1300" dirty="0"/>
          </a:p>
        </p:txBody>
      </p:sp>
      <p:graphicFrame>
        <p:nvGraphicFramePr>
          <p:cNvPr id="3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152519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902449517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3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보내는 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받는 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81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(getPayCardInfo.mv)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 CI로 등록된 앱카드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목록을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userType(조회 구분, 1 = CI)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ci(연계정보)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oneclickOnOff(원클릭 사용 여부)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cardList(계정 목록):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acntId(간편결제 계정 ID)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userNo(간편결제 회원번호)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cardCode(카드사 코드)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isOneclick(원클릭 여부)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34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거래번호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(requestTid.mv)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한 건의 결제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거래번호와 인증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여부를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amount(결제 금액) · orderNo(주문번호)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goodsName(상품명)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pgType(결제대행사 구분)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instType(할부 구분)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installment(할부 개월)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cardCode(카드사 코드)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isOneclick(원클릭 여부)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payType(카드 구분)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ci(연계정보)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acntId(간편결제 계정 ID)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userNo(간편결제 회원번호)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tid(결제 거래번호, 20자)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orderNo(주문번호)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authYN(인증 필요 여부: Y 바로 승인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인증 뒤 승인)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reqToken(결제 토큰, 64자)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80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③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결과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(reqAuthDataPay.mv)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결제에서 카드사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인증이 끝난 계정 ID를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tid(결제 거래번호) · orderNo(주문번호)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reqToken(결제 토큰)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회원 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acntId(간편결제 계정 ID)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userNo(간편결제 회원번호)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 / 88</a:t>
            </a:r>
          </a:p>
        </p:txBody>
      </p:sp>
      <p:sp>
        <p:nvSpPr>
          <p:cNvPr id="37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548640" y="6035040"/>
            <a:ext cx="110916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storeUserNo(회원번호) · userName(주문자 이름)은 규격의 선택 항목이며, 메가MGC커피 서버는 </a:t>
            </a:r>
            <a:r>
              <a:rPr sz="10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보내지 않습니다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결제 API 키값 ②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API ④~⑥ · 카드 관리 API: 승인번호 · 세션 키 처리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④ 응답의 approvalNo(승인번호)는 승인 취소 ⑤의 필수값이므로 메가MGC커피 서버가 주문과 함께 저장합니다.</a:t>
            </a:r>
            <a:endParaRPr lang="ko-KR" sz="1300" dirty="0"/>
          </a:p>
        </p:txBody>
      </p:sp>
      <p:graphicFrame>
        <p:nvGraphicFramePr>
          <p:cNvPr id="3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83362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157404704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보내는 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받는 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681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④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(appcardPayment.mv)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승인을 요청해 승인번호를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받음(재호출 금지)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tid(결제 거래번호) · amount(결제 금액) ·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orderNo(주문번호) · 세액 항목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cardCode(카드사 코드)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acntId(간편결제 계정 ID)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userNo(간편결제 회원번호)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reqToken(결제 토큰)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approvalNo(승인번호)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approvalDate(승인 일시)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pgTno(결제대행사 거래번호)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mid(결제대행사 가맹점 ID)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PG(결제대행사 구분)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⑤ 승인 취소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(appcardCancel.mv)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승인을 전체 취소함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tid(결제 거래번호) · orderNo(주문번호)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amount(결제 금액)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approvalNo(승인번호, 필수)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type(취소 구분, 0 = 전체 취소) · 세액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cancelTid(취소 거래번호)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cancelPgTno(결제대행사 취소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⑥ 거래 상태 조회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(reqCondition.mv)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· 취소 상태로 미확인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거래를 확정함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tid(결제 거래번호)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state(거래 상태)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stateDesc(상태 설명)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approvalNo(승인번호)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cancelState(취소 상태)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68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관리 ① 데이터 적재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(insSessionData.mv)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 페이지 진입용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키를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storeId(가맹점 ID) · deviceType(기기 구분)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userType(조회 구분, 0 = CI) · ci(연계정보)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redirectUrl(복귀 주소: 메가퀵결제 화면)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sessionKey(세션 키)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token(인증 토큰)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2691747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 / 88</a:t>
            </a:r>
          </a:p>
        </p:txBody>
      </p:sp>
      <p:sp>
        <p:nvSpPr>
          <p:cNvPr id="37" name="본문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조회 구분 값은 API마다 달라, 계정 목록 조회는 userType 1이 CI이고 카드관리 데이터 적재는 userType 0이 CI</a:t>
            </a:r>
          </a:p>
          <a:p>
            <a:pPr algn="l"/>
            <a:r>
              <a:rPr sz="10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승인 ④ · 데이터 적재 ①에도 storeUserNo(회원번호)를 보내지 않음</a:t>
            </a:r>
          </a:p>
        </p:txBody>
      </p:sp>
      <p:sp>
        <p:nvSpPr>
          <p:cNvPr id="38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transNo와 tid 구분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거래번호 구분: 인증 거래번호(transNo) · 결제 거래번호(tid)는 별개 값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거래번호는 발급 API · 길이 · 함께 받는 토큰 · 만료 코드가 모두 다르므로, 메가MGC커피 서버는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저장하고 관리합니다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ko-KR" sz="1300" dirty="0"/>
          </a:p>
        </p:txBody>
      </p:sp>
      <p:graphicFrame>
        <p:nvGraphicFramePr>
          <p:cNvPr id="37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545157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07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거래번호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transNo(16자)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tid(20자)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 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/reqTransNo.mv(로그인 ①)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/prepay/requestTid.mv(결제 ②)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함께 받는 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token(인증 토큰, 32자, 30분 · 1회용)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reqToken(결제 토큰, 64자) · authYN(인증 필요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여부)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호출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4.1 로그인 호출값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4.2 결제 호출값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이후 쓰는 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결과 조회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결과 조회 · 승인 · 취소 · 거래 상태 조회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만료 코드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1200(기본 5분, 인증 모듈 2.0.4 · 연동 요약서)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1403(간편결제 7장, 유효시간 수치 없음)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174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만료되면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reqTransNo부터 다시</a:t>
                      </a: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requestTid를 다시</a:t>
                      </a: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발급해 재시도함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본문"/>
          <p:cNvSpPr txBox="1"/>
          <p:nvPr/>
        </p:nvSpPr>
        <p:spPr>
          <a:xfrm>
            <a:off x="548640" y="5404484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승인 뒤 받는 pgTno(결제대행사 거래번호) · cancelTid · cancelPgTno도 별개 값</a:t>
            </a:r>
            <a:endParaRPr lang="ko-KR" sz="1050" dirty="0"/>
          </a:p>
          <a:p>
            <a:pPr algn="l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인증 모듈 2.1.2 결과 코드 표에는 1200이 없어, 1200 유지 여부는 핏콜라보가 확인 </a:t>
            </a:r>
            <a:r>
              <a:rPr lang="ko-KR" altLang="en-US" sz="1050" dirty="0" b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[핏콜라보 확인 필요]</a:t>
            </a:r>
            <a:endParaRPr lang="ko-KR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 / 88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코드가 다르므로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transNo는 1200, tid는 1403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받으면 각각 다시 발급합니다</a:t>
            </a:r>
          </a:p>
        </p:txBody>
      </p:sp>
      <p:sp>
        <p:nvSpPr>
          <p:cNvPr id="38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구조 · API · 통신 규칙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공통 규격: POST · form-urlencoded 요청, JSON 응답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공통 HTTP 호출부를 한 번 만들어 API 9종에 함께 쓰고, 핏콜라보는 등록된 공인 IP만 받아 줍니다.</a:t>
            </a:r>
            <a:endParaRPr lang="ko-KR" sz="1300" dirty="0"/>
          </a:p>
        </p:txBody>
      </p:sp>
      <p:sp>
        <p:nvSpPr>
          <p:cNvPr id="6" name="설명 제목"/>
          <p:cNvSpPr txBox="1"/>
          <p:nvPr/>
        </p:nvSpPr>
        <p:spPr>
          <a:xfrm>
            <a:off x="548640" y="1783080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· 응답 형식</a:t>
            </a:r>
            <a:endParaRPr lang="ko-KR" sz="1400" dirty="0"/>
          </a:p>
        </p:txBody>
      </p:sp>
      <p:sp>
        <p:nvSpPr>
          <p:cNvPr id="7" name="설명"/>
          <p:cNvSpPr txBox="1"/>
          <p:nvPr/>
        </p:nvSpPr>
        <p:spPr>
          <a:xfrm>
            <a:off x="548640" y="2087372"/>
            <a:ext cx="1109167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메가MGC커피 서버는 POST, Content-Type application/x-www-form-urlencoded; charset=UTF-8로 보냄</a:t>
            </a:r>
            <a:endParaRPr lang="ko-KR" sz="1200" dirty="0"/>
          </a:p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핏콜라보는 JSON(resultCode · resultMessage · resultData)으로 응답하고, HTTP 200이 성공</a:t>
            </a:r>
            <a:endParaRPr lang="ko-KR" sz="1200" dirty="0"/>
          </a:p>
        </p:txBody>
      </p:sp>
      <p:sp>
        <p:nvSpPr>
          <p:cNvPr id="8" name="설명 제목"/>
          <p:cNvSpPr txBox="1"/>
          <p:nvPr/>
        </p:nvSpPr>
        <p:spPr>
          <a:xfrm>
            <a:off x="548640" y="2794508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통신</a:t>
            </a:r>
            <a:endParaRPr lang="ko-KR" sz="1400" dirty="0"/>
          </a:p>
        </p:txBody>
      </p:sp>
      <p:sp>
        <p:nvSpPr>
          <p:cNvPr id="9" name="설명"/>
          <p:cNvSpPr txBox="1"/>
          <p:nvPr/>
        </p:nvSpPr>
        <p:spPr>
          <a:xfrm>
            <a:off x="548640" y="3098800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서버와 핏콜라보 서버는 HTTPS(TLS 1.2 이상)로 통신</a:t>
            </a:r>
            <a:endParaRPr lang="ko-KR" sz="1200" dirty="0"/>
          </a:p>
        </p:txBody>
      </p:sp>
      <p:sp>
        <p:nvSpPr>
          <p:cNvPr id="10" name="설명 제목"/>
          <p:cNvSpPr txBox="1"/>
          <p:nvPr/>
        </p:nvSpPr>
        <p:spPr>
          <a:xfrm>
            <a:off x="548640" y="3607816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허용</a:t>
            </a:r>
            <a:endParaRPr lang="ko-KR" sz="1400" dirty="0"/>
          </a:p>
        </p:txBody>
      </p:sp>
      <p:sp>
        <p:nvSpPr>
          <p:cNvPr id="11" name="설명"/>
          <p:cNvSpPr txBox="1"/>
          <p:nvPr/>
        </p:nvSpPr>
        <p:spPr>
          <a:xfrm>
            <a:off x="548640" y="3912108"/>
            <a:ext cx="1109167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메가MGC커피는 개발 · 스테이징 · 운영 메가MGC커피 서버의 공인 IP를 핏콜라보에 알려야 함</a:t>
            </a:r>
            <a:endParaRPr lang="ko-KR" sz="1200" dirty="0"/>
          </a:p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고정 IP를 쓸 수 없으면 메가MGC커피 서버가 storeAuthKey를 모든 요청에 붙이고, 등록되지 않은 IP는 9998을 받음</a:t>
            </a:r>
            <a:endParaRPr lang="ko-KR" sz="1200" dirty="0"/>
          </a:p>
        </p:txBody>
      </p:sp>
      <p:sp>
        <p:nvSpPr>
          <p:cNvPr id="12" name="설명 제목"/>
          <p:cNvSpPr txBox="1"/>
          <p:nvPr/>
        </p:nvSpPr>
        <p:spPr>
          <a:xfrm>
            <a:off x="548640" y="4619244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대기</a:t>
            </a:r>
            <a:endParaRPr lang="ko-KR" sz="1400" dirty="0"/>
          </a:p>
        </p:txBody>
      </p:sp>
      <p:sp>
        <p:nvSpPr>
          <p:cNvPr id="13" name="설명"/>
          <p:cNvSpPr txBox="1"/>
          <p:nvPr/>
        </p:nvSpPr>
        <p:spPr>
          <a:xfrm>
            <a:off x="548640" y="4923536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승인 요청과 승인 취소의 응답을 30초~1분 기다림</a:t>
            </a:r>
            <a:endParaRPr lang="ko-KR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 / 88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5459984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핵심 문장 요약"/>
          <p:cNvSpPr txBox="1"/>
          <p:nvPr/>
        </p:nvSpPr>
        <p:spPr>
          <a:xfrm>
            <a:off x="731520" y="5386832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등록된 공인 IP만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받으므로, 방화벽 등록이 연동 시작 조건입니다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결제 · 취소 · 카드 관리의 흐름도와 송수신 다이어그램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   로그인 흐름도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   로그인 송수신 16단계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    로그인 단계별 규칙</a:t>
            </a:r>
          </a:p>
        </p:txBody>
      </p:sp>
      <p:sp>
        <p:nvSpPr>
          <p:cNvPr id="8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    주문 중 로그인</a:t>
            </a:r>
          </a:p>
        </p:txBody>
      </p:sp>
      <p:sp>
        <p:nvSpPr>
          <p:cNvPr id="9" name="간지 목록"/>
          <p:cNvSpPr txBox="1"/>
          <p:nvPr/>
        </p:nvSpPr>
        <p:spPr>
          <a:xfrm>
            <a:off x="8229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    결제 흐름도</a:t>
            </a:r>
          </a:p>
        </p:txBody>
      </p:sp>
      <p:sp>
        <p:nvSpPr>
          <p:cNvPr id="10" name="간지 목록"/>
          <p:cNvSpPr txBox="1"/>
          <p:nvPr/>
        </p:nvSpPr>
        <p:spPr>
          <a:xfrm>
            <a:off x="822960" y="5440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    결제 송수신 18단계</a:t>
            </a:r>
          </a:p>
        </p:txBody>
      </p:sp>
      <p:sp>
        <p:nvSpPr>
          <p:cNvPr id="11" name="간지 목록"/>
          <p:cNvSpPr txBox="1"/>
          <p:nvPr/>
        </p:nvSpPr>
        <p:spPr>
          <a:xfrm>
            <a:off x="621792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    결제 단계별 규칙</a:t>
            </a:r>
          </a:p>
        </p:txBody>
      </p:sp>
      <p:sp>
        <p:nvSpPr>
          <p:cNvPr id="12" name="간지 목록"/>
          <p:cNvSpPr txBox="1"/>
          <p:nvPr/>
        </p:nvSpPr>
        <p:spPr>
          <a:xfrm>
            <a:off x="6217920" y="4050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    원클릭과 인증 결제 비교</a:t>
            </a:r>
          </a:p>
        </p:txBody>
      </p:sp>
      <p:sp>
        <p:nvSpPr>
          <p:cNvPr id="13" name="간지 목록"/>
          <p:cNvSpPr txBox="1"/>
          <p:nvPr/>
        </p:nvSpPr>
        <p:spPr>
          <a:xfrm>
            <a:off x="621792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    현행 결제와의 차이</a:t>
            </a:r>
          </a:p>
        </p:txBody>
      </p:sp>
      <p:sp>
        <p:nvSpPr>
          <p:cNvPr id="14" name="간지 목록"/>
          <p:cNvSpPr txBox="1"/>
          <p:nvPr/>
        </p:nvSpPr>
        <p:spPr>
          <a:xfrm>
            <a:off x="621792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    취소 흐름도</a:t>
            </a:r>
          </a:p>
        </p:txBody>
      </p:sp>
      <p:sp>
        <p:nvSpPr>
          <p:cNvPr id="15" name="간지 목록"/>
          <p:cNvSpPr txBox="1"/>
          <p:nvPr/>
        </p:nvSpPr>
        <p:spPr>
          <a:xfrm>
            <a:off x="621792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    취소 송수신</a:t>
            </a:r>
          </a:p>
        </p:txBody>
      </p:sp>
      <p:sp>
        <p:nvSpPr>
          <p:cNvPr id="16" name="간지 목록"/>
          <p:cNvSpPr txBox="1"/>
          <p:nvPr/>
        </p:nvSpPr>
        <p:spPr>
          <a:xfrm>
            <a:off x="6217920" y="5440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    카드 관리 송수신 9단계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 / 88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로그인 흐름도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흐름: 앱카드 인증 뒤 메가MGC커피 서버가 CI로 기존 계정 조회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결과의 CI로 같은 계정이 있으면 그 계정으로 로그인하고, 없으면 가입 판정(13장)을 거쳐 앱카드 회원으로 가입시킵니다.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877705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04553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후 3분 안에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인증 결과를 조회하고, CI로 기존 계정을 찾습니다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 / 88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938528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앱카드 로그인 선택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로그인 수단 · Native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938528"/>
            <a:ext cx="1874519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브릿지 페이지(Webview)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거래번호 발급 ①(reqTransNo.mv)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938528"/>
            <a:ext cx="1691640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 호출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카드사 앱 인증 · 복귀</a:t>
            </a:r>
          </a:p>
        </p:txBody>
      </p:sp>
      <p:sp>
        <p:nvSpPr>
          <p:cNvPr id="14" name="Diamond 13"/>
          <p:cNvSpPr/>
          <p:nvPr/>
        </p:nvSpPr>
        <p:spPr>
          <a:xfrm>
            <a:off x="6903720" y="1892807"/>
            <a:ext cx="1600200" cy="65836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결과 코드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0000?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3960" y="1938528"/>
            <a:ext cx="2011680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결과 조회 ②(reqAuthData.mv)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인증 후 3분 안에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4848" y="2852928"/>
            <a:ext cx="18288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실패 · 취소 안내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0001~0003, 1500</a:t>
            </a:r>
          </a:p>
        </p:txBody>
      </p:sp>
      <p:sp>
        <p:nvSpPr>
          <p:cNvPr id="17" name="Diamond 16"/>
          <p:cNvSpPr/>
          <p:nvPr/>
        </p:nvSpPr>
        <p:spPr>
          <a:xfrm>
            <a:off x="9052560" y="2807208"/>
            <a:ext cx="1554480" cy="65836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조회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성공?</a:t>
            </a:r>
          </a:p>
        </p:txBody>
      </p:sp>
      <p:sp>
        <p:nvSpPr>
          <p:cNvPr id="18" name="Diamond 17"/>
          <p:cNvSpPr/>
          <p:nvPr/>
        </p:nvSpPr>
        <p:spPr>
          <a:xfrm>
            <a:off x="8915400" y="3721608"/>
            <a:ext cx="1828800" cy="69494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같은 CI로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가입한 계정?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26280" y="3785615"/>
            <a:ext cx="1874519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기존 계정 로그인 · 토큰 발급</a:t>
            </a:r>
          </a:p>
        </p:txBody>
      </p:sp>
      <p:sp>
        <p:nvSpPr>
          <p:cNvPr id="21" name="Diamond 20"/>
          <p:cNvSpPr/>
          <p:nvPr/>
        </p:nvSpPr>
        <p:spPr>
          <a:xfrm>
            <a:off x="2697480" y="3721608"/>
            <a:ext cx="1554480" cy="694944"/>
          </a:xfrm>
          <a:prstGeom prst="diamond">
            <a:avLst/>
          </a:prstGeom>
          <a:solidFill>
            <a:srgbClr val="FFFFFF"/>
          </a:solidFill>
          <a:ln w="12700">
            <a:solidFill>
              <a:srgbClr val="2E24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주문 중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로그인?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85615"/>
            <a:ext cx="1691640" cy="566928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진행 중이던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주문 화면 복귀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06040" y="4736592"/>
            <a:ext cx="1737360" cy="502920"/>
          </a:xfrm>
          <a:prstGeom prst="roundRect">
            <a:avLst>
              <a:gd name="adj" fmla="val 12000"/>
            </a:avLst>
          </a:prstGeom>
          <a:solidFill>
            <a:srgbClr val="3B2A20"/>
          </a:solidFill>
          <a:ln w="12700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홈 이동(Native)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98280" y="4700016"/>
            <a:ext cx="1965960" cy="566928"/>
          </a:xfrm>
          <a:prstGeom prst="rect">
            <a:avLst/>
          </a:prstGeom>
          <a:solidFill>
            <a:srgbClr val="F3EEE8"/>
          </a:solidFill>
          <a:ln w="12700">
            <a:solidFill>
              <a:srgbClr val="F3E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18288" rIns="27432" bIns="18288" rtlCol="0" anchor="ctr"/>
          <a:lstStyle/>
          <a:p>
            <a:pPr algn="ctr"/>
            <a:r>
              <a:rPr sz="10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가입 판정 · 약관(Webview)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13장 순서 · KCP 생략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788920"/>
            <a:ext cx="5760720" cy="50292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- transNo만 Webview로, token은 메가MGC커피 서버에만 보관</a:t>
            </a:r>
          </a:p>
          <a:p>
            <a:pPr algn="l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- 로그인 유지는 메가MGC커피 자체 토큰으로 함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77440" y="2221992"/>
            <a:ext cx="32004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572000" y="2221992"/>
            <a:ext cx="32004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583679" y="2221991"/>
            <a:ext cx="320041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03920" y="2221991"/>
            <a:ext cx="320040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549640" y="2020823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3820" y="2551176"/>
            <a:ext cx="0" cy="301752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49540" y="2551176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829800" y="2505456"/>
            <a:ext cx="0" cy="301752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613648" y="3136391"/>
            <a:ext cx="438912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49640" y="2935223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829800" y="3465576"/>
            <a:ext cx="0" cy="256032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875520" y="3465576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6400800" y="4069080"/>
            <a:ext cx="2514600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503920" y="3867912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829800" y="4416552"/>
            <a:ext cx="0" cy="283464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875520" y="4416552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251960" y="4069079"/>
            <a:ext cx="274320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 flipV="1">
            <a:off x="2377440" y="4069079"/>
            <a:ext cx="320040" cy="1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423160" y="3867912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474720" y="4416552"/>
            <a:ext cx="0" cy="32004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520440" y="4416552"/>
            <a:ext cx="457200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l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081259" y="5266944"/>
            <a:ext cx="0" cy="201168"/>
          </a:xfrm>
          <a:prstGeom prst="line">
            <a:avLst/>
          </a:prstGeom>
          <a:ln w="12700">
            <a:solidFill>
              <a:srgbClr val="7A6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463540" y="5468112"/>
            <a:ext cx="4617719" cy="0"/>
          </a:xfrm>
          <a:prstGeom prst="line">
            <a:avLst/>
          </a:prstGeom>
          <a:ln w="12700">
            <a:solidFill>
              <a:srgbClr val="7A6A5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463540" y="4352544"/>
            <a:ext cx="0" cy="1115568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로그인 송수신 16단계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송·수신: 로그인 1회에 메가MGC커피 서버 ↔ 핏콜라보 2회 호출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인증 거래번호 발급 ①과 인증 결과 조회 ②를 부르고, 로그인 유지는 자체 토큰으로 합니다.</a:t>
            </a:r>
            <a:endParaRPr lang="ko-KR" sz="1300" dirty="0"/>
          </a:p>
        </p:txBody>
      </p:sp>
      <p:pic>
        <p:nvPicPr>
          <p:cNvPr id="6" name="Image 0" descr="로그인 송수신 다이어그램 17단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1091672" cy="433467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1091672" cy="4334676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 / 88</a:t>
            </a:r>
          </a:p>
        </p:txBody>
      </p:sp>
      <p:sp>
        <p:nvSpPr>
          <p:cNvPr id="9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로그인 단계별 규칙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단계별 규칙: 단계마다 보내는 쪽 · 받는 쪽 · 규칙 정의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인증 후 3분 안에 인증 결과를 조회하고, token은 메가MGC커피 서버에만 두며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Webview에는 transNo만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넘깁니다.</a:t>
            </a:r>
          </a:p>
        </p:txBody>
      </p:sp>
      <p:graphicFrame>
        <p:nvGraphicFramePr>
          <p:cNvPr id="42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419709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보내는 쪽 → 받는 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내용(호출명)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978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 →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거래번호 발급 ①(reqTransNo.mv)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서버만 핏콜라보를 부르고,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storeId · transType(L)을 보내 transNo · token을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6~7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 →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 전달, 인증 모듈 호출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호출값은 transNo · deviceType · nativeYN=N이고,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token은 메가MGC커피 서버가 보관함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8~9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↔ 카드사 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 인증 뒤 복귀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①Android는 복귀 때 포커스를 전달하고, ②iOS는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모듈이 감지함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→ 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코드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- 0000 성공 · 0001 스토어 이동 · 0002 실패 · 0003 취소,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1200은 transNo 만료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11~12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 →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결과 조회 ②(reqAuthData.mv)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transNo · token을 보내며, 3분을 넘기면 1500, token이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다르면 1402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→ 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정보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저장: ci · name · phoneNo · 생년 · nation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미저장: gender · email · di</a:t>
                      </a: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생년월일 8자리는 만 14세 판정에만 씀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[법무팀 검토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978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확인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CI로 같은 계정이 있으면 그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계정으로 로그인시키고, 없으면 가입 판정(13장)을 거쳐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가입시킴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15~16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 → Native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결과, 토큰 전달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Native는 홈 또는 진행 중이던 주문 화면으로 이동함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 / 88</a:t>
            </a:r>
          </a:p>
        </p:txBody>
      </p:sp>
      <p:sp>
        <p:nvSpPr>
          <p:cNvPr id="43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주문 중 로그인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주문: 로그인 완료 뒤 진행 중이던 주문으로 복귀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 결제는 로그인 때 받은 CI로 계정을 조회하므로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로그인한 회원만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쓸 수 있습니다.</a:t>
            </a:r>
            <a:endParaRPr lang="ko-KR" sz="1300" dirty="0"/>
          </a:p>
        </p:txBody>
      </p:sp>
      <p:sp>
        <p:nvSpPr>
          <p:cNvPr id="6" name="설명 제목"/>
          <p:cNvSpPr txBox="1"/>
          <p:nvPr/>
        </p:nvSpPr>
        <p:spPr>
          <a:xfrm>
            <a:off x="548640" y="1783080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진입: 비로그인 고객이 상품 상세에서 주문하기를 누름</a:t>
            </a:r>
            <a:endParaRPr lang="ko-KR" sz="1400" dirty="0"/>
          </a:p>
        </p:txBody>
      </p:sp>
      <p:sp>
        <p:nvSpPr>
          <p:cNvPr id="7" name="설명"/>
          <p:cNvSpPr txBox="1"/>
          <p:nvPr/>
        </p:nvSpPr>
        <p:spPr>
          <a:xfrm>
            <a:off x="548640" y="2087372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 장의 로그인 흐름과 같은 순서로 앱카드 로그인 진행</a:t>
            </a:r>
            <a:endParaRPr lang="ko-KR" sz="1200" dirty="0"/>
          </a:p>
        </p:txBody>
      </p:sp>
      <p:sp>
        <p:nvSpPr>
          <p:cNvPr id="8" name="설명 제목"/>
          <p:cNvSpPr txBox="1"/>
          <p:nvPr/>
        </p:nvSpPr>
        <p:spPr>
          <a:xfrm>
            <a:off x="548640" y="2596388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복귀: 로그인이 끝나면 진행 중이던 주문으로 돌아감</a:t>
            </a:r>
            <a:endParaRPr lang="ko-KR" sz="1400" dirty="0"/>
          </a:p>
        </p:txBody>
      </p:sp>
      <p:sp>
        <p:nvSpPr>
          <p:cNvPr id="9" name="설명"/>
          <p:cNvSpPr txBox="1"/>
          <p:nvPr/>
        </p:nvSpPr>
        <p:spPr>
          <a:xfrm>
            <a:off x="548640" y="2900680"/>
            <a:ext cx="11091672" cy="432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Webview는 로그인 완료 화면 대신 원래 주문하기 화면을 열고 결제를 이어 감</a:t>
            </a:r>
            <a:endParaRPr lang="ko-KR" sz="1200" dirty="0"/>
          </a:p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이를 위해 Webview는 로그인하는 동안 주문 정보를 유지</a:t>
            </a:r>
            <a:endParaRPr lang="ko-KR" sz="1200" dirty="0"/>
          </a:p>
        </p:txBody>
      </p:sp>
      <p:sp>
        <p:nvSpPr>
          <p:cNvPr id="10" name="설명 제목"/>
          <p:cNvSpPr txBox="1"/>
          <p:nvPr/>
        </p:nvSpPr>
        <p:spPr>
          <a:xfrm>
            <a:off x="548640" y="3607816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 보관: 메가MGC커피 서버는 로그인 때 받은 CI를 결제에도 씀</a:t>
            </a:r>
            <a:endParaRPr lang="ko-KR" sz="1400" dirty="0"/>
          </a:p>
        </p:txBody>
      </p:sp>
      <p:sp>
        <p:nvSpPr>
          <p:cNvPr id="11" name="설명"/>
          <p:cNvSpPr txBox="1"/>
          <p:nvPr/>
        </p:nvSpPr>
        <p:spPr>
          <a:xfrm>
            <a:off x="548640" y="3912108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서버는 CI로 계정 목록을 조회하고 원클릭 조건을 확인</a:t>
            </a:r>
            <a:endParaRPr lang="ko-KR" sz="1200" dirty="0"/>
          </a:p>
        </p:txBody>
      </p:sp>
      <p:sp>
        <p:nvSpPr>
          <p:cNvPr id="12" name="설명 제목"/>
          <p:cNvSpPr txBox="1"/>
          <p:nvPr/>
        </p:nvSpPr>
        <p:spPr>
          <a:xfrm>
            <a:off x="548640" y="4421124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현행 앱에 주문 중 로그인 복귀 기능이 있는지 봐야 함</a:t>
            </a:r>
            <a:endParaRPr lang="ko-KR" sz="1400" dirty="0"/>
          </a:p>
        </p:txBody>
      </p:sp>
      <p:sp>
        <p:nvSpPr>
          <p:cNvPr id="13" name="설명"/>
          <p:cNvSpPr txBox="1"/>
          <p:nvPr/>
        </p:nvSpPr>
        <p:spPr>
          <a:xfrm>
            <a:off x="548640" y="4725416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기능이 없으면 CJ ONS가 Native · Webview에 새로 만듦 </a:t>
            </a:r>
            <a:r>
              <a:rPr lang="ko-KR" altLang="en-US" sz="1200" dirty="0" b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[CJ ONS 확인 필요]</a:t>
            </a:r>
            <a:endParaRPr lang="ko-KR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 / 88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5261864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핵심 문장 요약"/>
          <p:cNvSpPr txBox="1"/>
          <p:nvPr/>
        </p:nvSpPr>
        <p:spPr>
          <a:xfrm>
            <a:off x="731520" y="5188712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주문 복귀 기능이 현행에 없으면 Native · Webview에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만들어야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결제 흐름도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분기: authYN 응답에 따라 원클릭 · 인증 결제로 구분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결제는 결제 거래번호 발급 응답의 authYN에 따라 바로 승인하거나 인증 모듈을 거쳐 승인하고, 주문 생성까지 확인합니다.</a:t>
            </a:r>
          </a:p>
        </p:txBody>
      </p:sp>
      <p:pic>
        <p:nvPicPr>
          <p:cNvPr id="6" name="Image 0" descr="앱카드 결제 흐름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1091672" cy="393003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1091672" cy="3930033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48640" y="5877705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04553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응답이 없으면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승인을 다시 부르지 않고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거래 상태를 조회하며, 주문이 없으면 승인을 취소합니다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 / 88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결제 송수신 18단계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결제: 인증 결제일 때만 인증 모듈 · 카드사 앱 호출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거래번호 발급 응답이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authYN=N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(새 카드 등)이면 인증 모듈 호출과 결제 인증 결과 조회(7~14단계)가 더해집니다.</a:t>
            </a:r>
          </a:p>
        </p:txBody>
      </p:sp>
      <p:pic>
        <p:nvPicPr>
          <p:cNvPr id="6" name="Image 0" descr="결제 송수신 다이어그램 18단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1091672" cy="433467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1091672" cy="4334676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 / 88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결제 단계별 규칙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단계별 규칙: 메가MGC커피 서버가 지킬 단계별 기준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응답이 없으면 메가MGC커피 서버는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승인을 다시 부르지 않고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거래 상태 조회 ⑥으로 결과를 확인합니다.</a:t>
            </a:r>
          </a:p>
        </p:txBody>
      </p:sp>
      <p:graphicFrame>
        <p:nvGraphicFramePr>
          <p:cNvPr id="4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317873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50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3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보내는 쪽 → 받는 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내용(호출명)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 → 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 조회 ①(getPayCardInfo.mv)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userType 1(CI) · ci를 보내 계정 목록을 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할부는 쓰지 않고, 카드사 목록은 앱 고정 목록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0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3~6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 ↔ 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거래번호 발급 ②(requestTid.mv)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payType 0(기존 카드, 계정 ID 포함) 또는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1(새 카드, 카드사 코드)을 보냄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Webview는 요청하는 순간부터 결제 버튼을 잠금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7~11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 → 인증 모듈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↔ 카드사 앱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결제(authYN=N일 때만)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호출값은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tid · amount · orderNo · payType · termYN=N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화면은 그대로 두고, tid가 만료되면 1403을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12~14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→ 메가MGC커피 서버 ↔ 핏콜라보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인증 결과 조회 ③(reqAuthDataPay.mv)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 · orderNo · reqToken을 보내 acntId · userNo를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80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15~16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핏콜라보 →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④(appcardPayment.mv), 승인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응답을 30초~1분 기다리고, 다시 부르지 않음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pgType에 OnePG 추가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0678" indent="0">
                        <a:buNone/>
                      </a:pPr>
                      <a:r>
                        <a:rPr lang="en-US" sz="105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↔ OnePG 연동 일정 검토 필요]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→ 메가MGC커피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결과(approvalNo · pgTno)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approvalNo를 저장하고, 응답이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 거래 상태 조회 ⑥을 부름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47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→ 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생성 뒤 주문 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승인은 됐는데 주문이 없으면 메가MGC커피 서버가</a:t>
                      </a:r>
                    </a:p>
                    <a:p>
                      <a:pPr marL="90678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취소 ⑤를 부름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 / 88</a:t>
            </a:r>
          </a:p>
        </p:txBody>
      </p:sp>
      <p:sp>
        <p:nvSpPr>
          <p:cNvPr id="47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원클릭과 인증 결제 비교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방식 비교: 원클릭은 바로 승인, 인증 결제는 카드사 앱 인증 뒤 승인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결제는 결제 거래번호 발급까지 같고,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 호출과 결제 인증 결과 조회 여부만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다릅니다.</a:t>
            </a:r>
            <a:endParaRPr lang="ko-KR" sz="1300" dirty="0"/>
          </a:p>
        </p:txBody>
      </p:sp>
      <p:graphicFrame>
        <p:nvGraphicFramePr>
          <p:cNvPr id="47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793617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원클릭(기존 카드)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결제(새 카드 · 조건 미충족)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1a 앱카드 계정을 고르고 결제함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1b에서 카드사를 고르고 결제함</a:t>
                      </a:r>
                    </a:p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원클릭에 authYN=N이 오면 같은 tid로 인증함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②에 보내는 값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payType=0, isOneclick=Y, 고른 계정의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acntId · userNo, 로그인 CI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payType=1, 고른 카드사 코드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띄우지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컴포넌트가 결제 화면 위에 띄우고, 계정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ID는 보내지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전 조회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하지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결제 ③으로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acntId · userNo를 받음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이후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주문을 만들고,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실패하면 승인을 취소함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원클릭과 같고, 이 카드는 다음 결제부터 계정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목록에 나옴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안내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위 토스트 '이 카드는 카드사 인증이 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 더 필요해요'(61장)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4918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7603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카드는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인증 결과 조회 ③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계정 ID를 받아야 승인 ④를 부를 수 있습니다</a:t>
            </a:r>
          </a:p>
        </p:txBody>
      </p:sp>
      <p:sp>
        <p:nvSpPr>
          <p:cNvPr id="48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현행 결제와의 차이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결제 흐름 연결: 결제 키 대신 결제 거래번호로 처리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일반 결제 7단계 중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키 발급 · 결제 화면 호출 · 인증 결과 수신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단계가 앱카드에서 달라집니다.</a:t>
            </a:r>
            <a:endParaRPr lang="ko-KR" sz="1300" dirty="0"/>
          </a:p>
        </p:txBody>
      </p:sp>
      <p:pic>
        <p:nvPicPr>
          <p:cNvPr id="6" name="Image 0" descr="현행 일반 결제 흐름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760720" cy="213903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5760720" cy="2139038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48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37960" y="1783080"/>
          <a:ext cx="5102352" cy="3872103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8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결제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쿠폰 · 결제수단 선택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결제수단에 앱카드 계정을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보여 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결제대행사에서 결제 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결제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거래번호(tid)를 받음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6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 결제 화면 호출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인증이 필요할 때만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Webview에 인증 모듈을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띄움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 앱 · 간편결제 앱</a:t>
                      </a:r>
                    </a:p>
                    <a:p>
                      <a:pPr marL="99314" indent="0"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 Native가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포커스로 복귀를 알림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결과 수신 후 승인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서버가 인증</a:t>
                      </a: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조회한 뒤 승인함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77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 완료 · 결제 실패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· 취소 안내 문구를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78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홈 이동, 홈 정보 갱신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현행과 같음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키 발급과 결제 화면 호출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단계는 앱카드 결제에서 빠집니다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취소 흐름도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흐름: 취소 요청 5경로 · 주기 작업 모두 승인 취소 ⑤로 처리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요청은 승인 취소(결제 ⑤)로, 결과 미확인 거래는 메가MGC커피 서버 주기 작업이 거래 상태 조회(결제 ⑥)로 정리합니다.</a:t>
            </a:r>
          </a:p>
        </p:txBody>
      </p:sp>
      <p:pic>
        <p:nvPicPr>
          <p:cNvPr id="6" name="Image 0" descr="취소 · 결과 미확인 거래 정리 흐름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1091672" cy="393003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1091672" cy="3930033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48640" y="5877705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04553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기간 제한 없이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취소로만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처리하고, 승인번호가 없으면 거래 상태부터 조회합니다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 / 88</a:t>
            </a:r>
          </a:p>
        </p:txBody>
      </p:sp>
      <p:sp>
        <p:nvSpPr>
          <p:cNvPr id="11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취소 송수신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결과: 메가MGC커피 서버가 핏콜라보 응답으로 확정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취소에는 approvalNo가 필수이므로, 승인 응답을 못 받은 건은 메가MGC커피 서버가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상태 조회로 승인번호부터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찾습니다.</a:t>
            </a:r>
            <a:endParaRPr lang="ko-KR" sz="1300" dirty="0"/>
          </a:p>
        </p:txBody>
      </p:sp>
      <p:pic>
        <p:nvPicPr>
          <p:cNvPr id="6" name="Image 0" descr="취소 송수신 다이어그램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1091672" cy="433467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1783080"/>
            <a:ext cx="11091672" cy="4334676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 / 88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 · 카드 관리 송수신 9단계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관리 흐름: 메가MGC커피 서버가 sessionKey를 받아 페이지 열기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메가퀵결제에서 앱카드 관리로 들어가면 메가MGC커피 서버가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적재 API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부르고, 닫으면 메가퀵결제로 돌아옵니다.</a:t>
            </a:r>
            <a:endParaRPr lang="ko-KR" sz="1300" dirty="0"/>
          </a:p>
        </p:txBody>
      </p:sp>
      <p:pic>
        <p:nvPicPr>
          <p:cNvPr id="6" name="Image 0" descr="카드 관리 송수신 다이어그램 9단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76" y="1783080"/>
            <a:ext cx="10697199" cy="255535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876" y="1783080"/>
            <a:ext cx="10697199" cy="2555353"/>
          </a:xfrm>
          <a:prstGeom prst="rect">
            <a:avLst/>
          </a:prstGeom>
          <a:ln w="9525">
            <a:solidFill>
              <a:srgbClr val="E6DDD4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51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1313"/>
          <a:ext cx="11091672" cy="953643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9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8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보내는 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storeId · deviceType · userType 0(CI) · ci · redirectUrl(메가퀵결제 화면)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8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페이지 열기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Webview가 카드관리 페이지 주소에 sessionKey · token · storeId를 붙여 웹 화면 이동으로 열어 줌(iframe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788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Android 복귀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 페이지가 nativeFocusHandler를 받으므로 Android Native는 결제 때와 같은 복귀 처리를 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82623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핵심 문장 요약"/>
          <p:cNvSpPr txBox="1"/>
          <p:nvPr/>
        </p:nvSpPr>
        <p:spPr>
          <a:xfrm>
            <a:off x="731520" y="575308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카드관리 페이지를 닫으면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redirectUrl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메가퀵결제 화면에 돌아옵니다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코드 · 만료 · 무응답 · 취소 실패의 처리 기준과 고객 안내 문구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    인증 · 로그인 예외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   결제 · 취소 예외</a:t>
            </a:r>
          </a:p>
        </p:txBody>
      </p:sp>
      <p:sp>
        <p:nvSpPr>
          <p:cNvPr id="11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    고객 안내 문구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    재호출 기준</a:t>
            </a:r>
          </a:p>
        </p:txBody>
      </p:sp>
      <p:sp>
        <p:nvSpPr>
          <p:cNvPr id="8" name="간지 목록"/>
          <p:cNvSpPr txBox="1"/>
          <p:nvPr/>
        </p:nvSpPr>
        <p:spPr>
          <a:xfrm>
            <a:off x="8229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    구현 포인트</a:t>
            </a:r>
          </a:p>
        </p:txBody>
      </p:sp>
      <p:sp>
        <p:nvSpPr>
          <p:cNvPr id="9" name="간지 목록"/>
          <p:cNvSpPr txBox="1"/>
          <p:nvPr/>
        </p:nvSpPr>
        <p:spPr>
          <a:xfrm>
            <a:off x="822960" y="5440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    다른 가맹점 이슈</a:t>
            </a:r>
          </a:p>
        </p:txBody>
      </p:sp>
      <p:sp>
        <p:nvSpPr>
          <p:cNvPr id="10" name="Text 8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 / 88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· 인증 · 로그인 예외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 · 로그인 예외: 대부분 처음부터 다시 시작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거래번호가 만료되거나 조회 시간이 지나면, 메가MGC커피 서버는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거래번호 발급부터 다시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진행합니다.</a:t>
            </a:r>
            <a:endParaRPr lang="ko-KR" sz="1300" dirty="0"/>
          </a:p>
        </p:txBody>
      </p:sp>
      <p:graphicFrame>
        <p:nvGraphicFramePr>
          <p:cNvPr id="53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38099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· 상황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기준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0001 카드사 앱 미설치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컴포넌트가 scheme(스토어 주소)을 열고 인증 모듈은 유지함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0002 인증 실패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컴포넌트가 인증 모듈을 닫고, 실패 알럿에 resultMessage를 붙여 다시 시도 안내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0003 고객 취소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모듈을 닫고 직전 화면으로 돌아감(로그인은 로그인 수단 선택)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1200 transNo 만료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reqTransNo부터 다시 발급함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1500 조회 시간 초과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뒤 3분이 지났으므로 메가MGC커피 서버가 reqTransNo부터 다시 시작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1402 token 불일치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발급 때와 다른 token을 보냈으므로 인증 거래번호 발급부터 다시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1400 인증 미완료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①로그인은 처음부터 다시 하고, ②결제는 메가MGC커피 서버가 승인을 요청하지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9998 허용되지 않은 IP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메가MGC커피가 핏콜라보에 메가MGC커피 서버 공인 IP 등록을 요청함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거래번호가 만료되면 메가MGC커피 서버가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reqTransNo부터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다시 발급합니다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· 결제 · 취소 예외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예외: 메가MGC커피 서버는 주문을 임의로 확정하지 않음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응답이 늦거나 오류가 나면 메가MGC커피 서버는 성공 · 실패를 짐작하지 않고 거래 상태 조회로 확인합니다.</a:t>
            </a:r>
            <a:endParaRPr lang="ko-KR" sz="1300" dirty="0"/>
          </a:p>
        </p:txBody>
      </p:sp>
      <p:graphicFrame>
        <p:nvGraphicFramePr>
          <p:cNvPr id="54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513074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48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· 상황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기준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1403 tid 만료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requestTid를 다시 발급하고, 인증 결제는 처음부터 다시 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8000 체크카드 할부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메가MGC커피는 일시불만 쓰므로 일시불로 보냄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거절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주문을 확정하지 않고 응답의 거절 사유(contents)를 확인함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응답 지연 · 9999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승인을 다시 부르지 않고, 30초~1분 기다린 뒤 거래 상태 조회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⑥(reqCondition.mv)으로 확인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뒤 주문 생성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appcardCancel로 전체 취소한 뒤 주문을 실패로 처리함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authYN=N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원클릭 조건이 맞지 않으면 공통 웹 컴포넌트가 받은 tid 그대로 인증 모듈을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띄움(재발급 없음)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9001 구문 오류 · 기취소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바로 성공으로 처리하지 않고, 거래 상태 조회 ⑥으로 cancelState 확인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A009 · A020 · A057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A009는 기취소, A020 · A057은 취소 불가이므로 메가MGC커피 서버가 응답 사유 확인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응답이 늦으면 승인을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부르지 않고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거래 상태 조회로 확인합니다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· 고객 안내 문구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안내 문구: 예외 때 고객 화면에는 정해진 문구만 표시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코드 · 거래번호 같은 내부 값은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화면에 보이지 않고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카드사 사유는 알럿 아래 줄에만 붙입니다.</a:t>
            </a:r>
            <a:endParaRPr lang="ko-KR" sz="1300" dirty="0"/>
          </a:p>
        </p:txBody>
      </p:sp>
      <p:graphicFrame>
        <p:nvGraphicFramePr>
          <p:cNvPr id="54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45439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· 상황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화면 문구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보이는 곳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0002 인증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인증에 실패했어요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 + 카드사 사유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0003 고객 취소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문구 없이 직전 화면으로 돌아감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1200 · 1500 인증 만료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시간이 지나 처음부터 다시 진행해 주세요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1400 · 1402 인증 미완료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인증이 끝나지 않아 다시 진행해 주세요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9998 연동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일시적인 오류로 잠시 뒤 다시 시도해 주세요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1403 결제 거래번호 만료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시간이 지나 처음부터 다시 결제해 주세요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거절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카드사에서 결제를 승인하지 않았어요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 + 거절 사유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응답 지연 · 9999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결과를 확인하고 있어요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전체화면 로딩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뒤 주문 생성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접수에 실패해 결제를 취소했어요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결과 화면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761079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authYN=N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카드는 카드사 인증이 한 번 더 필요해요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위 토스트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4019136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9001 · A009 기취소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 취소된 결제예요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0282939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A020 · A057 취소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결제를 취소할 수 없어 고객센터로 문의해 주세요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알럿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6848652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 / 88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· 재호출 기준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재호출 기준: 승인만 재호출 금지, 나머지 API는 재호출 가능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승인을 다시 부르면 같은 주문이 두 번 승인될 수 있으므로, 메가MGC커피 서버는 승인 결과를 거래 상태 조회로만 확인합니다.</a:t>
            </a:r>
            <a:endParaRPr lang="ko-KR" sz="1300" dirty="0"/>
          </a:p>
        </p:txBody>
      </p:sp>
      <p:graphicFrame>
        <p:nvGraphicFramePr>
          <p:cNvPr id="5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4892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부르기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④(appcardPayment.mv)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응답을 못 받아도 다시 부르지 않고 거래 상태 조회 ⑥으로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확인함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취소 ⑤(appcardCancel.mv)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이미 취소된 건이면 9001이 오므로 거래 상태 조회로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cancelState를 확인함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API(로그인 ② · 결제 ① · ③ · ⑥)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같은 값을 다시 보내 결과를 다시 받음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거래번호 발급(로그인 ① · 결제 ②)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만료되면 새로 발급받고, 결과 미확인 결제가 있는 주문은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새로 발급하지 않음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24804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51652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바로 확인하지 못한 거래는 메가MGC커피 서버 주기 작업이 같은 기준으로 모아 정리합니다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 / 88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388612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48640" y="4388612"/>
            <a:ext cx="11091672" cy="292608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승인 응답이 없을 때</a:t>
            </a:r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승인은 다시 부르지 않고 거래 상태 조회로 결과를 확정함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3232" y="4845812"/>
            <a:ext cx="2039112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승인 ④ 요청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21024" y="4845812"/>
            <a:ext cx="2039112" cy="603504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30초~1분 대기</a:t>
            </a:r>
          </a:p>
          <a:p>
            <a:pPr algn="ctr"/>
            <a:r>
              <a:rPr sz="9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승인 재호출 금지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28816" y="4845812"/>
            <a:ext cx="2039112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거래 상태 조회 ⑥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재호출 가능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845812"/>
            <a:ext cx="2039112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결과 확정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주문 확정 또는 승인 취소 ⑤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2788920" y="5147564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34056" y="4937252"/>
            <a:ext cx="905256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응답 없음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96712" y="5147564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8604504" y="5147564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· 구현 포인트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기준: Webview · 메가MGC커피 서버가 지킬 8가지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Webview는 인증 모듈을 한 번만 띄우고 메시지 출처를 검증하며, 메가MGC커피 서버는 민감값 보관과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대조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승인을 확정합니다.</a:t>
            </a:r>
          </a:p>
        </p:txBody>
      </p:sp>
      <p:graphicFrame>
        <p:nvGraphicFramePr>
          <p:cNvPr id="5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82676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14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포인트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표시 시점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컴포넌트는 바텀시트 · 전체화면이 그려진 뒤 인증 모듈을 띄우고, object/WebView를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번 만들지 않음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복귀 포커스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Android Native는 복귀 1회에 focus(true)만 한 번 보냄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리스너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컴포넌트는 인증 모듈을 띄울 때 리스너를 한 번 등록하고, 인증 모듈이 끝나면 해제함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코드 0000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화면의 성공 코드만으로 로그인 · 승인을 확정하지 않고, 메가MGC커피 서버 응답으로 확정함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메시지 출처 검증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공통 웹 컴포넌트는 인증 모듈 주소에서 왔고 결과 코드가 있는 메시지만 처리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민감값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token · reqToken · storeAuthKey를 관리하고, 앱 · 분석 로그에 원문을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남기지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090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 상태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Webview는 결제 버튼 · 슬라이더를 실행 뒤 잠그고, 성공 · 실패가 확정되면 다시 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 대조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서버는 결제 ② · 승인 ④의 amount를 메가MGC커피 서버의 주문 금액과 대조하고,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값으로 결제하지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37504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64352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8가지 기준은 스테이징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항목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에도 그대로 넣어 오픈 전에 확인합니다</a:t>
            </a:r>
          </a:p>
        </p:txBody>
      </p:sp>
      <p:sp>
        <p:nvSpPr>
          <p:cNvPr id="57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· 다른 가맹점 이슈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가맹점 사고 사례: 반복된 사고 3가지와 예방 방법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사고는 모두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Webview와 메가MGC커피 서버의 기본 처리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막을 수 있으며, 같은 항목을 스테이징 테스트에서 확인합니다.</a:t>
            </a:r>
          </a:p>
        </p:txBody>
      </p:sp>
      <p:graphicFrame>
        <p:nvGraphicFramePr>
          <p:cNvPr id="57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072259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사고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막는 방법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화면이 갑자기 닫힘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브라우저 · 웹뷰가 넣은 빈 메시지를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모듈의 닫기 결과로 처리했음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메시지 출처를 검증하고, 결과 코드가 있는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메시지만 처리함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결제가 두 번 진행됨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고객이 결제 버튼을 연속으로 눌렀음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요청 시점부터 인증 모듈 표시 · 승인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응답까지 버튼을 잠금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승인됐는데 주문이 없음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뒤 주문 생성이 실패했음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승인을 취소하고,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응답이 없던 건은 거래 상태 조회로 정리함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586476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513324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사고 모두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버튼 잠금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인증 모듈 1회 표시 · 상태 조회 정리로 막을 수 있습니다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4096004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8640" y="4096004"/>
            <a:ext cx="11091672" cy="292608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사고를 막는 지점</a:t>
            </a:r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 흐름의 세 지점에서 기본 처리로 사고를 막음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3232" y="4553204"/>
            <a:ext cx="2490216" cy="603504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 버튼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실행 뒤 잠금 → 두 번 결제 방지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49368" y="4553204"/>
            <a:ext cx="2490216" cy="603504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 표시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화면 완성 뒤 1회 → 화면 닫힘 방지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85504" y="4553204"/>
            <a:ext cx="2490216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승인 응답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상태 조회 · 승인 취소 → 주문 없는 승인 정리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240024" y="4854956"/>
            <a:ext cx="157276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7376160" y="4854956"/>
            <a:ext cx="157276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 · 정산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승인 대행과 결제대행사(OnePG) 등록 · 정산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    현행과 앱카드 역할 비교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    거래 식별값 보관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    pgType 리스크</a:t>
            </a:r>
          </a:p>
        </p:txBody>
      </p:sp>
      <p:sp>
        <p:nvSpPr>
          <p:cNvPr id="8" name="Text 6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 / 88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 · 정산 · 현행과 앱카드 역할 비교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· 정산 역할: 승인은 핏콜라보, 결제대행사는 승인 등록 수신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현행 결제는 결제대행사가 승인하지만, 앱카드 결제는 핏콜라보가 승인한 뒤 결제대행사에 등록하며 정산 구조는 같습니다.</a:t>
            </a:r>
            <a:endParaRPr lang="ko-KR" sz="1300" dirty="0"/>
          </a:p>
        </p:txBody>
      </p:sp>
      <p:graphicFrame>
        <p:nvGraphicFramePr>
          <p:cNvPr id="5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976701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현행(일반 · 등록 카드 결제)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결제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71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취소 요청 대상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결제대행사(PG)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· 취소 API를 부름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808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인증 · 승인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결제대행사(PG)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건에 한함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· 정산 정보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결제대행사가 보유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핏콜라보가 승인 뒤 결제대행사에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tid · 결제대행사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거래번호로 연결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4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대금 정산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→ 결제대행사 →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현행과 같음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정산 구조 같음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 역할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· 정산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결과 등록을 받음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승인 등록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연동 방식 확인 필요]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8714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화면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 결제 화면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앱카드 결제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화면(밀어서 결제 포함)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모듈만 핏콜라보 제공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구조는 그대로이므로, 결제대행사 쪽 과제는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등록을 받는 연동 하나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좁혀집니다</a:t>
            </a:r>
            <a:endParaRPr lang="ko-KR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 / 88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 · 정산 · 거래 식별값 보관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 식별값: 주문번호 · tid · 승인번호 · pgTno를 함께 보관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값을 함께 저장해야 메가MGC커피 주문, 핏콜라보 거래, 결제대행사 거래를 서로 찾아 맞출 수 있습니다.</a:t>
            </a:r>
            <a:endParaRPr lang="ko-KR" sz="1300" dirty="0"/>
          </a:p>
        </p:txBody>
      </p:sp>
      <p:graphicFrame>
        <p:nvGraphicFramePr>
          <p:cNvPr id="60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386076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생기는 시점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쓰는 곳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orderNo(메가MGC커피 주문번호)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메가MGC커피가 결제 ② 요청 때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만듦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모든 결제 API와 주문을 잇는 기준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tid(핏콜라보 결제 거래번호)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② 응답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③~⑥, 거래 상태 조회의 키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approvalNo · approvalDate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④ 응답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400" b="1" dirty="0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취소의 필수값</a:t>
                      </a: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, 매출 대사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pgTno · mid · PG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④ 응답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 거래와 정산 대사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cancelTid · cancelPgTno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취소 ⑤ 응답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취소 거래 대사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67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805932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73278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값을 함께 보관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주문 · 핏콜라보 거래 · 결제대행사 거래를 서로 맞출 수 있습니다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15460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48640" y="4315460"/>
            <a:ext cx="11091672" cy="292608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거래 식별값이 생기는 곳</a:t>
            </a:r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네 값은 생기는 곳이 달라 메가MGC커피 서버가 함께 모아 저장함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" y="4772660"/>
            <a:ext cx="2039112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orderNo 생성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21024" y="4772660"/>
            <a:ext cx="2039112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tid 발급 · approvalNo 승인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28816" y="4772660"/>
            <a:ext cx="2039112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A69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결제대행사(OnePG)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pgTno 승인 등록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36608" y="4772660"/>
            <a:ext cx="2039112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주문 결제 데이터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네 값 함께 저장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788920" y="5074412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734056" y="4864100"/>
            <a:ext cx="905256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 ②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696712" y="5074412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641848" y="4864100"/>
            <a:ext cx="905256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등록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604504" y="5074412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8549640" y="4864100"/>
            <a:ext cx="905256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④ 응답</a:t>
            </a:r>
          </a:p>
        </p:txBody>
      </p:sp>
      <p:sp>
        <p:nvSpPr>
          <p:cNvPr id="73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 · 정산 · pgType 리스크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pgType: 결제대행사 구분값 목록에 OnePG 추가 필요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핏콜라보가 결제 ②의 필수값 pgType 목록에 OnePG를 추가해야, 앱카드 승인을 OnePG에 등록할 수 있습니다.</a:t>
            </a:r>
          </a:p>
        </p:txBody>
      </p:sp>
      <p:graphicFrame>
        <p:nvGraphicFramePr>
          <p:cNvPr id="61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7203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62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pgType 목록(KICC · 이니시스 · KCP · 나이스 · 스마트로 · 토스 · KSNET · 신한은행)에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OnePG가 없음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중계 규격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결제대행사가 할부 정보 조회 · 가맹점 번호 조회 · 승인 등록 · 거래 상태 조회 · 취소 5종을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만드는 구조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영향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OnePG 쪽 중계 API는 기본 개발 범위에 넣지 않고, 핏콜라보 · CJ ONS 협의에서 필요하다고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정한 경우에만 개발 과제로 넣음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대상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핏콜라보: pgType에 OnePG 추가 개발 일정과 승인 등록 연동 방식(회신 대기 1순위)</a:t>
                      </a: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CJ ONS: 협의 안건으로 OnePG 쪽 중계 API 필요 여부를 공유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가맹점 ID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 정보와 신용카드 가맹점 번호를 핏콜라보에 넘겨야 가맹점 ID(storeId)가 발급됨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39028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65876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핏콜라보의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pgType OnePG 추가 일정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정해져야 결제대행사 연동 공수를 확정할 수 있습니다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8640" y="4643120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548640" y="4643120"/>
            <a:ext cx="11091672" cy="292608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pgType 추가 후 흐름</a:t>
            </a:r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핏콜라보가 OnePG를 추가하면 현행 정산 구조를 그대로 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" y="5100320"/>
            <a:ext cx="2490216" cy="603504"/>
          </a:xfrm>
          <a:prstGeom prst="rect">
            <a:avLst/>
          </a:prstGeom>
          <a:solidFill>
            <a:srgbClr val="3B2A20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메가MGC커피 서버</a:t>
            </a:r>
          </a:p>
          <a:p>
            <a:pPr algn="ctr"/>
            <a:r>
              <a:rPr sz="900" b="0">
                <a:solidFill>
                  <a:srgbClr val="E6DDD4"/>
                </a:solidFill>
                <a:latin typeface="Malgun Gothic"/>
                <a:ea typeface="Malgun Gothic"/>
                <a:cs typeface="Malgun Gothic"/>
              </a:rPr>
              <a:t>결제 ② pgType = OnePG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49368" y="5100320"/>
            <a:ext cx="2490216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카드사 승인 대행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985504" y="5100320"/>
            <a:ext cx="2490216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A69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결제대행사(OnePG)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등록 · 정산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240024" y="5402072"/>
            <a:ext cx="157276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185160" y="5008879"/>
            <a:ext cx="1682496" cy="36576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pgType 목록에</a:t>
            </a:r>
          </a:p>
          <a:p>
            <a:pPr algn="ctr"/>
            <a:r>
              <a:rPr sz="85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OnePG 추가 필요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376160" y="5402072"/>
            <a:ext cx="157276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321296" y="5191760"/>
            <a:ext cx="1682496" cy="182880"/>
          </a:xfrm>
          <a:prstGeom prst="rect">
            <a:avLst/>
          </a:prstGeom>
          <a:noFill/>
        </p:spPr>
        <p:txBody>
          <a:bodyPr wrap="square" lIns="0" tIns="18288" rIns="0" bIns="18288" anchor="ctr">
            <a:spAutoFit/>
          </a:bodyPr>
          <a:lstStyle/>
          <a:p>
            <a:pPr algn="ctr"/>
            <a:r>
              <a:rPr sz="85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승인 등록</a:t>
            </a:r>
          </a:p>
        </p:txBody>
      </p:sp>
      <p:sp>
        <p:nvSpPr>
          <p:cNvPr id="71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매트릭스 · 착수 전 확인 · B.O · 테스트 · 오픈 · 심사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   작업 매트릭스(메가MGC커피 서버)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    작업 매트릭스(Native · Webview)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    착수 전 확인 13건</a:t>
            </a:r>
          </a:p>
        </p:txBody>
      </p:sp>
      <p:sp>
        <p:nvSpPr>
          <p:cNvPr id="8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    B.O · 로그 · 데이터</a:t>
            </a:r>
          </a:p>
        </p:txBody>
      </p:sp>
      <p:sp>
        <p:nvSpPr>
          <p:cNvPr id="9" name="간지 목록"/>
          <p:cNvSpPr txBox="1"/>
          <p:nvPr/>
        </p:nvSpPr>
        <p:spPr>
          <a:xfrm>
            <a:off x="8229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    연동 준비</a:t>
            </a:r>
          </a:p>
        </p:txBody>
      </p:sp>
      <p:sp>
        <p:nvSpPr>
          <p:cNvPr id="10" name="간지 목록"/>
          <p:cNvSpPr txBox="1"/>
          <p:nvPr/>
        </p:nvSpPr>
        <p:spPr>
          <a:xfrm>
            <a:off x="822960" y="5440679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    스테이징 테스트</a:t>
            </a:r>
          </a:p>
        </p:txBody>
      </p:sp>
      <p:sp>
        <p:nvSpPr>
          <p:cNvPr id="11" name="간지 목록"/>
          <p:cNvSpPr txBox="1"/>
          <p:nvPr/>
        </p:nvSpPr>
        <p:spPr>
          <a:xfrm>
            <a:off x="63093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    오픈 전 점검</a:t>
            </a:r>
          </a:p>
        </p:txBody>
      </p:sp>
      <p:sp>
        <p:nvSpPr>
          <p:cNvPr id="12" name="간지 목록"/>
          <p:cNvSpPr txBox="1"/>
          <p:nvPr/>
        </p:nvSpPr>
        <p:spPr>
          <a:xfrm>
            <a:off x="63093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    앱 심사</a:t>
            </a:r>
          </a:p>
        </p:txBody>
      </p:sp>
      <p:sp>
        <p:nvSpPr>
          <p:cNvPr id="13" name="Text 11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 / 88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작업 매트릭스(메가MGC커피 서버)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매트릭스(서버): 메가MGC커피 서버 작업 최다, Native 최소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결제수단 코드 반영 · 취소 경로 연결 · 미확인 거래 정리도 메가MGC커피 서버가 맡습니다.</a:t>
            </a:r>
          </a:p>
        </p:txBody>
      </p:sp>
      <p:graphicFrame>
        <p:nvGraphicFramePr>
          <p:cNvPr id="63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541139"/>
        </p:xfrm>
        <a:graphic>
          <a:graphicData uri="http://schemas.openxmlformats.org/drawingml/2006/table">
            <a:tbl>
              <a:tblPr/>
              <a:tblGrid>
                <a:gridCol w="6702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13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iOS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AOS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HTTP 호출부(POST · form-urlencoded · JSON)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방화벽 · 공인 IP 등록, 가맹점 ID 발급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API 2종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token · reqToken · tid · CI를 메가MGC커피 서버에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가입 수단 · 가입 판정 연결(KCP 미사용, 13 · 14장)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API(계정 조회 · 거래번호 · 인증 조회 · 승인 · 취소 · 상태 조회)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중복 승인 방지(주문당 결제 1건)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요청 경로 연결(고객 · 매장 · 에이전트 자동 · 상담 · 선물 · 충전 실패)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미확인 거래 주기 정리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결제수단 코드 하위 반영(B.O 조회 · 매출 리포트)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현행 회원 · 주문 데이터 반영, 금액 대조(22 · 23장)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sz="1050"/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sz="1050"/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sz="1050"/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CI 계정 로그인 허용(로그인 수단 연결 구조 개선)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61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OnePG 결제대행사 중계 API(협의에서 필요하다고 정한 경우)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 / 88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작업 매트릭스(Native · Webview)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 · Webview 작업: 공통 웹 컴포넌트 · 결제수단 화면 신규 개발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Native는 로그인 버튼과 카드사 앱 처리만 맡고, 인증 화면 · 카드 조회 · 등록 · 삭제 화면 · 할부는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개발하지 않습니다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</p:txBody>
      </p:sp>
      <p:graphicFrame>
        <p:nvGraphicFramePr>
          <p:cNvPr id="64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895841"/>
        </p:xfrm>
        <a:graphic>
          <a:graphicData uri="http://schemas.openxmlformats.org/drawingml/2006/table">
            <a:tbl>
              <a:tblPr/>
              <a:tblGrid>
                <a:gridCol w="6702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iOS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AOS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로그인 버튼 · 브릿지 페이지 열기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 9곳 스킴 · 패키지 등록, Webview 주소 가로채기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복귀 포커스 전달(onResume → nativeFocusHandler)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 · 브릿지 페이지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개발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9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코드 분기 · postMessage 출처 검증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중 로그인 뒤 주문 복귀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결제수단 UI(결제 화면 5종: 메가오더 · 퀵오더 · 예약 · 선물 · 충전)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화면별 결제 전 체크 뒤 결제 요청, 완료 화면 이동(30장)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밀어서 결제 · 중복 실행 잠금, 실패 · 취소 안내 문구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메가퀵결제 앱카드 관리 진입 · 데이터 적재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4735260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본인인증 화면 앱카드 인증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257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14세 미만 보호자 동의 순서(보호자 본인인증 뒤 동의 활성)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0995171"/>
                  </a:ext>
                </a:extLst>
              </a:tr>
            </a:tbl>
          </a:graphicData>
        </a:graphic>
      </p:graphicFrame>
      <p:sp>
        <p:nvSpPr>
          <p:cNvPr id="7" name="본문"/>
          <p:cNvSpPr txBox="1"/>
          <p:nvPr/>
        </p:nvSpPr>
        <p:spPr>
          <a:xfrm>
            <a:off x="548640" y="6092939"/>
            <a:ext cx="11091672" cy="209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05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●는 필수 대상, △는 조건부이며, 현행에 주소 가로채기 · 주문 복귀 기능이 없으면 Native 작업이 늘어남</a:t>
            </a:r>
            <a:endParaRPr lang="ko-KR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 / 88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착수 전 확인 13건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 전 확인: 개발 과제 13개의 확인 사항 먼저 해결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13건 중 확인 사항이 없는 2건은 바로 착수하고, 나머지는 담당 답변을 받아야 설계를 확정할 수 있습니다.</a:t>
            </a:r>
          </a:p>
        </p:txBody>
      </p:sp>
      <p:graphicFrame>
        <p:nvGraphicFramePr>
          <p:cNvPr id="6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21919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73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3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 과제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 영역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착수 전 확인 사항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 등록 · 이동 처리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Webview가 카드사 앱 주소 이동을 처리하는지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로그인 버튼 · 브릿지 페이지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 · 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가입 · 같은 CI 계정 로그인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회원 구조 개선 범위 · 공수, 같은 CI 복수 계정 여부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중 로그인 뒤 주문 복귀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 · 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기능이 있는지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본인인증 화면 앱카드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·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본인인증(KCP) 화면에 앱카드 선택을 넣는 위치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확인 방식(밀어서 결제 통일)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화면 5종 결제수단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선불카드 충전 한도 · 유효기간 체크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원클릭 · 인증 결제 승인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원클릭 판단 조건(CI 일치 외), tid 유효시간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결제대행사 승인 등록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· 결제대행사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pgType에 OnePG 추가 개발 일정(핏콜라보), 연동 방식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요청 경로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에이전트 자동 취소 · 충전 실패 때 승인 취소 ⑤ 호출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카드관리 진입 · 데이터 적재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 · 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 API 규격서 v1.0.4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방화벽 · 공인 IP · 가맹점 ID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결제대행사 가맹점 번호 전달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13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카드사별 실카드 공동 테스트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카드사별 테스트 계획 · 일정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 / 88</a:t>
            </a:r>
          </a:p>
        </p:txBody>
      </p:sp>
      <p:sp>
        <p:nvSpPr>
          <p:cNvPr id="66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B.O · 로그 · 데이터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B.O · 리포트: 앱카드 결제수단 코드 반영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B.O 주문 조회 값 · 결제수단 코드 · 로그 기준은 정해졌고, 매출 리포트 항목과 GA4 이벤트는 마케팅1팀이 정합니다.</a:t>
            </a:r>
            <a:endParaRPr lang="ko-KR" sz="1300" dirty="0"/>
          </a:p>
        </p:txBody>
      </p:sp>
      <p:graphicFrame>
        <p:nvGraphicFramePr>
          <p:cNvPr id="66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68630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B.O 주문 조회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B.O 주문 조회에 앱카드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결제수단 · 주문번호 · tid · 승인번호 · pgTno · 카드사를 보여 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매출 리포트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결제수단별 매출에서 앱카드를 따로 집계함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 정의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[마케팅1팀 확인 필요]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매장 · 상담 취소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B.O · 매장 취소 경로가 승인 취소 ⑤를 부르도록 연결함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미확인 거래 정리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 서버가 주기 작업의 실행 이력과 처리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결과(정상 · 취소 · 실패)를 기록함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 · 실패 처리 담당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[CJ ONS 확인 필요]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 로그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토큰 원문을 남기지 않고 CI 등 개인정보를 가림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문의 대응을 위해 요청 전문과 transNo · tid는 추적되게 남김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719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GA4 · 분석 로그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로그인 · 가입 판정 · 결제 단계 이벤트를 새로 설계함</a:t>
                      </a: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가입 판정 결과와 만 14세 미만 여부를 넣고, 토큰 원문은 넣지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[마케팅1팀 확인 필요]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결제수단 코드가 B.O 조회 ·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리포트까지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반영돼야 정산 대사가 됩니다</a:t>
            </a:r>
          </a:p>
        </p:txBody>
      </p:sp>
      <p:sp>
        <p:nvSpPr>
          <p:cNvPr id="67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연동 준비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연동 준비: 가맹점 ID 발급 · 방화벽 개방이 시작 조건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메가MGC커피는 결제대행사 정보와 메가MGC커피 서버 공인 IP를 핏콜라보에 넘기고, 핏콜라보는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가맹점 ID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남은 규격 자료를 넘깁니다.</a:t>
            </a:r>
            <a:endParaRPr lang="ko-KR" sz="1300" dirty="0"/>
          </a:p>
        </p:txBody>
      </p:sp>
      <p:graphicFrame>
        <p:nvGraphicFramePr>
          <p:cNvPr id="67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46045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090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준비 항목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주는 쪽 → 받는 쪽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가맹점 ID 발급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메가MGC커피가 결제대행사 정보 · 가맹점 번호를 넘기면 핏콜라보가</a:t>
                      </a: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storeId(가맹점 ID)를 발급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→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접근 허용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CJ ONS가 메가MGC커피 서버 → 핏콜라보 서버 방화벽을 열어 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CJ ONS가 공인 IP 3종(개발 · 스테이징 · 운영 서버)을 알림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 → 핏콜라보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 값 관리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CJ ONS가 핏콜라보 서버 호스트 · 인증 모듈 주소 · 출처 검증 값을 환경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설정값으로 관리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CJ ONS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37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남은 자료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메가MGC커피가 거래 상태 코드 전체 목록 · 카드관리페이지 API 규격서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16586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v1.0.4를 받음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 →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3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45632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7248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가맹점 ID는 메가MGC커피가 결제대행사 정보를 넘겨야 발급되므로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먼저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준비합니다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48640" y="4564888"/>
            <a:ext cx="1109167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548640" y="4564888"/>
            <a:ext cx="11091672" cy="292608"/>
          </a:xfrm>
          <a:prstGeom prst="rect">
            <a:avLst/>
          </a:prstGeom>
          <a:solidFill>
            <a:srgbClr val="F3EEE8"/>
          </a:solidFill>
          <a:ln w="12700">
            <a:solidFill>
              <a:srgbClr val="E2D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8288" rIns="137160" bIns="18288" rtlCol="0" anchor="ctr"/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연동 준비 순서</a:t>
            </a:r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   </a:t>
            </a:r>
            <a:r>
              <a:rPr sz="1100" b="0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가맹점 ID와 방화벽이 열려야 스테이징 테스트를 시작할 수 있음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3232" y="5022088"/>
            <a:ext cx="2039112" cy="603504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메가MGC커피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결제대행사 정보 · 가맹점 번호 전달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21024" y="5022088"/>
            <a:ext cx="2039112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가맹점 ID(storeId) 발급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28816" y="5022088"/>
            <a:ext cx="2039112" cy="603504"/>
          </a:xfrm>
          <a:prstGeom prst="rect">
            <a:avLst/>
          </a:prstGeom>
          <a:solidFill>
            <a:srgbClr val="F3EEE8"/>
          </a:solidFill>
          <a:ln w="15875">
            <a:solidFill>
              <a:srgbClr val="3B2A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CJ ONS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메가MGC커피 서버 공인 IP 전달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436608" y="5022088"/>
            <a:ext cx="2039112" cy="603504"/>
          </a:xfrm>
          <a:prstGeom prst="rect">
            <a:avLst/>
          </a:prstGeom>
          <a:solidFill>
            <a:srgbClr val="FFFFFF"/>
          </a:solidFill>
          <a:ln w="1587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1100" b="1">
                <a:solidFill>
                  <a:srgbClr val="FF0000"/>
                </a:solidFill>
                <a:latin typeface="Malgun Gothic"/>
                <a:ea typeface="Malgun Gothic"/>
                <a:cs typeface="Malgun Gothic"/>
              </a:rPr>
              <a:t>핏콜라보</a:t>
            </a:r>
          </a:p>
          <a:p>
            <a:pPr algn="ctr"/>
            <a:r>
              <a:rPr sz="900" b="0">
                <a:solidFill>
                  <a:srgbClr val="7A6A5D"/>
                </a:solidFill>
                <a:latin typeface="Malgun Gothic"/>
                <a:ea typeface="Malgun Gothic"/>
                <a:cs typeface="Malgun Gothic"/>
              </a:rPr>
              <a:t>방화벽 허용 · 남은 규격 전달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788920" y="5323840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696712" y="5323840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604504" y="5323840"/>
            <a:ext cx="795528" cy="0"/>
          </a:xfrm>
          <a:prstGeom prst="line">
            <a:avLst/>
          </a:prstGeom>
          <a:ln w="12700">
            <a:solidFill>
              <a:srgbClr val="7A6A5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스테이징 테스트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스테이징 테스트: 실제 승인이 나므로 본인 카드로 결제 후 취소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담당자는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카드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카드사 앱에 등록한 iOS · Android 기기로 소액 결제하고, 메가MGC커피가 만든 승인 취소로 정리합니다.</a:t>
            </a:r>
            <a:endParaRPr lang="ko-KR" sz="1300" dirty="0"/>
          </a:p>
        </p:txBody>
      </p:sp>
      <p:graphicFrame>
        <p:nvGraphicFramePr>
          <p:cNvPr id="68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097325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71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항목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신규 가입 · 재로그인, 같은 CI 기존 계정 로그인</a:t>
                      </a: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비로그인 주문하기 → 로그인 → 주문 이어 가기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14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새 카드 인증 결제 뒤 다음 결제에서 계정 목록 표시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기존 카드 원클릭, authYN=N일 때 인증 결제 전환, 결제 화면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5종(메가오더 · 함께오더, 퀵오더, 예약, 선물 · 선불카드 구매, 충전)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 · 매장 경로의 전체 취소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 생성 실패를 가정한 승인 취소, 거래 상태 조회로 상태 확인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예외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카드사 앱 미설치 → 설치하기 → 스토어 이동 · 복귀(0001)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화면 닫기(0003) · 인증 실패(0002)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iOS · Android 실기기에서 카드사 9곳 앱 이동 · 복귀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다른 출처 메시지 무시, 결제 버튼 연속 실행 때 중복 요청 없음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50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관리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 페이지 열기, 조회 · 등록 · 삭제, 닫은 뒤 메가퀵결제 복귀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본문"/>
          <p:cNvSpPr txBox="1"/>
          <p:nvPr/>
        </p:nvSpPr>
        <p:spPr>
          <a:xfrm>
            <a:off x="548640" y="6045454"/>
            <a:ext cx="11091672" cy="218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1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핏콜라보는 카드사별 실카드 공동 테스트를 지원하며(계획 · 참여 · 로그 확인), 테스트가 끝나면 남은 승인 건을 모두 취소함</a:t>
            </a:r>
            <a:endParaRPr lang="ko-KR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 / 88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오픈 전 점검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전 확인: 운영 값 전환 4가지 점검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스테이징 값이 하나라도 남아 있으면 운영에서 인증 · 결제가 실패하므로, 배포 전에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 모두 확인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  <a:endParaRPr lang="ko-KR" sz="1300" dirty="0"/>
          </a:p>
        </p:txBody>
      </p:sp>
      <p:sp>
        <p:nvSpPr>
          <p:cNvPr id="6" name="설명 제목"/>
          <p:cNvSpPr txBox="1"/>
          <p:nvPr/>
        </p:nvSpPr>
        <p:spPr>
          <a:xfrm>
            <a:off x="548640" y="1783080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· 출처 검증 값</a:t>
            </a:r>
            <a:endParaRPr lang="ko-KR" sz="1400" dirty="0"/>
          </a:p>
        </p:txBody>
      </p:sp>
      <p:sp>
        <p:nvSpPr>
          <p:cNvPr id="7" name="설명"/>
          <p:cNvSpPr txBox="1"/>
          <p:nvPr/>
        </p:nvSpPr>
        <p:spPr>
          <a:xfrm>
            <a:off x="548640" y="2087372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서버 호스트, 인증 모듈 주소, 메시지 출처 검증 값이 스테이징 값에서 운영 값으로 바뀌었는지 확인함</a:t>
            </a:r>
            <a:endParaRPr lang="ko-KR" sz="1200" dirty="0"/>
          </a:p>
        </p:txBody>
      </p:sp>
      <p:sp>
        <p:nvSpPr>
          <p:cNvPr id="8" name="설명 제목"/>
          <p:cNvSpPr txBox="1"/>
          <p:nvPr/>
        </p:nvSpPr>
        <p:spPr>
          <a:xfrm>
            <a:off x="548640" y="2642108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방화벽</a:t>
            </a:r>
            <a:endParaRPr lang="ko-KR" sz="1400" dirty="0"/>
          </a:p>
        </p:txBody>
      </p:sp>
      <p:sp>
        <p:nvSpPr>
          <p:cNvPr id="9" name="설명"/>
          <p:cNvSpPr txBox="1"/>
          <p:nvPr/>
        </p:nvSpPr>
        <p:spPr>
          <a:xfrm>
            <a:off x="548640" y="2946400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메가MGC커피 서버 공인 IP가 등록되고 운영 방화벽이 열렸는지 확인함</a:t>
            </a:r>
            <a:endParaRPr lang="ko-KR" sz="1200" dirty="0"/>
          </a:p>
        </p:txBody>
      </p:sp>
      <p:sp>
        <p:nvSpPr>
          <p:cNvPr id="10" name="설명 제목"/>
          <p:cNvSpPr txBox="1"/>
          <p:nvPr/>
        </p:nvSpPr>
        <p:spPr>
          <a:xfrm>
            <a:off x="548640" y="3501136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가맹점 정보</a:t>
            </a:r>
            <a:endParaRPr lang="ko-KR" sz="1400" dirty="0"/>
          </a:p>
        </p:txBody>
      </p:sp>
      <p:sp>
        <p:nvSpPr>
          <p:cNvPr id="11" name="설명"/>
          <p:cNvSpPr txBox="1"/>
          <p:nvPr/>
        </p:nvSpPr>
        <p:spPr>
          <a:xfrm>
            <a:off x="548640" y="3805428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가맹점 ID와 결제대행사 정보(pgType · 가맹점 번호)가 운영 값인지 확인함</a:t>
            </a:r>
            <a:endParaRPr lang="ko-KR" sz="1200" dirty="0"/>
          </a:p>
        </p:txBody>
      </p:sp>
      <p:sp>
        <p:nvSpPr>
          <p:cNvPr id="12" name="설명 제목"/>
          <p:cNvSpPr txBox="1"/>
          <p:nvPr/>
        </p:nvSpPr>
        <p:spPr>
          <a:xfrm>
            <a:off x="548640" y="4360164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· 무응답 정리</a:t>
            </a:r>
            <a:endParaRPr lang="ko-KR" sz="1400" dirty="0"/>
          </a:p>
        </p:txBody>
      </p:sp>
      <p:sp>
        <p:nvSpPr>
          <p:cNvPr id="13" name="설명"/>
          <p:cNvSpPr txBox="1"/>
          <p:nvPr/>
        </p:nvSpPr>
        <p:spPr>
          <a:xfrm>
            <a:off x="548640" y="4664456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금액과 주문 금액이 같은지, 승인 응답을 못 받은 건 정리가 동작하는지 확인함</a:t>
            </a:r>
            <a:endParaRPr lang="ko-KR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 / 88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5200904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핵심 문장 요약"/>
          <p:cNvSpPr txBox="1"/>
          <p:nvPr/>
        </p:nvSpPr>
        <p:spPr>
          <a:xfrm>
            <a:off x="731520" y="5127752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스테이징 값이 하나라도 남으면 운영에서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결제가 실패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범위 · 운영 · 앱 심사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심사: 앱카드 전 과정 영상 · 다른 로그인 계정 제출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 담당자는 국내 카드사 앱과 본인 명의 카드가 없어 앱카드 로그인 · 결제를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확인할 수 없습니다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ko-KR" sz="1300" dirty="0"/>
          </a:p>
        </p:txBody>
      </p:sp>
      <p:sp>
        <p:nvSpPr>
          <p:cNvPr id="6" name="설명 제목"/>
          <p:cNvSpPr txBox="1"/>
          <p:nvPr/>
        </p:nvSpPr>
        <p:spPr>
          <a:xfrm>
            <a:off x="548640" y="1783080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캡처 제출</a:t>
            </a:r>
            <a:endParaRPr lang="ko-KR" sz="1400" dirty="0"/>
          </a:p>
        </p:txBody>
      </p:sp>
      <p:sp>
        <p:nvSpPr>
          <p:cNvPr id="7" name="설명"/>
          <p:cNvSpPr txBox="1"/>
          <p:nvPr/>
        </p:nvSpPr>
        <p:spPr>
          <a:xfrm>
            <a:off x="548640" y="2087372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①인증 모듈 → ②카드사 앱 이동 · 인증 → ③앱 복귀 → ④로그인 · 결제 완료까지의 영상이나 캡처를 냄</a:t>
            </a:r>
            <a:endParaRPr lang="ko-KR" sz="1200" dirty="0"/>
          </a:p>
        </p:txBody>
      </p:sp>
      <p:sp>
        <p:nvSpPr>
          <p:cNvPr id="8" name="설명 제목"/>
          <p:cNvSpPr txBox="1"/>
          <p:nvPr/>
        </p:nvSpPr>
        <p:spPr>
          <a:xfrm>
            <a:off x="548640" y="2642108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 Store Connect</a:t>
            </a:r>
            <a:endParaRPr lang="ko-KR" sz="1400" dirty="0"/>
          </a:p>
        </p:txBody>
      </p:sp>
      <p:sp>
        <p:nvSpPr>
          <p:cNvPr id="9" name="설명"/>
          <p:cNvSpPr txBox="1"/>
          <p:nvPr/>
        </p:nvSpPr>
        <p:spPr>
          <a:xfrm>
            <a:off x="548640" y="2946400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심사 정보에 영상 · 캡처를 붙이고, 국내 카드사 앱 본인 인증이라 직접 확인할 수 없다고 메모에 적음</a:t>
            </a:r>
            <a:endParaRPr lang="ko-KR" sz="1200" dirty="0"/>
          </a:p>
        </p:txBody>
      </p:sp>
      <p:sp>
        <p:nvSpPr>
          <p:cNvPr id="10" name="설명 제목"/>
          <p:cNvSpPr txBox="1"/>
          <p:nvPr/>
        </p:nvSpPr>
        <p:spPr>
          <a:xfrm>
            <a:off x="548640" y="3501136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Console</a:t>
            </a:r>
            <a:endParaRPr lang="ko-KR" sz="1400" dirty="0"/>
          </a:p>
        </p:txBody>
      </p:sp>
      <p:sp>
        <p:nvSpPr>
          <p:cNvPr id="11" name="설명"/>
          <p:cNvSpPr txBox="1"/>
          <p:nvPr/>
        </p:nvSpPr>
        <p:spPr>
          <a:xfrm>
            <a:off x="548640" y="3805428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액세스 설명에 같은 내용을 적고 영상은 링크로 넣음</a:t>
            </a:r>
            <a:endParaRPr lang="ko-KR" sz="1200" dirty="0"/>
          </a:p>
        </p:txBody>
      </p:sp>
      <p:sp>
        <p:nvSpPr>
          <p:cNvPr id="12" name="설명 제목"/>
          <p:cNvSpPr txBox="1"/>
          <p:nvPr/>
        </p:nvSpPr>
        <p:spPr>
          <a:xfrm>
            <a:off x="548640" y="4360164"/>
            <a:ext cx="11091672" cy="267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ko-KR" altLang="en-US" sz="1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심사용 계정</a:t>
            </a:r>
            <a:endParaRPr lang="ko-KR" sz="1400" dirty="0"/>
          </a:p>
        </p:txBody>
      </p:sp>
      <p:sp>
        <p:nvSpPr>
          <p:cNvPr id="13" name="설명"/>
          <p:cNvSpPr txBox="1"/>
          <p:nvPr/>
        </p:nvSpPr>
        <p:spPr>
          <a:xfrm>
            <a:off x="548640" y="4664456"/>
            <a:ext cx="11091672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buNone/>
            </a:pPr>
            <a:r>
              <a:rPr lang="ko-KR" altLang="en-US" sz="12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앱카드가 아닌 방식으로 로그인할 수 있는 심사용 계정을 함께 냄</a:t>
            </a:r>
            <a:endParaRPr lang="ko-KR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77 / 88</a:t>
            </a:r>
          </a:p>
        </p:txBody>
      </p:sp>
      <p:sp>
        <p:nvSpPr>
          <p:cNvPr id="5" name="Shape 4"/>
          <p:cNvSpPr/>
          <p:nvPr/>
        </p:nvSpPr>
        <p:spPr>
          <a:xfrm>
            <a:off x="548640" y="5200904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핵심 문장 요약"/>
          <p:cNvSpPr txBox="1"/>
          <p:nvPr/>
        </p:nvSpPr>
        <p:spPr>
          <a:xfrm>
            <a:off x="731520" y="5127752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 담당자가 직접 확인할 수 없으므로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영상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다른 로그인 계정을 함께 냅니다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필요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회신 · CJ ONS 확인 · 법무 확인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    핏콜라보 회신 대기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1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   CJ ONS 확인 12건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    법무 확인 6건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 / 88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필요 · 핏콜라보 회신 대기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핏콜라보 회신: 결제대행사 승인 등록 방식이 최우선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 3건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설계를 막는 항목이고, 2 · 3순위는 개발 중에 받아도 되는 항목입니다.</a:t>
            </a:r>
            <a:endParaRPr lang="ko-KR" sz="1300" dirty="0"/>
          </a:p>
        </p:txBody>
      </p:sp>
      <p:graphicFrame>
        <p:nvGraphicFramePr>
          <p:cNvPr id="73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950716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858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핏콜라보에 받을 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pgType에 OnePG 추가 개발 일정과 승인 등록 연동 방식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카드관리페이지 API 규격서 v1.0.4 원본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개정 규격서(storeUserNo · userName 선택), 응답 성별 · 이메일 · di 제외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API 범위를 연동 가이드 기준으로 맞춘 공수 재제시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transNo 만료 1200이 인증 모듈 2.1.2에서도 유지되는지, tid 유효시간 수치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거래 상태 코드 전체 목록, 원클릭 추가 판단 조건(CI 일치 외), 일시불 instType 고정값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 목록 조회 ① 응답의 카드 표시값, 승인 세액의 비과세(컵 보증금) 구분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497666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 목록 API 이름의 목록 · 본문 불일치, 1200 · 1500 의미 불일치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규격 1.2.8의 카드사 앱 목록 갱신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하이브리드 Webview의 deviceType 값, 카드사 취소 반영 기간(고객 안내 문구)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pgType OnePG 추가 회신이 늦으면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결제대행사 연동 일정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전체가 밀립니다</a:t>
            </a:r>
          </a:p>
        </p:txBody>
      </p:sp>
      <p:sp>
        <p:nvSpPr>
          <p:cNvPr id="74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필요 · CJ ONS 확인 12건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CJ ONS 확인: 현행 앱 기능 · 데이터 구조 · OnePG 범위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CJ ONS의 답에 따라 앱 작업량과 결제대행사 범위가 달라지므로 공수 재산정 전에 받으며, 전체 목록 원장은 docx 11-2입니다.</a:t>
            </a:r>
            <a:endParaRPr lang="ko-KR" sz="1300" dirty="0"/>
          </a:p>
        </p:txBody>
      </p:sp>
      <p:graphicFrame>
        <p:nvGraphicFramePr>
          <p:cNvPr id="74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454398"/>
        </p:xfrm>
        <a:graphic>
          <a:graphicData uri="http://schemas.openxmlformats.org/drawingml/2006/table">
            <a:tbl>
              <a:tblPr/>
              <a:tblGrid>
                <a:gridCol w="530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답에 따라 달라지는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Webview가 카드사 앱 주소 이동을 가로채는지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없으면 iOS · Android에 가로채기 처리를 더함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 등록 카드사 앱 목록, 카드사 추가 때 갱신 방식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iOS 국민 · 삼성 · 현대, Android 삼성 · 우리의 신규 등록 여부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에이전트 자동 취소 · 충전 실패의 결제 취소 연결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자동 취소 · 충전 실패 때 승인 취소 ⑤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비로그인 주문 중 로그인 뒤 주문 복귀 기능이 있는지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없으면 앱 · 웹에 복귀 기능을 새로 만듦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OnePG 결제대행사 중계 API 필요 여부(협의 안건)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필요하면 개발 과제에 넣고 공수를 다시 산정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결과 미확인 거래 주기 작업 간격 · 실패 처리 담당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미확인 거래 정리 시간, 실패 건 처리 주체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회원 구조 개선(같은 CI 로그인), 같은 CI 복수 계정 여부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연결 방식 · 공수, 복수 계정이면 계정 선택 화면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주문 결제 데이터 저장 위치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유형 값, tid · pgTno 칸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복합 결제 차감 시점 · 취소 순서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 뒤 차감, 승인 취소 뒤 복원(23장)을 적용할 수 있는지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인증 값의 본인인증 · 가입 판정 연결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본인인증 화면 공수, 가입 판정 재사용 범위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기능 차단 장치 · 롤백 · 구버전 앱 처리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장애 때 앱카드만 내리는 방법, 강제 업데이트 범위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4521236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로그인의 회원 테이블 반영 방식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계정 유형 값, 로그인유형코드 추가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317475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/ 88</a:t>
            </a:r>
          </a:p>
        </p:txBody>
      </p:sp>
      <p:sp>
        <p:nvSpPr>
          <p:cNvPr id="75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필요 · 법무 확인 6건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법무 검토: 개인정보 · 원클릭 책임 · 해지권 등 6가지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번호는 검토 요청 대상이며, 적용 여부는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법무팀이 판단합니다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ko-KR" sz="1300" dirty="0"/>
          </a:p>
        </p:txBody>
      </p:sp>
      <p:graphicFrame>
        <p:nvGraphicFramePr>
          <p:cNvPr id="75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368548"/>
        </p:xfrm>
        <a:graphic>
          <a:graphicData uri="http://schemas.openxmlformats.org/drawingml/2006/table">
            <a:tbl>
              <a:tblPr/>
              <a:tblGrid>
                <a:gridCol w="749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요청 항목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근거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응답의 생년월일 8자리를 만 14세 판정에만 쓰는 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별표2, 로그인 6.3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원클릭 인증 생략 결제의 부정사용 책임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전자금융거래법 제9조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카드관리 페이지가 해지 · 약관 재표시를 제공하지 않는 점과 이용자 해지권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전자금융거래법 제24조 취지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만 14세 미만 가입: 동의 전 아동 정보 미저장, 보호자 정보 저장 범위 · 파기 시점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보호법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제22조의2 · 위치정보법 제25조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인증만으로 결제 계정이 자동 등록되는 점의 고객 동의 범위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약관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개인정보 처리방침의 핏콜라보 수탁 · 제공 항목 개정과 기존 회원 고지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보호법 제26조 · 제30조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972426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 적용 여부는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법무팀 판단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받은 뒤 공유용 자료에 반영합니다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ko-KR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8803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dirty="0">
                <a:solidFill>
                  <a:srgbClr val="F2F2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간 불일치, 용어, 통합 플로우 · 프로세스</a:t>
            </a:r>
            <a:endParaRPr lang="ko-KR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3520440"/>
            <a:ext cx="10515600" cy="0"/>
          </a:xfrm>
          <a:prstGeom prst="line">
            <a:avLst/>
          </a:prstGeom>
          <a:noFill/>
          <a:ln w="9525">
            <a:solidFill>
              <a:srgbClr val="59595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간지 목록"/>
          <p:cNvSpPr txBox="1"/>
          <p:nvPr/>
        </p:nvSpPr>
        <p:spPr>
          <a:xfrm>
            <a:off x="822960" y="37033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    문서 간 불일치 ①</a:t>
            </a:r>
          </a:p>
        </p:txBody>
      </p:sp>
      <p:sp>
        <p:nvSpPr>
          <p:cNvPr id="6" name="간지 목록"/>
          <p:cNvSpPr txBox="1"/>
          <p:nvPr/>
        </p:nvSpPr>
        <p:spPr>
          <a:xfrm>
            <a:off x="822960" y="4050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    문서 간 불일치 ②</a:t>
            </a:r>
          </a:p>
        </p:txBody>
      </p:sp>
      <p:sp>
        <p:nvSpPr>
          <p:cNvPr id="7" name="간지 목록"/>
          <p:cNvSpPr txBox="1"/>
          <p:nvPr/>
        </p:nvSpPr>
        <p:spPr>
          <a:xfrm>
            <a:off x="822960" y="43982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    용어 ① 화면 · 구성 요소</a:t>
            </a:r>
          </a:p>
        </p:txBody>
      </p:sp>
      <p:sp>
        <p:nvSpPr>
          <p:cNvPr id="8" name="간지 목록"/>
          <p:cNvSpPr txBox="1"/>
          <p:nvPr/>
        </p:nvSpPr>
        <p:spPr>
          <a:xfrm>
            <a:off x="822960" y="474573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    용어 ② 거래번호 · 식별값</a:t>
            </a:r>
          </a:p>
        </p:txBody>
      </p:sp>
      <p:sp>
        <p:nvSpPr>
          <p:cNvPr id="9" name="Text 7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 / 88</a:t>
            </a:r>
          </a:p>
        </p:txBody>
      </p:sp>
      <p:sp>
        <p:nvSpPr>
          <p:cNvPr id="10" name="간지 목록"/>
          <p:cNvSpPr txBox="1"/>
          <p:nvPr/>
        </p:nvSpPr>
        <p:spPr>
          <a:xfrm>
            <a:off x="822960" y="509320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    통합 플로우</a:t>
            </a:r>
          </a:p>
        </p:txBody>
      </p:sp>
      <p:sp>
        <p:nvSpPr>
          <p:cNvPr id="11" name="간지 목록"/>
          <p:cNvSpPr txBox="1"/>
          <p:nvPr/>
        </p:nvSpPr>
        <p:spPr>
          <a:xfrm>
            <a:off x="822960" y="544068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    통합 프로세스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문서 간 불일치 ①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간 불일치 ①: API 이름 · 코드 · 범위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이름 · 코드 의미 · 결제 범위 · 할부는 문서마다 달라, 규격 본문과 연동 가이드를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적용 기준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개발합니다.</a:t>
            </a:r>
          </a:p>
        </p:txBody>
      </p:sp>
      <p:graphicFrame>
        <p:nvGraphicFramePr>
          <p:cNvPr id="77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385693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B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적용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목록 API 이름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간편결제 1.3.6 목록: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getPayCardInfos.mv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간편결제 본문 · 연동 가이드: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getPayCardInfo.mv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본문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getPayCardInfo.mv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1200 의미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2.0.4 · 연동 요약서: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 · 만료(5분)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1.2.8: tid 조회 실패,</a:t>
                      </a: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 2.1.2: 기재 없음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transNo 만료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확인 필요]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3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1500 의미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1.2.8: 인증 뒤 3분 초과 조회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2.0.4: 다른 의미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1.2.8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 API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공수 검토의견: 핏콜라보 연동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4개 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가이드: 결제 5종 + 상태 조회 +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카드관리 적재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가이드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가맹점 번호 조회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공수 검토의견: 해당 API 없음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중계 규격: 결제대행사가 만드는 5종에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포함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OnePG 범위(협의 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필요할 때만 개발)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7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요약서: 할부 조회 · UI 조건부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Flipbook: 일시불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일시불(installment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07950" indent="0">
                        <a:buNone/>
                      </a:pPr>
                      <a:r>
                        <a:rPr lang="en-US" sz="125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"00")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804916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731764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적용 기준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먼저 개발하고, 핏콜라보 회신이 오면 이 표를 고칩니다</a:t>
            </a:r>
          </a:p>
        </p:txBody>
      </p:sp>
      <p:sp>
        <p:nvSpPr>
          <p:cNvPr id="78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문서 간 불일치 ②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간 불일치 ②: 정책 · 값 · 표기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deviceType · 회원 구조 등은 정책 판단이나 현행 확인이 끝나야 적용 기준을 확정합니다.</a:t>
            </a:r>
          </a:p>
        </p:txBody>
      </p:sp>
      <p:graphicFrame>
        <p:nvGraphicFramePr>
          <p:cNvPr id="78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36753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62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A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 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적용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카드사 앱 목록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1.2.8 6.2.5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2.1.2 6장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2.1.2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deviceType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예제: 3(AOS Web)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가이드 예시: 2(iOS App)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하이브리드는 2 · 4로 보임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[핏콜라보 ↔ CJ ONS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필요]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8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개인정보 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계약 별표2: 위탁 CI만, 제공 5항목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규격: 결제 storeUserNo · userName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(선택), 로그인 gender · email · di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CI만 전송,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gender · email · di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미저장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 주문 결제수단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CJ ONS 프로그램 목록: 일반 결제만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화면설계서 MGC_ORD_132 · 133: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메가오더와 같음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메가오더와 같음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카드 표기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Flipbook 화면 2: 앱카드 빠른결제 계정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Flipbook 화면 3: 앱카드 퀵결제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메가퀵결제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본인인증 업체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백로그 · 화면설계서 화면명: NICE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외부IF리스트 · 화면설계서 설명: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KCP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KCP(현행 CI 인증)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96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탈퇴 후 재가입 기간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구조 안내: 1개월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화면설계서 알럿: 30일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- 30일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8092453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회원 구조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화면설계서: 휴대폰 계정에 SNS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토큰 추가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현행 구조 안내: 회원마다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로그인유형코드 1개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</a:t>
                      </a:r>
                      <a:r>
                        <a:rPr lang="en-US" sz="1100" dirty="0" b="1">
                          <a:solidFill>
                            <a:srgbClr val="FF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[CJ ONS 확인 필요]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1161365"/>
                  </a:ext>
                </a:extLst>
              </a:tr>
              <a:tr h="4912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 미수령 폐기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연동 요약서: 사전예약 폐기 취소</a:t>
                      </a:r>
                    </a:p>
                    <a:p>
                      <a:pPr marL="94996" indent="0"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화면설계서: 결제금액 환불 없음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환불 없음(취소 미요청)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9815215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 / 88</a:t>
            </a:r>
          </a:p>
        </p:txBody>
      </p:sp>
      <p:sp>
        <p:nvSpPr>
          <p:cNvPr id="79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용어 ① 화면 · 구성 요소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①: 화면과 구성 요소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메가MGC커피는 Native 로그인 버튼과 Webview 화면 · 공통 웹 컴포넌트를 만들고, </a:t>
            </a:r>
            <a:r>
              <a:rPr lang="ko-KR" altLang="en-US" sz="13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모듈 · 카드관리 페이지는 핏콜라보가 줍니다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</a:p>
        </p:txBody>
      </p:sp>
      <p:graphicFrame>
        <p:nvGraphicFramePr>
          <p:cNvPr id="79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42849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14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Native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 네이티브 화면으로, 로그인 수단 선택 · 전체메뉴 · 홈이 해당함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Webview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 안에서 여는 웹 화면으로,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브릿지 페이지 · 본인인증 · 약관 · 주문하기 · 주문 결과 · 메가퀵결제 · 카드관리 페이지가 해당함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브릿지 페이지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Native 로그인 버튼이 여는 Webview 페이지이며, 공통 웹 컴포넌트를 담아 인증 모듈을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띄움(메가MGC커피 개발)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웹 컴포넌트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인증 모듈 호출 · 결과 수신 · 출처 검증 · 포커스 수신 · 메가MGC커피 서버 호출을 담은 공통</a:t>
                      </a:r>
                    </a:p>
                    <a:p>
                      <a:pPr marL="112268" indent="0"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스크립트(메가MGC커피 개발)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모듈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핏콜라보가 주는 카드사 선택 · 약관 동의 · 카드사 앱 인증 웹 페이지(화면 1_2)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카드관리 페이지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핏콜라보가 주는 앱카드 조회 · 등록 · 삭제 웹 페이지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7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메가퀵결제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메가MGC커피의 현행 결제대행사 등록 간편결제(전체메뉴 &gt; 결제에서 관리)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고객 화면에서는 앱카드 계정도 「메가퀵결제」로 표기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OnePG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CJ ONS가 운영하는 결제대행사(PG)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앱카드 가입 수단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인증으로 가입 · 로그인하는 수단(CI는 KCP 없이 받고, 신규 가입은 13장 판정을 따름)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 / 88</a:t>
            </a:r>
          </a:p>
        </p:txBody>
      </p:sp>
      <p:sp>
        <p:nvSpPr>
          <p:cNvPr id="80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용어 ② 거래번호 · 식별값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②: 거래번호 · 토큰 · 식별값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거래번호(transNo)와 결제 거래번호(tid)는 발급 API · 길이 · 토큰이 다르고, </a:t>
            </a:r>
            <a:r>
              <a:rPr lang="ko-KR" altLang="en-US" sz="1300" b="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토큰은 메가MGC커피 서버만 보관</a:t>
            </a: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합니다.</a:t>
            </a:r>
          </a:p>
        </p:txBody>
      </p:sp>
      <p:graphicFrame>
        <p:nvGraphicFramePr>
          <p:cNvPr id="80" name="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694684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14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1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transNo · token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로그인 인증 거래번호(16자)와 함께 받는 1회용 토큰(32자)이며, token은</a:t>
                      </a: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메가MGC커피 서버만 보관함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2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tid · reqToken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거래번호(20자)와 함께 받는 토큰(64자)이며, reqToken은 메가MGC커피 서버만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120904" indent="0"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보관함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authYN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결제 거래번호 발급 응답으로, Y는 인증 없이 승인(원클릭), N은 인증 뒤 승인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payType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메가MGC커피가 보내는 카드 구분으로, 0은 기존 카드, 1은 새 카드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acntId · userNo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앱카드 간편결제 계정 ID와 간편결제 회원번호이며, 기존 카드 결제에 필요함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storeId · storeUserNo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storeId는 핏콜라보가 발급한 가맹점 ID이고, storeUserNo(회원번호)는 보내지 않음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approvalNo · pgTno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승인번호와 결제대행사 거래번호이며, approvalNo는 승인 취소에 꼭 필요함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1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2E24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본인확인 연계정보로, 회원을 찾고 앱카드 계정을 조회하는 유일한 회원 식별값</a:t>
                      </a:r>
                    </a:p>
                  </a:txBody>
                  <a:tcPr marL="109728" marR="109728" anchor="ctr">
                    <a:lnL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86 / 88</a:t>
            </a:r>
          </a:p>
        </p:txBody>
      </p:sp>
      <p:sp>
        <p:nvSpPr>
          <p:cNvPr id="8" name="Shape 4"/>
          <p:cNvSpPr/>
          <p:nvPr/>
        </p:nvSpPr>
        <p:spPr>
          <a:xfrm>
            <a:off x="548640" y="5916167"/>
            <a:ext cx="45720" cy="274320"/>
          </a:xfrm>
          <a:prstGeom prst="rect">
            <a:avLst/>
          </a:prstGeom>
          <a:solidFill>
            <a:srgbClr val="3B2A20"/>
          </a:solidFill>
          <a:ln w="12700">
            <a:solidFill>
              <a:srgbClr val="3B2A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핵심 문장 요약"/>
          <p:cNvSpPr txBox="1"/>
          <p:nvPr/>
        </p:nvSpPr>
        <p:spPr>
          <a:xfrm>
            <a:off x="731520" y="5843015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transNo · tid만 Webview로 넘기고, token · reqToken은 </a:t>
            </a:r>
            <a:r>
              <a:rPr lang="ko-KR" altLang="en-US" sz="15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서버에만</a:t>
            </a:r>
            <a:r>
              <a:rPr lang="ko-KR" altLang="en-US" sz="15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둡니다</a:t>
            </a:r>
          </a:p>
        </p:txBody>
      </p:sp>
      <p:sp>
        <p:nvSpPr>
          <p:cNvPr id="81" name="출처"/>
          <p:cNvSpPr txBox="1"/>
          <p:nvPr/>
        </p:nvSpPr>
        <p:spPr>
          <a:xfrm>
            <a:off x="548640" y="6419088"/>
            <a:ext cx="996696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통합 플로우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플로우: 가입 · 로그인부터 결제 완료까지 고객 행동 · 판단 순서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고객은 앱카드 인증으로 로그인한 뒤 같은 주문으로 돌아가고, 결제는 authYN(인증 필요 여부)에 따라 승인됩니다.</a:t>
            </a:r>
          </a:p>
        </p:txBody>
      </p:sp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 / 88</a:t>
            </a:r>
          </a:p>
        </p:txBody>
      </p:sp>
      <p:sp>
        <p:nvSpPr>
          <p:cNvPr id="8" name="범례"/>
          <p:cNvSpPr txBox="1"/>
          <p:nvPr/>
        </p:nvSpPr>
        <p:spPr>
          <a:xfrm>
            <a:off x="10954512" y="365760"/>
            <a:ext cx="6858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고객 안내</a:t>
            </a:r>
          </a:p>
        </p:txBody>
      </p:sp>
      <p:sp>
        <p:nvSpPr>
          <p:cNvPr id="9" name="도식 상자"/>
          <p:cNvSpPr/>
          <p:nvPr/>
        </p:nvSpPr>
        <p:spPr>
          <a:xfrm>
            <a:off x="10625328" y="384048"/>
            <a:ext cx="274320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10" name="범례"/>
          <p:cNvSpPr txBox="1"/>
          <p:nvPr/>
        </p:nvSpPr>
        <p:spPr>
          <a:xfrm>
            <a:off x="10149840" y="365760"/>
            <a:ext cx="36576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1" name="도식 상자"/>
          <p:cNvSpPr/>
          <p:nvPr/>
        </p:nvSpPr>
        <p:spPr>
          <a:xfrm>
            <a:off x="9820656" y="384048"/>
            <a:ext cx="274320" cy="16459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12" name="범례"/>
          <p:cNvSpPr txBox="1"/>
          <p:nvPr/>
        </p:nvSpPr>
        <p:spPr>
          <a:xfrm>
            <a:off x="9345168" y="365760"/>
            <a:ext cx="36576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처리</a:t>
            </a:r>
          </a:p>
        </p:txBody>
      </p:sp>
      <p:sp>
        <p:nvSpPr>
          <p:cNvPr id="13" name="도식 상자"/>
          <p:cNvSpPr/>
          <p:nvPr/>
        </p:nvSpPr>
        <p:spPr>
          <a:xfrm>
            <a:off x="9015984" y="384048"/>
            <a:ext cx="274320" cy="164592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14" name="범례"/>
          <p:cNvSpPr txBox="1"/>
          <p:nvPr/>
        </p:nvSpPr>
        <p:spPr>
          <a:xfrm>
            <a:off x="8220456" y="365760"/>
            <a:ext cx="6858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시작 · 끝</a:t>
            </a:r>
          </a:p>
        </p:txBody>
      </p:sp>
      <p:sp>
        <p:nvSpPr>
          <p:cNvPr id="15" name="도식 상자"/>
          <p:cNvSpPr/>
          <p:nvPr/>
        </p:nvSpPr>
        <p:spPr>
          <a:xfrm>
            <a:off x="7891272" y="384048"/>
            <a:ext cx="274320" cy="164592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16" name="구역 이름"/>
          <p:cNvSpPr txBox="1"/>
          <p:nvPr/>
        </p:nvSpPr>
        <p:spPr>
          <a:xfrm>
            <a:off x="548640" y="1755648"/>
            <a:ext cx="3657600" cy="2181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가입 · 로그인</a:t>
            </a:r>
          </a:p>
        </p:txBody>
      </p:sp>
      <p:sp>
        <p:nvSpPr>
          <p:cNvPr id="17" name="도식 상자"/>
          <p:cNvSpPr/>
          <p:nvPr/>
        </p:nvSpPr>
        <p:spPr>
          <a:xfrm>
            <a:off x="548640" y="2112264"/>
            <a:ext cx="1371600" cy="56692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주문하기 선택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비로그인 고객</a:t>
            </a:r>
          </a:p>
        </p:txBody>
      </p:sp>
      <p:sp>
        <p:nvSpPr>
          <p:cNvPr id="18" name="도식 상자"/>
          <p:cNvSpPr/>
          <p:nvPr/>
        </p:nvSpPr>
        <p:spPr>
          <a:xfrm>
            <a:off x="2168652" y="2112264"/>
            <a:ext cx="1371600" cy="566928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앱카드로 계속하기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브릿지 페이지 열기</a:t>
            </a:r>
          </a:p>
        </p:txBody>
      </p:sp>
      <p:sp>
        <p:nvSpPr>
          <p:cNvPr id="19" name="도식 상자"/>
          <p:cNvSpPr/>
          <p:nvPr/>
        </p:nvSpPr>
        <p:spPr>
          <a:xfrm>
            <a:off x="3788664" y="2112264"/>
            <a:ext cx="1371600" cy="566928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 표시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인증 거래번호 발급 ①</a:t>
            </a:r>
          </a:p>
        </p:txBody>
      </p:sp>
      <p:sp>
        <p:nvSpPr>
          <p:cNvPr id="20" name="도식 상자"/>
          <p:cNvSpPr/>
          <p:nvPr/>
        </p:nvSpPr>
        <p:spPr>
          <a:xfrm>
            <a:off x="5408676" y="2112264"/>
            <a:ext cx="1371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앱 인증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인증 뒤 앱 복귀</a:t>
            </a:r>
          </a:p>
        </p:txBody>
      </p:sp>
      <p:sp>
        <p:nvSpPr>
          <p:cNvPr id="21" name="도식 상자"/>
          <p:cNvSpPr/>
          <p:nvPr/>
        </p:nvSpPr>
        <p:spPr>
          <a:xfrm>
            <a:off x="7028688" y="2039112"/>
            <a:ext cx="1371600" cy="71323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결과</a:t>
            </a:r>
          </a:p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0000?</a:t>
            </a:r>
          </a:p>
        </p:txBody>
      </p:sp>
      <p:sp>
        <p:nvSpPr>
          <p:cNvPr id="22" name="도식 상자"/>
          <p:cNvSpPr/>
          <p:nvPr/>
        </p:nvSpPr>
        <p:spPr>
          <a:xfrm>
            <a:off x="8648700" y="2039112"/>
            <a:ext cx="1371600" cy="71323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같은 CI</a:t>
            </a:r>
          </a:p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계정?</a:t>
            </a:r>
          </a:p>
        </p:txBody>
      </p:sp>
      <p:sp>
        <p:nvSpPr>
          <p:cNvPr id="23" name="도식 상자"/>
          <p:cNvSpPr/>
          <p:nvPr/>
        </p:nvSpPr>
        <p:spPr>
          <a:xfrm>
            <a:off x="10268712" y="2112264"/>
            <a:ext cx="1371600" cy="566928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기존 계정 로그인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인증 결과 조회 ②</a:t>
            </a:r>
          </a:p>
        </p:txBody>
      </p:sp>
      <p:cxnSp>
        <p:nvCxnSpPr>
          <p:cNvPr id="24" name="도식 연결선"/>
          <p:cNvCxnSpPr/>
          <p:nvPr/>
        </p:nvCxnSpPr>
        <p:spPr>
          <a:xfrm>
            <a:off x="1920240" y="2395728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도식 연결선"/>
          <p:cNvCxnSpPr/>
          <p:nvPr/>
        </p:nvCxnSpPr>
        <p:spPr>
          <a:xfrm>
            <a:off x="3540252" y="2395728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도식 연결선"/>
          <p:cNvCxnSpPr/>
          <p:nvPr/>
        </p:nvCxnSpPr>
        <p:spPr>
          <a:xfrm>
            <a:off x="5160264" y="2395728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도식 연결선"/>
          <p:cNvCxnSpPr/>
          <p:nvPr/>
        </p:nvCxnSpPr>
        <p:spPr>
          <a:xfrm>
            <a:off x="6780276" y="2395728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도식 연결선"/>
          <p:cNvCxnSpPr/>
          <p:nvPr/>
        </p:nvCxnSpPr>
        <p:spPr>
          <a:xfrm>
            <a:off x="8400288" y="2395728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도식 연결선"/>
          <p:cNvCxnSpPr/>
          <p:nvPr/>
        </p:nvCxnSpPr>
        <p:spPr>
          <a:xfrm>
            <a:off x="10020300" y="2395728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분기 이름"/>
          <p:cNvSpPr txBox="1"/>
          <p:nvPr/>
        </p:nvSpPr>
        <p:spPr>
          <a:xfrm>
            <a:off x="8418576" y="2176272"/>
            <a:ext cx="4572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31" name="분기 이름"/>
          <p:cNvSpPr txBox="1"/>
          <p:nvPr/>
        </p:nvSpPr>
        <p:spPr>
          <a:xfrm>
            <a:off x="10038588" y="2176272"/>
            <a:ext cx="4572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32" name="도식 상자"/>
          <p:cNvSpPr/>
          <p:nvPr/>
        </p:nvSpPr>
        <p:spPr>
          <a:xfrm>
            <a:off x="7028688" y="3246120"/>
            <a:ext cx="1371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실패 · 취소 안내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로그인 수단 선택으로</a:t>
            </a:r>
          </a:p>
        </p:txBody>
      </p:sp>
      <p:sp>
        <p:nvSpPr>
          <p:cNvPr id="33" name="도식 상자"/>
          <p:cNvSpPr/>
          <p:nvPr/>
        </p:nvSpPr>
        <p:spPr>
          <a:xfrm>
            <a:off x="8648700" y="3246120"/>
            <a:ext cx="1371600" cy="475488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가입 판정(13장)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KCP 생략 · 약관 동의</a:t>
            </a:r>
          </a:p>
        </p:txBody>
      </p:sp>
      <p:sp>
        <p:nvSpPr>
          <p:cNvPr id="34" name="도식 상자"/>
          <p:cNvSpPr/>
          <p:nvPr/>
        </p:nvSpPr>
        <p:spPr>
          <a:xfrm>
            <a:off x="10268712" y="3246120"/>
            <a:ext cx="1371600" cy="475488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로그인 완료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메가MGC커피 토큰 발급</a:t>
            </a:r>
          </a:p>
        </p:txBody>
      </p:sp>
      <p:cxnSp>
        <p:nvCxnSpPr>
          <p:cNvPr id="35" name="도식 연결선"/>
          <p:cNvCxnSpPr/>
          <p:nvPr/>
        </p:nvCxnSpPr>
        <p:spPr>
          <a:xfrm>
            <a:off x="7714488" y="2752344"/>
            <a:ext cx="0" cy="493776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분기 이름"/>
          <p:cNvSpPr txBox="1"/>
          <p:nvPr/>
        </p:nvSpPr>
        <p:spPr>
          <a:xfrm>
            <a:off x="7760208" y="2752344"/>
            <a:ext cx="4572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37" name="도식 연결선"/>
          <p:cNvCxnSpPr/>
          <p:nvPr/>
        </p:nvCxnSpPr>
        <p:spPr>
          <a:xfrm>
            <a:off x="9334500" y="2752344"/>
            <a:ext cx="0" cy="493776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분기 이름"/>
          <p:cNvSpPr txBox="1"/>
          <p:nvPr/>
        </p:nvSpPr>
        <p:spPr>
          <a:xfrm>
            <a:off x="9380220" y="2752344"/>
            <a:ext cx="4572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39" name="도식 연결선"/>
          <p:cNvCxnSpPr/>
          <p:nvPr/>
        </p:nvCxnSpPr>
        <p:spPr>
          <a:xfrm>
            <a:off x="10020300" y="3483863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도식 연결선"/>
          <p:cNvCxnSpPr/>
          <p:nvPr/>
        </p:nvCxnSpPr>
        <p:spPr>
          <a:xfrm>
            <a:off x="10954512" y="2679192"/>
            <a:ext cx="0" cy="566928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구역 이름"/>
          <p:cNvSpPr txBox="1"/>
          <p:nvPr/>
        </p:nvSpPr>
        <p:spPr>
          <a:xfrm>
            <a:off x="548640" y="3767328"/>
            <a:ext cx="3657600" cy="21818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</a:t>
            </a:r>
          </a:p>
        </p:txBody>
      </p:sp>
      <p:sp>
        <p:nvSpPr>
          <p:cNvPr id="42" name="도식 상자"/>
          <p:cNvSpPr/>
          <p:nvPr/>
        </p:nvSpPr>
        <p:spPr>
          <a:xfrm>
            <a:off x="10268712" y="4178808"/>
            <a:ext cx="1371600" cy="56692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주문하기 복귀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계정 목록 조회 ①</a:t>
            </a:r>
          </a:p>
        </p:txBody>
      </p:sp>
      <p:cxnSp>
        <p:nvCxnSpPr>
          <p:cNvPr id="43" name="도식 연결선"/>
          <p:cNvCxnSpPr/>
          <p:nvPr/>
        </p:nvCxnSpPr>
        <p:spPr>
          <a:xfrm>
            <a:off x="10954512" y="3721608"/>
            <a:ext cx="0" cy="45720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도식 상자"/>
          <p:cNvSpPr/>
          <p:nvPr/>
        </p:nvSpPr>
        <p:spPr>
          <a:xfrm>
            <a:off x="8648700" y="4105656"/>
            <a:ext cx="1371600" cy="71323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기존 카드</a:t>
            </a:r>
          </a:p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선택?</a:t>
            </a:r>
          </a:p>
        </p:txBody>
      </p:sp>
      <p:sp>
        <p:nvSpPr>
          <p:cNvPr id="45" name="도식 상자"/>
          <p:cNvSpPr/>
          <p:nvPr/>
        </p:nvSpPr>
        <p:spPr>
          <a:xfrm>
            <a:off x="7028688" y="4178808"/>
            <a:ext cx="1371600" cy="566928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밀어서 결제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결제 거래번호 발급 ②</a:t>
            </a:r>
          </a:p>
        </p:txBody>
      </p:sp>
      <p:sp>
        <p:nvSpPr>
          <p:cNvPr id="46" name="도식 상자"/>
          <p:cNvSpPr/>
          <p:nvPr/>
        </p:nvSpPr>
        <p:spPr>
          <a:xfrm>
            <a:off x="5408676" y="4105656"/>
            <a:ext cx="1371600" cy="71323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authYN</a:t>
            </a:r>
          </a:p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= Y?</a:t>
            </a:r>
          </a:p>
        </p:txBody>
      </p:sp>
      <p:sp>
        <p:nvSpPr>
          <p:cNvPr id="47" name="도식 상자"/>
          <p:cNvSpPr/>
          <p:nvPr/>
        </p:nvSpPr>
        <p:spPr>
          <a:xfrm>
            <a:off x="3788664" y="4178808"/>
            <a:ext cx="1371600" cy="566928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승인 ④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무응답은 상태 조회 ⑥</a:t>
            </a:r>
          </a:p>
        </p:txBody>
      </p:sp>
      <p:sp>
        <p:nvSpPr>
          <p:cNvPr id="48" name="도식 상자"/>
          <p:cNvSpPr/>
          <p:nvPr/>
        </p:nvSpPr>
        <p:spPr>
          <a:xfrm>
            <a:off x="2168652" y="4105656"/>
            <a:ext cx="1371600" cy="71323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주문 생성</a:t>
            </a:r>
          </a:p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성공?</a:t>
            </a:r>
          </a:p>
        </p:txBody>
      </p:sp>
      <p:sp>
        <p:nvSpPr>
          <p:cNvPr id="49" name="도식 상자"/>
          <p:cNvSpPr/>
          <p:nvPr/>
        </p:nvSpPr>
        <p:spPr>
          <a:xfrm>
            <a:off x="548640" y="4178808"/>
            <a:ext cx="1371600" cy="56692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주문 완료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주문 결과 화면</a:t>
            </a:r>
          </a:p>
        </p:txBody>
      </p:sp>
      <p:cxnSp>
        <p:nvCxnSpPr>
          <p:cNvPr id="50" name="도식 연결선"/>
          <p:cNvCxnSpPr/>
          <p:nvPr/>
        </p:nvCxnSpPr>
        <p:spPr>
          <a:xfrm flipH="1">
            <a:off x="10020300" y="4462272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도식 연결선"/>
          <p:cNvCxnSpPr/>
          <p:nvPr/>
        </p:nvCxnSpPr>
        <p:spPr>
          <a:xfrm flipH="1">
            <a:off x="8400288" y="4462272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도식 연결선"/>
          <p:cNvCxnSpPr/>
          <p:nvPr/>
        </p:nvCxnSpPr>
        <p:spPr>
          <a:xfrm flipH="1">
            <a:off x="6780276" y="4462272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도식 연결선"/>
          <p:cNvCxnSpPr/>
          <p:nvPr/>
        </p:nvCxnSpPr>
        <p:spPr>
          <a:xfrm flipH="1">
            <a:off x="5160264" y="4462272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도식 연결선"/>
          <p:cNvCxnSpPr/>
          <p:nvPr/>
        </p:nvCxnSpPr>
        <p:spPr>
          <a:xfrm flipH="1">
            <a:off x="3540252" y="4462272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도식 연결선"/>
          <p:cNvCxnSpPr/>
          <p:nvPr/>
        </p:nvCxnSpPr>
        <p:spPr>
          <a:xfrm flipH="1">
            <a:off x="1920240" y="4462272"/>
            <a:ext cx="248412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분기 이름"/>
          <p:cNvSpPr txBox="1"/>
          <p:nvPr/>
        </p:nvSpPr>
        <p:spPr>
          <a:xfrm>
            <a:off x="8465820" y="4242816"/>
            <a:ext cx="164592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57" name="분기 이름"/>
          <p:cNvSpPr txBox="1"/>
          <p:nvPr/>
        </p:nvSpPr>
        <p:spPr>
          <a:xfrm>
            <a:off x="5225796" y="4242816"/>
            <a:ext cx="164592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58" name="분기 이름"/>
          <p:cNvSpPr txBox="1"/>
          <p:nvPr/>
        </p:nvSpPr>
        <p:spPr>
          <a:xfrm>
            <a:off x="1985772" y="4242816"/>
            <a:ext cx="164592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59" name="도식 상자"/>
          <p:cNvSpPr/>
          <p:nvPr/>
        </p:nvSpPr>
        <p:spPr>
          <a:xfrm>
            <a:off x="8648700" y="5285232"/>
            <a:ext cx="1371600" cy="475488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선택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payType 1(새 카드)</a:t>
            </a:r>
          </a:p>
        </p:txBody>
      </p:sp>
      <p:cxnSp>
        <p:nvCxnSpPr>
          <p:cNvPr id="60" name="도식 연결선"/>
          <p:cNvCxnSpPr/>
          <p:nvPr/>
        </p:nvCxnSpPr>
        <p:spPr>
          <a:xfrm>
            <a:off x="9334500" y="4818888"/>
            <a:ext cx="0" cy="46634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분기 이름"/>
          <p:cNvSpPr txBox="1"/>
          <p:nvPr/>
        </p:nvSpPr>
        <p:spPr>
          <a:xfrm>
            <a:off x="9380220" y="4818888"/>
            <a:ext cx="4572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62" name="도식 연결선"/>
          <p:cNvCxnSpPr/>
          <p:nvPr/>
        </p:nvCxnSpPr>
        <p:spPr>
          <a:xfrm flipH="1">
            <a:off x="7714488" y="5522976"/>
            <a:ext cx="934212" cy="0"/>
          </a:xfrm>
          <a:prstGeom prst="line">
            <a:avLst/>
          </a:prstGeom>
          <a:ln w="15875">
            <a:solidFill>
              <a:srgbClr val="7A6A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도식 연결선"/>
          <p:cNvCxnSpPr/>
          <p:nvPr/>
        </p:nvCxnSpPr>
        <p:spPr>
          <a:xfrm flipV="1">
            <a:off x="7714488" y="4745736"/>
            <a:ext cx="0" cy="77724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도식 상자"/>
          <p:cNvSpPr/>
          <p:nvPr/>
        </p:nvSpPr>
        <p:spPr>
          <a:xfrm>
            <a:off x="5408676" y="5285232"/>
            <a:ext cx="1371600" cy="475488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결제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결제 인증 결과 조회 ③</a:t>
            </a:r>
          </a:p>
        </p:txBody>
      </p:sp>
      <p:cxnSp>
        <p:nvCxnSpPr>
          <p:cNvPr id="65" name="도식 연결선"/>
          <p:cNvCxnSpPr/>
          <p:nvPr/>
        </p:nvCxnSpPr>
        <p:spPr>
          <a:xfrm>
            <a:off x="6094476" y="4818888"/>
            <a:ext cx="0" cy="46634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분기 이름"/>
          <p:cNvSpPr txBox="1"/>
          <p:nvPr/>
        </p:nvSpPr>
        <p:spPr>
          <a:xfrm>
            <a:off x="6140196" y="4818888"/>
            <a:ext cx="4572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cxnSp>
        <p:nvCxnSpPr>
          <p:cNvPr id="67" name="도식 연결선"/>
          <p:cNvCxnSpPr/>
          <p:nvPr/>
        </p:nvCxnSpPr>
        <p:spPr>
          <a:xfrm flipH="1">
            <a:off x="4474464" y="5522976"/>
            <a:ext cx="934212" cy="0"/>
          </a:xfrm>
          <a:prstGeom prst="line">
            <a:avLst/>
          </a:prstGeom>
          <a:ln w="15875">
            <a:solidFill>
              <a:srgbClr val="7A6A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도식 연결선"/>
          <p:cNvCxnSpPr/>
          <p:nvPr/>
        </p:nvCxnSpPr>
        <p:spPr>
          <a:xfrm flipV="1">
            <a:off x="4474464" y="4745736"/>
            <a:ext cx="0" cy="77724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도식 상자"/>
          <p:cNvSpPr/>
          <p:nvPr/>
        </p:nvSpPr>
        <p:spPr>
          <a:xfrm>
            <a:off x="2168652" y="5285232"/>
            <a:ext cx="13716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A69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승인 취소 ⑤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결제 실패 안내</a:t>
            </a:r>
          </a:p>
        </p:txBody>
      </p:sp>
      <p:cxnSp>
        <p:nvCxnSpPr>
          <p:cNvPr id="70" name="도식 연결선"/>
          <p:cNvCxnSpPr/>
          <p:nvPr/>
        </p:nvCxnSpPr>
        <p:spPr>
          <a:xfrm>
            <a:off x="2854452" y="4818888"/>
            <a:ext cx="0" cy="46634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분기 이름"/>
          <p:cNvSpPr txBox="1"/>
          <p:nvPr/>
        </p:nvSpPr>
        <p:spPr>
          <a:xfrm>
            <a:off x="2900172" y="4818888"/>
            <a:ext cx="457200" cy="1934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아니요</a:t>
            </a:r>
          </a:p>
        </p:txBody>
      </p:sp>
      <p:sp>
        <p:nvSpPr>
          <p:cNvPr id="72" name="본문"/>
          <p:cNvSpPr txBox="1"/>
          <p:nvPr/>
        </p:nvSpPr>
        <p:spPr>
          <a:xfrm>
            <a:off x="548640" y="5897880"/>
            <a:ext cx="11091672" cy="2016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로그인 고객은 결제 구역의 주문하기 복귀부터 시작하고, 승인 ④는 응답이 없어도 다시 부르지 않음</a:t>
            </a:r>
          </a:p>
        </p:txBody>
      </p:sp>
      <p:sp>
        <p:nvSpPr>
          <p:cNvPr id="73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영역 이름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· 통합 프로세스</a:t>
            </a:r>
          </a:p>
        </p:txBody>
      </p:sp>
      <p:sp>
        <p:nvSpPr>
          <p:cNvPr id="3" name="제목"/>
          <p:cNvSpPr txBox="1"/>
          <p:nvPr/>
        </p:nvSpPr>
        <p:spPr>
          <a:xfrm>
            <a:off x="548640" y="640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400" b="1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프로세스: 가입 · 로그인부터 결제 완료까지 시스템별 처리 · 데이터</a:t>
            </a:r>
            <a:endParaRPr lang="ko-KR" sz="2400" dirty="0"/>
          </a:p>
        </p:txBody>
      </p:sp>
      <p:sp>
        <p:nvSpPr>
          <p:cNvPr id="4" name="핵심 문장"/>
          <p:cNvSpPr txBox="1"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7A6A5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메가MGC커피 서버가 핏콜라보 API를 모두 부르고, Webview는 거래번호만 받아 인증 모듈을 띄웁니다.</a:t>
            </a:r>
          </a:p>
        </p:txBody>
      </p:sp>
      <p:sp>
        <p:nvSpPr>
          <p:cNvPr id="7" name="Text 3"/>
          <p:cNvSpPr txBox="1"/>
          <p:nvPr/>
        </p:nvSpPr>
        <p:spPr>
          <a:xfrm>
            <a:off x="10725912" y="64008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A696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 / 88</a:t>
            </a:r>
          </a:p>
        </p:txBody>
      </p:sp>
      <p:sp>
        <p:nvSpPr>
          <p:cNvPr id="8" name="도식 상자"/>
          <p:cNvSpPr/>
          <p:nvPr/>
        </p:nvSpPr>
        <p:spPr>
          <a:xfrm>
            <a:off x="1746504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 로그인 요청</a:t>
            </a:r>
          </a:p>
        </p:txBody>
      </p:sp>
      <p:cxnSp>
        <p:nvCxnSpPr>
          <p:cNvPr id="9" name="도식 연결선"/>
          <p:cNvCxnSpPr/>
          <p:nvPr/>
        </p:nvCxnSpPr>
        <p:spPr>
          <a:xfrm>
            <a:off x="2880360" y="1975104"/>
            <a:ext cx="109728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도식 상자"/>
          <p:cNvSpPr/>
          <p:nvPr/>
        </p:nvSpPr>
        <p:spPr>
          <a:xfrm>
            <a:off x="2990088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 카드사 인증</a:t>
            </a:r>
          </a:p>
        </p:txBody>
      </p:sp>
      <p:cxnSp>
        <p:nvCxnSpPr>
          <p:cNvPr id="11" name="도식 연결선"/>
          <p:cNvCxnSpPr/>
          <p:nvPr/>
        </p:nvCxnSpPr>
        <p:spPr>
          <a:xfrm>
            <a:off x="4123944" y="1975104"/>
            <a:ext cx="109728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도식 상자"/>
          <p:cNvSpPr/>
          <p:nvPr/>
        </p:nvSpPr>
        <p:spPr>
          <a:xfrm>
            <a:off x="4233672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 인증 결과</a:t>
            </a:r>
          </a:p>
        </p:txBody>
      </p:sp>
      <p:cxnSp>
        <p:nvCxnSpPr>
          <p:cNvPr id="13" name="도식 연결선"/>
          <p:cNvCxnSpPr/>
          <p:nvPr/>
        </p:nvCxnSpPr>
        <p:spPr>
          <a:xfrm>
            <a:off x="5367528" y="1975104"/>
            <a:ext cx="109728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도식 상자"/>
          <p:cNvSpPr/>
          <p:nvPr/>
        </p:nvSpPr>
        <p:spPr>
          <a:xfrm>
            <a:off x="5477255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 계정 연결</a:t>
            </a:r>
          </a:p>
        </p:txBody>
      </p:sp>
      <p:cxnSp>
        <p:nvCxnSpPr>
          <p:cNvPr id="15" name="도식 연결선"/>
          <p:cNvCxnSpPr/>
          <p:nvPr/>
        </p:nvCxnSpPr>
        <p:spPr>
          <a:xfrm>
            <a:off x="6611112" y="1975104"/>
            <a:ext cx="109728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도식 상자"/>
          <p:cNvSpPr/>
          <p:nvPr/>
        </p:nvSpPr>
        <p:spPr>
          <a:xfrm>
            <a:off x="6720840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 결제수단 표시</a:t>
            </a:r>
          </a:p>
        </p:txBody>
      </p:sp>
      <p:cxnSp>
        <p:nvCxnSpPr>
          <p:cNvPr id="17" name="도식 연결선"/>
          <p:cNvCxnSpPr/>
          <p:nvPr/>
        </p:nvCxnSpPr>
        <p:spPr>
          <a:xfrm>
            <a:off x="7854696" y="1975104"/>
            <a:ext cx="109728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도식 상자"/>
          <p:cNvSpPr/>
          <p:nvPr/>
        </p:nvSpPr>
        <p:spPr>
          <a:xfrm>
            <a:off x="7964424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 결제 요청</a:t>
            </a:r>
          </a:p>
        </p:txBody>
      </p:sp>
      <p:cxnSp>
        <p:nvCxnSpPr>
          <p:cNvPr id="19" name="도식 연결선"/>
          <p:cNvCxnSpPr/>
          <p:nvPr/>
        </p:nvCxnSpPr>
        <p:spPr>
          <a:xfrm>
            <a:off x="9098280" y="1975104"/>
            <a:ext cx="109728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도식 상자"/>
          <p:cNvSpPr/>
          <p:nvPr/>
        </p:nvSpPr>
        <p:spPr>
          <a:xfrm>
            <a:off x="9208008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 인증 결제</a:t>
            </a:r>
          </a:p>
        </p:txBody>
      </p:sp>
      <p:cxnSp>
        <p:nvCxnSpPr>
          <p:cNvPr id="21" name="도식 연결선"/>
          <p:cNvCxnSpPr/>
          <p:nvPr/>
        </p:nvCxnSpPr>
        <p:spPr>
          <a:xfrm>
            <a:off x="10341864" y="1975104"/>
            <a:ext cx="109728" cy="0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도식 상자"/>
          <p:cNvSpPr/>
          <p:nvPr/>
        </p:nvSpPr>
        <p:spPr>
          <a:xfrm>
            <a:off x="10451592" y="1783080"/>
            <a:ext cx="1133856" cy="384048"/>
          </a:xfrm>
          <a:prstGeom prst="roundRect">
            <a:avLst>
              <a:gd name="adj" fmla="val 20000"/>
            </a:avLst>
          </a:prstGeom>
          <a:solidFill>
            <a:srgbClr val="3B2A20"/>
          </a:solidFill>
          <a:ln w="9525">
            <a:solidFill>
              <a:srgbClr val="3B2A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8 승인 · 완료</a:t>
            </a:r>
          </a:p>
        </p:txBody>
      </p:sp>
      <p:sp>
        <p:nvSpPr>
          <p:cNvPr id="23" name="레인"/>
          <p:cNvSpPr/>
          <p:nvPr/>
        </p:nvSpPr>
        <p:spPr>
          <a:xfrm>
            <a:off x="548640" y="2286000"/>
            <a:ext cx="1109167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24" name="레인 이름"/>
          <p:cNvSpPr/>
          <p:nvPr/>
        </p:nvSpPr>
        <p:spPr>
          <a:xfrm>
            <a:off x="548640" y="2286000"/>
            <a:ext cx="1051560" cy="731520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고객 · Native</a:t>
            </a:r>
          </a:p>
        </p:txBody>
      </p:sp>
      <p:sp>
        <p:nvSpPr>
          <p:cNvPr id="25" name="레인"/>
          <p:cNvSpPr/>
          <p:nvPr/>
        </p:nvSpPr>
        <p:spPr>
          <a:xfrm>
            <a:off x="548640" y="3017520"/>
            <a:ext cx="1109167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26" name="레인 이름"/>
          <p:cNvSpPr/>
          <p:nvPr/>
        </p:nvSpPr>
        <p:spPr>
          <a:xfrm>
            <a:off x="548640" y="3017520"/>
            <a:ext cx="1051560" cy="731520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Webview</a:t>
            </a:r>
          </a:p>
        </p:txBody>
      </p:sp>
      <p:sp>
        <p:nvSpPr>
          <p:cNvPr id="27" name="레인"/>
          <p:cNvSpPr/>
          <p:nvPr/>
        </p:nvSpPr>
        <p:spPr>
          <a:xfrm>
            <a:off x="548640" y="3749039"/>
            <a:ext cx="1109167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28" name="레인 이름"/>
          <p:cNvSpPr/>
          <p:nvPr/>
        </p:nvSpPr>
        <p:spPr>
          <a:xfrm>
            <a:off x="548640" y="3749039"/>
            <a:ext cx="1051560" cy="731520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메가MGC커피</a:t>
            </a:r>
          </a:p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서버</a:t>
            </a:r>
          </a:p>
        </p:txBody>
      </p:sp>
      <p:sp>
        <p:nvSpPr>
          <p:cNvPr id="29" name="레인"/>
          <p:cNvSpPr/>
          <p:nvPr/>
        </p:nvSpPr>
        <p:spPr>
          <a:xfrm>
            <a:off x="548640" y="4480560"/>
            <a:ext cx="1109167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30" name="레인 이름"/>
          <p:cNvSpPr/>
          <p:nvPr/>
        </p:nvSpPr>
        <p:spPr>
          <a:xfrm>
            <a:off x="548640" y="4480560"/>
            <a:ext cx="1051560" cy="731520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핏콜라보</a:t>
            </a:r>
          </a:p>
        </p:txBody>
      </p:sp>
      <p:sp>
        <p:nvSpPr>
          <p:cNvPr id="31" name="레인"/>
          <p:cNvSpPr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endParaRPr/>
          </a:p>
        </p:txBody>
      </p:sp>
      <p:sp>
        <p:nvSpPr>
          <p:cNvPr id="32" name="레인 이름"/>
          <p:cNvSpPr/>
          <p:nvPr/>
        </p:nvSpPr>
        <p:spPr>
          <a:xfrm>
            <a:off x="548640" y="5212080"/>
            <a:ext cx="1051560" cy="731520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앱</a:t>
            </a:r>
          </a:p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결제대행사</a:t>
            </a:r>
          </a:p>
        </p:txBody>
      </p:sp>
      <p:sp>
        <p:nvSpPr>
          <p:cNvPr id="33" name="도식 상자"/>
          <p:cNvSpPr/>
          <p:nvPr/>
        </p:nvSpPr>
        <p:spPr>
          <a:xfrm>
            <a:off x="1746504" y="235915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앱카드로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계속하기</a:t>
            </a:r>
          </a:p>
        </p:txBody>
      </p:sp>
      <p:sp>
        <p:nvSpPr>
          <p:cNvPr id="34" name="도식 상자"/>
          <p:cNvSpPr/>
          <p:nvPr/>
        </p:nvSpPr>
        <p:spPr>
          <a:xfrm>
            <a:off x="1746504" y="3822191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거래번호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발급 ①</a:t>
            </a:r>
          </a:p>
        </p:txBody>
      </p:sp>
      <p:sp>
        <p:nvSpPr>
          <p:cNvPr id="35" name="도식 상자"/>
          <p:cNvSpPr/>
          <p:nvPr/>
        </p:nvSpPr>
        <p:spPr>
          <a:xfrm>
            <a:off x="1746504" y="455371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transNo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token 발급</a:t>
            </a:r>
          </a:p>
        </p:txBody>
      </p:sp>
      <p:cxnSp>
        <p:nvCxnSpPr>
          <p:cNvPr id="36" name="도식 연결선"/>
          <p:cNvCxnSpPr/>
          <p:nvPr/>
        </p:nvCxnSpPr>
        <p:spPr>
          <a:xfrm>
            <a:off x="2313432" y="2944368"/>
            <a:ext cx="0" cy="877823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도식 연결선"/>
          <p:cNvCxnSpPr/>
          <p:nvPr/>
        </p:nvCxnSpPr>
        <p:spPr>
          <a:xfrm>
            <a:off x="2313432" y="4407407"/>
            <a:ext cx="0" cy="146305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도식 상자"/>
          <p:cNvSpPr/>
          <p:nvPr/>
        </p:nvSpPr>
        <p:spPr>
          <a:xfrm>
            <a:off x="2990088" y="3090672"/>
            <a:ext cx="1133856" cy="585216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모듈 표시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transNo 전달</a:t>
            </a:r>
          </a:p>
        </p:txBody>
      </p:sp>
      <p:sp>
        <p:nvSpPr>
          <p:cNvPr id="39" name="도식 상자"/>
          <p:cNvSpPr/>
          <p:nvPr/>
        </p:nvSpPr>
        <p:spPr>
          <a:xfrm>
            <a:off x="2990088" y="455371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선택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약관 동의</a:t>
            </a:r>
          </a:p>
        </p:txBody>
      </p:sp>
      <p:sp>
        <p:nvSpPr>
          <p:cNvPr id="40" name="도식 상자"/>
          <p:cNvSpPr/>
          <p:nvPr/>
        </p:nvSpPr>
        <p:spPr>
          <a:xfrm>
            <a:off x="2990088" y="5285232"/>
            <a:ext cx="1133856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앱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본인 카드 인증</a:t>
            </a:r>
          </a:p>
        </p:txBody>
      </p:sp>
      <p:cxnSp>
        <p:nvCxnSpPr>
          <p:cNvPr id="41" name="도식 연결선"/>
          <p:cNvCxnSpPr/>
          <p:nvPr/>
        </p:nvCxnSpPr>
        <p:spPr>
          <a:xfrm>
            <a:off x="3557016" y="3675887"/>
            <a:ext cx="0" cy="877825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도식 연결선"/>
          <p:cNvCxnSpPr/>
          <p:nvPr/>
        </p:nvCxnSpPr>
        <p:spPr>
          <a:xfrm>
            <a:off x="3557016" y="5138928"/>
            <a:ext cx="0" cy="14630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도식 상자"/>
          <p:cNvSpPr/>
          <p:nvPr/>
        </p:nvSpPr>
        <p:spPr>
          <a:xfrm>
            <a:off x="4233672" y="309067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0000 수신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서버에 알림</a:t>
            </a:r>
          </a:p>
        </p:txBody>
      </p:sp>
      <p:sp>
        <p:nvSpPr>
          <p:cNvPr id="44" name="도식 상자"/>
          <p:cNvSpPr/>
          <p:nvPr/>
        </p:nvSpPr>
        <p:spPr>
          <a:xfrm>
            <a:off x="4233672" y="3822191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결과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조회 ②</a:t>
            </a:r>
          </a:p>
        </p:txBody>
      </p:sp>
      <p:sp>
        <p:nvSpPr>
          <p:cNvPr id="45" name="도식 상자"/>
          <p:cNvSpPr/>
          <p:nvPr/>
        </p:nvSpPr>
        <p:spPr>
          <a:xfrm>
            <a:off x="4233672" y="455371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ci · 회원 정보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제공</a:t>
            </a:r>
          </a:p>
        </p:txBody>
      </p:sp>
      <p:cxnSp>
        <p:nvCxnSpPr>
          <p:cNvPr id="46" name="도식 연결선"/>
          <p:cNvCxnSpPr/>
          <p:nvPr/>
        </p:nvCxnSpPr>
        <p:spPr>
          <a:xfrm>
            <a:off x="4800600" y="3675887"/>
            <a:ext cx="0" cy="14630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도식 연결선"/>
          <p:cNvCxnSpPr/>
          <p:nvPr/>
        </p:nvCxnSpPr>
        <p:spPr>
          <a:xfrm>
            <a:off x="4800600" y="4407407"/>
            <a:ext cx="0" cy="146305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도식 상자"/>
          <p:cNvSpPr/>
          <p:nvPr/>
        </p:nvSpPr>
        <p:spPr>
          <a:xfrm>
            <a:off x="5477255" y="3822191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CI 계정 확인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로그인 · 가입</a:t>
            </a:r>
          </a:p>
        </p:txBody>
      </p:sp>
      <p:sp>
        <p:nvSpPr>
          <p:cNvPr id="49" name="도식 상자"/>
          <p:cNvSpPr/>
          <p:nvPr/>
        </p:nvSpPr>
        <p:spPr>
          <a:xfrm>
            <a:off x="5477255" y="235915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주문 화면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복귀</a:t>
            </a:r>
          </a:p>
        </p:txBody>
      </p:sp>
      <p:cxnSp>
        <p:nvCxnSpPr>
          <p:cNvPr id="50" name="도식 연결선"/>
          <p:cNvCxnSpPr/>
          <p:nvPr/>
        </p:nvCxnSpPr>
        <p:spPr>
          <a:xfrm flipV="1">
            <a:off x="6044183" y="2944368"/>
            <a:ext cx="0" cy="877823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도식 상자"/>
          <p:cNvSpPr/>
          <p:nvPr/>
        </p:nvSpPr>
        <p:spPr>
          <a:xfrm>
            <a:off x="6720840" y="309067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주문하기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계정 표시</a:t>
            </a:r>
          </a:p>
        </p:txBody>
      </p:sp>
      <p:sp>
        <p:nvSpPr>
          <p:cNvPr id="52" name="도식 상자"/>
          <p:cNvSpPr/>
          <p:nvPr/>
        </p:nvSpPr>
        <p:spPr>
          <a:xfrm>
            <a:off x="6720840" y="3822191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계정 목록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조회 ①</a:t>
            </a:r>
          </a:p>
        </p:txBody>
      </p:sp>
      <p:sp>
        <p:nvSpPr>
          <p:cNvPr id="53" name="도식 상자"/>
          <p:cNvSpPr/>
          <p:nvPr/>
        </p:nvSpPr>
        <p:spPr>
          <a:xfrm>
            <a:off x="6720840" y="455371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cardList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제공</a:t>
            </a:r>
          </a:p>
        </p:txBody>
      </p:sp>
      <p:cxnSp>
        <p:nvCxnSpPr>
          <p:cNvPr id="54" name="도식 연결선"/>
          <p:cNvCxnSpPr/>
          <p:nvPr/>
        </p:nvCxnSpPr>
        <p:spPr>
          <a:xfrm>
            <a:off x="7287768" y="3675887"/>
            <a:ext cx="0" cy="14630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도식 연결선"/>
          <p:cNvCxnSpPr/>
          <p:nvPr/>
        </p:nvCxnSpPr>
        <p:spPr>
          <a:xfrm>
            <a:off x="7287768" y="4407407"/>
            <a:ext cx="0" cy="146305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도식 상자"/>
          <p:cNvSpPr/>
          <p:nvPr/>
        </p:nvSpPr>
        <p:spPr>
          <a:xfrm>
            <a:off x="7964424" y="309067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밀어서 결제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payType 전달</a:t>
            </a:r>
          </a:p>
        </p:txBody>
      </p:sp>
      <p:sp>
        <p:nvSpPr>
          <p:cNvPr id="57" name="도식 상자"/>
          <p:cNvSpPr/>
          <p:nvPr/>
        </p:nvSpPr>
        <p:spPr>
          <a:xfrm>
            <a:off x="7964424" y="3822191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결제 거래번호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발급 ②</a:t>
            </a:r>
          </a:p>
        </p:txBody>
      </p:sp>
      <p:sp>
        <p:nvSpPr>
          <p:cNvPr id="58" name="도식 상자"/>
          <p:cNvSpPr/>
          <p:nvPr/>
        </p:nvSpPr>
        <p:spPr>
          <a:xfrm>
            <a:off x="7964424" y="455371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tid · authYN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발급</a:t>
            </a:r>
          </a:p>
        </p:txBody>
      </p:sp>
      <p:cxnSp>
        <p:nvCxnSpPr>
          <p:cNvPr id="59" name="도식 연결선"/>
          <p:cNvCxnSpPr/>
          <p:nvPr/>
        </p:nvCxnSpPr>
        <p:spPr>
          <a:xfrm>
            <a:off x="8531352" y="3675887"/>
            <a:ext cx="0" cy="14630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도식 연결선"/>
          <p:cNvCxnSpPr/>
          <p:nvPr/>
        </p:nvCxnSpPr>
        <p:spPr>
          <a:xfrm>
            <a:off x="8531352" y="4407407"/>
            <a:ext cx="0" cy="146305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도식 상자"/>
          <p:cNvSpPr/>
          <p:nvPr/>
        </p:nvSpPr>
        <p:spPr>
          <a:xfrm>
            <a:off x="9208008" y="3090672"/>
            <a:ext cx="1133856" cy="585216"/>
          </a:xfrm>
          <a:prstGeom prst="rect">
            <a:avLst/>
          </a:prstGeom>
          <a:solidFill>
            <a:srgbClr val="FDECEC"/>
          </a:solidFill>
          <a:ln w="158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authYN=N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인증 모듈(tid)</a:t>
            </a:r>
          </a:p>
        </p:txBody>
      </p:sp>
      <p:sp>
        <p:nvSpPr>
          <p:cNvPr id="62" name="도식 상자"/>
          <p:cNvSpPr/>
          <p:nvPr/>
        </p:nvSpPr>
        <p:spPr>
          <a:xfrm>
            <a:off x="9208008" y="5285232"/>
            <a:ext cx="1133856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카드사 앱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카드 인증</a:t>
            </a:r>
          </a:p>
        </p:txBody>
      </p:sp>
      <p:cxnSp>
        <p:nvCxnSpPr>
          <p:cNvPr id="63" name="도식 연결선"/>
          <p:cNvCxnSpPr/>
          <p:nvPr/>
        </p:nvCxnSpPr>
        <p:spPr>
          <a:xfrm>
            <a:off x="9774936" y="3675887"/>
            <a:ext cx="0" cy="1609345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도식 상자"/>
          <p:cNvSpPr/>
          <p:nvPr/>
        </p:nvSpPr>
        <p:spPr>
          <a:xfrm>
            <a:off x="10451592" y="3822191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인증 결과 ③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승인 ④</a:t>
            </a:r>
          </a:p>
        </p:txBody>
      </p:sp>
      <p:sp>
        <p:nvSpPr>
          <p:cNvPr id="65" name="도식 상자"/>
          <p:cNvSpPr/>
          <p:nvPr/>
        </p:nvSpPr>
        <p:spPr>
          <a:xfrm>
            <a:off x="10451592" y="455371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승인 대행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approvalNo</a:t>
            </a:r>
          </a:p>
        </p:txBody>
      </p:sp>
      <p:sp>
        <p:nvSpPr>
          <p:cNvPr id="66" name="도식 상자"/>
          <p:cNvSpPr/>
          <p:nvPr/>
        </p:nvSpPr>
        <p:spPr>
          <a:xfrm>
            <a:off x="10451592" y="5285232"/>
            <a:ext cx="1133856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승인 등록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결제대행사</a:t>
            </a:r>
          </a:p>
        </p:txBody>
      </p:sp>
      <p:sp>
        <p:nvSpPr>
          <p:cNvPr id="67" name="도식 상자"/>
          <p:cNvSpPr/>
          <p:nvPr/>
        </p:nvSpPr>
        <p:spPr>
          <a:xfrm>
            <a:off x="10451592" y="3090672"/>
            <a:ext cx="1133856" cy="585216"/>
          </a:xfrm>
          <a:prstGeom prst="rect">
            <a:avLst/>
          </a:prstGeom>
          <a:solidFill>
            <a:srgbClr val="F3EEE8"/>
          </a:solidFill>
          <a:ln w="9525">
            <a:solidFill>
              <a:srgbClr val="C9BB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/>
          <a:lstStyle/>
          <a:p>
            <a:pPr algn="ctr"/>
            <a:r>
              <a:rPr sz="1050" b="1">
                <a:solidFill>
                  <a:srgbClr val="2E241D"/>
                </a:solidFill>
                <a:latin typeface="Malgun Gothic"/>
                <a:ea typeface="Malgun Gothic"/>
                <a:cs typeface="Malgun Gothic"/>
              </a:rPr>
              <a:t>주문 완료</a:t>
            </a:r>
          </a:p>
          <a:p>
            <a:pPr algn="ctr"/>
            <a:r>
              <a:rPr sz="95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주문 결과</a:t>
            </a:r>
          </a:p>
        </p:txBody>
      </p:sp>
      <p:cxnSp>
        <p:nvCxnSpPr>
          <p:cNvPr id="68" name="도식 연결선"/>
          <p:cNvCxnSpPr/>
          <p:nvPr/>
        </p:nvCxnSpPr>
        <p:spPr>
          <a:xfrm>
            <a:off x="11018520" y="4407407"/>
            <a:ext cx="0" cy="146305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도식 연결선"/>
          <p:cNvCxnSpPr/>
          <p:nvPr/>
        </p:nvCxnSpPr>
        <p:spPr>
          <a:xfrm>
            <a:off x="11018520" y="5138928"/>
            <a:ext cx="0" cy="14630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도식 연결선"/>
          <p:cNvCxnSpPr/>
          <p:nvPr/>
        </p:nvCxnSpPr>
        <p:spPr>
          <a:xfrm flipV="1">
            <a:off x="11018520" y="3675887"/>
            <a:ext cx="0" cy="146304"/>
          </a:xfrm>
          <a:prstGeom prst="line">
            <a:avLst/>
          </a:prstGeom>
          <a:ln w="15875">
            <a:solidFill>
              <a:srgbClr val="7A6A5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본문"/>
          <p:cNvSpPr txBox="1"/>
          <p:nvPr/>
        </p:nvSpPr>
        <p:spPr>
          <a:xfrm>
            <a:off x="548640" y="5998464"/>
            <a:ext cx="11091672" cy="2016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7단계는 authYN=N일 때만 거치고, 주문 생성에 실패하면 승인 취소 ⑤, 승인 응답이 없으면 거래 상태 조회 ⑥을 부름</a:t>
            </a:r>
          </a:p>
        </p:txBody>
      </p:sp>
      <p:sp>
        <p:nvSpPr>
          <p:cNvPr id="72" name="출처"/>
          <p:cNvSpPr txBox="1"/>
          <p:nvPr/>
        </p:nvSpPr>
        <p:spPr>
          <a:xfrm>
            <a:off x="548640" y="6419088"/>
            <a:ext cx="9966960" cy="1851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>
                <a:solidFill>
                  <a:srgbClr val="7A6A5E"/>
                </a:solidFill>
                <a:latin typeface="Malgun Gothic"/>
                <a:ea typeface="Malgun Gothic"/>
                <a:cs typeface="Malgun Gothic"/>
              </a:rPr>
              <a:t>※ API 번호(로그인 ① · ② / 결제 ①~⑥ / 카드 관리 ①)는 39장 핏콜라보 API 9종 목록 기준입니다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19388</Words>
  <Application>Microsoft Office PowerPoint</Application>
  <PresentationFormat>와이드스크린</PresentationFormat>
  <Paragraphs>3117</Paragraphs>
  <Slides>88</Slides>
  <Notes>88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88</vt:i4>
      </vt:variant>
    </vt:vector>
  </HeadingPairs>
  <TitlesOfParts>
    <vt:vector size="92" baseType="lpstr">
      <vt:lpstr>맑은 고딕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메가MGC커피 앱카드 연동 통합본 v0.2</dc:title>
  <dc:subject>PptxGenJS Presentation</dc:subject>
  <dc:creator>PptxGenJS</dc:creator>
  <cp:lastModifiedBy>문 진승</cp:lastModifiedBy>
  <cp:revision>2</cp:revision>
  <dcterms:created xsi:type="dcterms:W3CDTF">2026-10-21T02:05:18Z</dcterms:created>
  <dcterms:modified xsi:type="dcterms:W3CDTF">2026-10-26T07:06:22Z</dcterms:modified>
</cp:coreProperties>
</file>