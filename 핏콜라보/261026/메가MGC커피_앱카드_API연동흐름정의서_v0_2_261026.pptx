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결제대행사 구분값(pgType)에 CJ ONS(OnePG) 추가는 핏콜라보 회신 대기, OnePG 쪽 범위는 CJ ONS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인증 거래번호(transNo, 16자)는 로그인 6.1.3 「앱카드 인증 거래번호」, 결제 거래번호(tid, 20자)는 결제 6.4.3 「앱카드 결제 거래번호」. 만료 코드: transNo 1200(모듈 2.0.4 · 연동 요약서, 기본 5분), tid 1403(간편결제 7장). 로그인 1.2.8 8장의 1200은 「tid 조회 실패」로 의미가 다름.</a:t>
            </a:r>
          </a:p>
          <a:p>
            <a:r>
              <a:t>규격 API 목록과 본문 이름이 다른 계정 목록 조회는 본문 기준(목록 getPayCardInfos.mv) [확인필요(핏콜라보)].</a:t>
            </a:r>
          </a:p>
          <a:p>
            <a:r>
              <a:t>회원번호(storeUserNo) · 주문자 이름(userName)은 어느 API에도 보내지 않고, 고객 식별은 ci로만 한다.</a:t>
            </a:r>
          </a:p>
          <a:p>
            <a:r>
              <a:t>조회 구분 값이 다름: 계정 목록 조회 userType 1 = CI, 카드관리 데이터 적재 userType 0 = 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앱카드는 신규 가입 수단이며, 같은 CI 계정이 있으면 가입 수단과 관계없이 그 계정으로 로그인한다.</a:t>
            </a:r>
          </a:p>
          <a:p>
            <a:r>
              <a:t>신규 가입은 휴대폰 번호 가입과 같은 가입 판정(탈퇴 30일 · 오프라인 스탬프 매칭 · 휴대폰번호 · 만 14세)을 거친다. 근거: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로그인 유지는 메가MGC커피 자체 토큰으로 하므로 핏콜라보로 결과를 알리는 단계는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받는 개인정보 범위는 계약 별표2(2026-09-21) 기준.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authYN(결제 6.4.3): Y 바로 승인 · N 인증 모듈 인증 후 승인.</a:t>
            </a:r>
          </a:p>
          <a:p>
            <a:r>
              <a:t>결제 확인 방식은 밀어서 결제로 통일(앱카드 결제에만 적용, 생체인증 · 비밀번호 미적용).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결제대행사 구분값(pgType)에 CJ ONS가 없어 15번의 연동 방식 · 주체는 핏콜라보 회신 대기.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
호출 경로 · 키값은 위 원본과 대조함. 하이브리드 앱이므로 인증 모듈 호출값 nativeYN=N.
Native = 앱 네이티브 화면, Webview = 앱 안에서 여는 웹 화면.
주기 작업 실행 간격은 CJ ONS 설계 [확인필요(CJ ONS)].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취소 요청 경로: 고객(주문완료 상태) · 매장 · 에이전트 자동 취소 · 상담원 · 선물 결제 취소, 선불카드 충전 실패. 예약 상품 미수령 폐기는 결제금액을 환불하지 않으므로 취소를 요청하지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표준 API 연동규격서 v1.2.8 · 간편결제 표준 API 연동규격서 1.3.6 · 메가MGC커피 인증 모듈 연동규격서 v2.1.2 · 메가MGC커피 로그인·결제 연동 가이드(20261008) · 연동 요약서(20261008) · 결제대행사 중계 규격(251125).</a:t>
            </a:r>
          </a:p>
          <a:p>
            <a:r>
              <a:t>호출 경로 · 키값은 위 원본과 대조함. 하이브리드 앱이므로 인증 모듈 호출값 nativeYN=N.</a:t>
            </a:r>
          </a:p>
          <a:p>
            <a:r>
              <a:t>Native = 앱 네이티브 화면, Webview = 앱 안에서 여는 웹 화면.</a:t>
            </a:r>
          </a:p>
          <a:p>
            <a:r>
              <a:t>카드관리 페이지는 iframe이 아닌 웹 화면 이동으로 연다(연동 가이드 3-6). Android 복귀 통지는 카드관리 페이지가 처리.</a:t>
            </a:r>
          </a:p>
          <a:p>
            <a:r>
              <a:t>데이터 적재에는 storeUserNo(회원번호)를 보내지 않는다(핏콜라보 회신).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API 연동 흐름 정의서 v0.2</a:t>
            </a:r>
            <a:endParaRPr lang="ko-KR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결제 API 연동 흐름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6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흐름별 흐름도와 송수신 다이어그램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 · 기준 규격 로그인 1.2.8 · 간편결제 1.3.6 · 인증 모듈 2.1.2</a:t>
            </a:r>
            <a:endParaRPr lang="ko-KR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흐름마다 흐름도 → 송수신 다이어그램 → 송수신 항목 순서로 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흐름도는 고객 행동과 판단을, 송수신 다이어그램은 누가 누구에게 무엇을 보내는지를 보여 줍니다.</a:t>
            </a:r>
            <a:endParaRPr lang="ko-KR" sz="1300" dirty="0"/>
          </a:p>
        </p:txBody>
      </p:sp>
      <p:graphicFrame>
        <p:nvGraphicFramePr>
          <p:cNvPr id="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4782312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관점에서 볼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구성 요소, 유스케이스, API 9종과 호출명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spc="-1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 구분, 호출 주체, API 번호 체계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· 가입, 로그인 API ① · ②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시간, CI 계정 확인, 주문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앱카드 결제, 결제 API ①~⑥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분기, 승인 무응답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15~18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취소, 결과 미확인 거래 정리, 등록 카드 관리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경로, 카드관리 페이지 진입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네이티브 화면: 로그인 수단 선택, 전체메뉴, 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안에서 여는 웹 화면: 브릿지 페이지, 본인인증 · 약관, 주문하기, 주문 결과, 메가퀵결제, 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API(호출명)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소괄호 안은 호출명, 전체 경로 · 서버 · 주요 값은 API 목록 장(예: /prepay/requestTid.mv · 결제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로그인용 16자: reqTransNo.mv(로그인 6.1)로 발급, 모듈 호출(모듈 4.1) · 인증 결과 조회에 사용, 만료 1200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거래번호(tid)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결제용 20자: requestTid.mv(결제 6.4)로 발급, 모듈 호출(모듈 4.2) · 결제 ③~⑥에 사용, 만료 1403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971032"/>
            <a:ext cx="45720" cy="219456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핵심 문장 요약"/>
          <p:cNvSpPr txBox="1"/>
          <p:nvPr/>
        </p:nvSpPr>
        <p:spPr>
          <a:xfrm>
            <a:off x="731520" y="58978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거래번호와 결제 거래번호는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값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이며, 번호와 호출명은 모든 장에서 같은 API를 가리킵니다</a:t>
            </a:r>
            <a:endParaRPr lang="ko-KR" sz="1500" dirty="0"/>
          </a:p>
        </p:txBody>
      </p:sp>
      <p:sp>
        <p:nvSpPr>
          <p:cNvPr id="10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18</a:t>
            </a:r>
            <a:endParaRPr lang="ko-KR" sz="900" dirty="0"/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구성 요소, 유스케이스, API 9종과 호출명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핏콜라보 호출은 메가MGC커피 서버가, Webview는 거래번호(transNo · tid)만 다룹니다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고객 · 매장 · 주기 작업이 쓰는 유스케이스는 6개입니다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메가MGC커피 서버가 부르는 핏콜라보 API는 9종입니다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18</a:t>
            </a:r>
            <a:endParaRPr lang="ko-KR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호출은 메가MGC커피 서버가, Webview는 거래번호만 다룹니다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수단 선택과 전체메뉴뿐이고, 인증 · 결제 · 카드 관리는 모두 Webview입니다.</a:t>
            </a:r>
            <a:endParaRPr lang="ko-KR" sz="1300" dirty="0"/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00754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5833872"/>
                <a:gridCol w="1874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선택(앱카드 버튼), 전체메뉴, 로그인 토큰 받아 화면 이동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버튼에서 열려 인증 모듈 호출을 준비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컴포넌트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거래번호(transNo) · 결제 거래번호(tid)로 인증 모듈 호출, 결과 코드 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선택과 카드사 앱 인증, 결과 코드 0000~0003 반환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 후 복귀(Android는 포커스 전달, iOS는 모듈이 감지)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API 9종 호출, token · reqToken 보관, CI 계정 확인, 주문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결제 거래번호 발급, 인증 결과 제공, 승인 대행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조회 · 등록 · 삭제(sessionKey로 진입, 닫으면 redirectUrl 복귀)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7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승인 등록 수신, 정산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범위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token · reqToken은 메가MGC커피 서버에만 보관하고, Webview에는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18</a:t>
            </a:r>
            <a:endParaRPr 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 · 주기 작업이 쓰는 유스케이스는 6개입니다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가운데 틀은 메가MGC커피 앱(Native · Webview)과 서버가 맡는 범위이고, 오른쪽은 연동하는 외부 시스템입니다.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2880360" y="1783080"/>
            <a:ext cx="6428232" cy="4480560"/>
          </a:xfrm>
          <a:prstGeom prst="rect">
            <a:avLst/>
          </a:prstGeom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7" name="범위 이름"/>
          <p:cNvSpPr txBox="1"/>
          <p:nvPr/>
        </p:nvSpPr>
        <p:spPr>
          <a:xfrm>
            <a:off x="2990088" y="18562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앱(Native · Webview) · 메가MGC커피 서버</a:t>
            </a:r>
            <a:endParaRPr lang="ko-KR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7157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9" name="참여자"/>
          <p:cNvSpPr txBox="1"/>
          <p:nvPr/>
        </p:nvSpPr>
        <p:spPr>
          <a:xfrm>
            <a:off x="603504" y="27432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31596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참여자"/>
          <p:cNvSpPr txBox="1"/>
          <p:nvPr/>
        </p:nvSpPr>
        <p:spPr>
          <a:xfrm>
            <a:off x="603504" y="4343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</a:t>
            </a:r>
            <a:endParaRPr lang="ko-KR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276088"/>
            <a:ext cx="1737360" cy="512064"/>
          </a:xfrm>
          <a:prstGeom prst="roundRect">
            <a:avLst>
              <a:gd name="adj" fmla="val 17857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3" name="참여자"/>
          <p:cNvSpPr txBox="1"/>
          <p:nvPr/>
        </p:nvSpPr>
        <p:spPr>
          <a:xfrm>
            <a:off x="603504" y="530352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(메가MGC커피 서버)</a:t>
            </a:r>
            <a:endParaRPr lang="ko-KR" sz="1100" dirty="0"/>
          </a:p>
        </p:txBody>
      </p:sp>
      <p:sp>
        <p:nvSpPr>
          <p:cNvPr id="14" name="Shape 11"/>
          <p:cNvSpPr/>
          <p:nvPr/>
        </p:nvSpPr>
        <p:spPr>
          <a:xfrm>
            <a:off x="9902952" y="248716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5" name="참여자"/>
          <p:cNvSpPr txBox="1"/>
          <p:nvPr/>
        </p:nvSpPr>
        <p:spPr>
          <a:xfrm>
            <a:off x="9957816" y="25146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9902952" y="358444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9957816" y="361188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9902952" y="4681728"/>
            <a:ext cx="17373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9957816" y="470916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 flipV="1">
            <a:off x="2286000" y="2560320"/>
            <a:ext cx="1234440" cy="4114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668512" y="256032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8512" y="2560320"/>
            <a:ext cx="1234440" cy="12801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2286000" y="297180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2286000" y="2971800"/>
            <a:ext cx="1234440" cy="8686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 flipV="1">
            <a:off x="8668512" y="274320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8668512" y="3840480"/>
            <a:ext cx="1234440" cy="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8668512" y="3840480"/>
            <a:ext cx="1234440" cy="10972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2286000" y="2971800"/>
            <a:ext cx="1234440" cy="15087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 flipV="1">
            <a:off x="8668512" y="2743200"/>
            <a:ext cx="1234440" cy="17373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 flipV="1">
            <a:off x="8668512" y="3840480"/>
            <a:ext cx="1234440" cy="6400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286000" y="2971800"/>
            <a:ext cx="1234440" cy="21488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2286000" y="4572000"/>
            <a:ext cx="1234440" cy="5486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 flipV="1">
            <a:off x="8668512" y="2743200"/>
            <a:ext cx="1234440" cy="237744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 flipV="1">
            <a:off x="8668512" y="4937760"/>
            <a:ext cx="1234440" cy="18288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2286000" y="5532120"/>
            <a:ext cx="1234440" cy="22860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 flipV="1">
            <a:off x="8668512" y="2743200"/>
            <a:ext cx="1234440" cy="301752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 flipV="1">
            <a:off x="8668512" y="4937760"/>
            <a:ext cx="1234440" cy="822960"/>
          </a:xfrm>
          <a:prstGeom prst="line">
            <a:avLst/>
          </a:prstGeom>
          <a:noFill/>
          <a:ln w="9525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8" name="Shape 35"/>
          <p:cNvSpPr/>
          <p:nvPr/>
        </p:nvSpPr>
        <p:spPr>
          <a:xfrm>
            <a:off x="3520440" y="23317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9" name="유스케이스"/>
          <p:cNvSpPr txBox="1"/>
          <p:nvPr/>
        </p:nvSpPr>
        <p:spPr>
          <a:xfrm>
            <a:off x="3794760" y="2377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앱카드로 가입 · 로그인</a:t>
            </a:r>
            <a:endParaRPr lang="ko-KR" sz="1200" dirty="0"/>
          </a:p>
        </p:txBody>
      </p:sp>
      <p:sp>
        <p:nvSpPr>
          <p:cNvPr id="40" name="유스케이스 API"/>
          <p:cNvSpPr txBox="1"/>
          <p:nvPr/>
        </p:nvSpPr>
        <p:spPr>
          <a:xfrm>
            <a:off x="7040880" y="2377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① · ②</a:t>
            </a:r>
            <a:endParaRPr lang="ko-KR" sz="1050" dirty="0"/>
          </a:p>
        </p:txBody>
      </p:sp>
      <p:sp>
        <p:nvSpPr>
          <p:cNvPr id="41" name="Shape 38"/>
          <p:cNvSpPr/>
          <p:nvPr/>
        </p:nvSpPr>
        <p:spPr>
          <a:xfrm>
            <a:off x="3520440" y="297180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2" name="유스케이스"/>
          <p:cNvSpPr txBox="1"/>
          <p:nvPr/>
        </p:nvSpPr>
        <p:spPr>
          <a:xfrm>
            <a:off x="3794760" y="30175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진행 중이던 주문으로 복귀</a:t>
            </a:r>
            <a:endParaRPr lang="ko-KR" sz="1200" dirty="0"/>
          </a:p>
        </p:txBody>
      </p:sp>
      <p:sp>
        <p:nvSpPr>
          <p:cNvPr id="43" name="유스케이스 API"/>
          <p:cNvSpPr txBox="1"/>
          <p:nvPr/>
        </p:nvSpPr>
        <p:spPr>
          <a:xfrm>
            <a:off x="7040880" y="30175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후 화면 이동</a:t>
            </a:r>
            <a:endParaRPr lang="ko-KR" sz="1050" dirty="0"/>
          </a:p>
        </p:txBody>
      </p:sp>
      <p:sp>
        <p:nvSpPr>
          <p:cNvPr id="44" name="Shape 41"/>
          <p:cNvSpPr/>
          <p:nvPr/>
        </p:nvSpPr>
        <p:spPr>
          <a:xfrm>
            <a:off x="3520440" y="361188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5" name="유스케이스"/>
          <p:cNvSpPr txBox="1"/>
          <p:nvPr/>
        </p:nvSpPr>
        <p:spPr>
          <a:xfrm>
            <a:off x="3794760" y="36576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결제(원클릭 · 인증 결제)</a:t>
            </a:r>
            <a:endParaRPr lang="ko-KR" sz="1200" dirty="0"/>
          </a:p>
        </p:txBody>
      </p:sp>
      <p:sp>
        <p:nvSpPr>
          <p:cNvPr id="46" name="유스케이스 API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①~④ · ⑥</a:t>
            </a:r>
            <a:endParaRPr lang="ko-KR" sz="1050" dirty="0"/>
          </a:p>
        </p:txBody>
      </p:sp>
      <p:sp>
        <p:nvSpPr>
          <p:cNvPr id="47" name="Shape 44"/>
          <p:cNvSpPr/>
          <p:nvPr/>
        </p:nvSpPr>
        <p:spPr>
          <a:xfrm>
            <a:off x="3520440" y="425196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유스케이스"/>
          <p:cNvSpPr txBox="1"/>
          <p:nvPr/>
        </p:nvSpPr>
        <p:spPr>
          <a:xfrm>
            <a:off x="3794760" y="429768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카드 조회 · 추가 · 삭제</a:t>
            </a:r>
            <a:endParaRPr lang="ko-KR" sz="1200" dirty="0"/>
          </a:p>
        </p:txBody>
      </p:sp>
      <p:sp>
        <p:nvSpPr>
          <p:cNvPr id="49" name="유스케이스 API"/>
          <p:cNvSpPr txBox="1"/>
          <p:nvPr/>
        </p:nvSpPr>
        <p:spPr>
          <a:xfrm>
            <a:off x="7040880" y="4297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①</a:t>
            </a:r>
            <a:endParaRPr lang="ko-KR" sz="1050" dirty="0"/>
          </a:p>
        </p:txBody>
      </p:sp>
      <p:sp>
        <p:nvSpPr>
          <p:cNvPr id="50" name="Shape 47"/>
          <p:cNvSpPr/>
          <p:nvPr/>
        </p:nvSpPr>
        <p:spPr>
          <a:xfrm>
            <a:off x="3520440" y="489204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1" name="유스케이스"/>
          <p:cNvSpPr txBox="1"/>
          <p:nvPr/>
        </p:nvSpPr>
        <p:spPr>
          <a:xfrm>
            <a:off x="3794760" y="49377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취소(전체)</a:t>
            </a:r>
            <a:endParaRPr lang="ko-KR" sz="1200" dirty="0"/>
          </a:p>
        </p:txBody>
      </p:sp>
      <p:sp>
        <p:nvSpPr>
          <p:cNvPr id="52" name="유스케이스 API"/>
          <p:cNvSpPr txBox="1"/>
          <p:nvPr/>
        </p:nvSpPr>
        <p:spPr>
          <a:xfrm>
            <a:off x="704088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⑤</a:t>
            </a:r>
            <a:endParaRPr lang="ko-KR" sz="1050" dirty="0"/>
          </a:p>
        </p:txBody>
      </p:sp>
      <p:sp>
        <p:nvSpPr>
          <p:cNvPr id="53" name="Shape 50"/>
          <p:cNvSpPr/>
          <p:nvPr/>
        </p:nvSpPr>
        <p:spPr>
          <a:xfrm>
            <a:off x="3520440" y="5532120"/>
            <a:ext cx="5148072" cy="457200"/>
          </a:xfrm>
          <a:prstGeom prst="roundRect">
            <a:avLst>
              <a:gd name="adj" fmla="val 50000"/>
            </a:avLst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4" name="유스케이스"/>
          <p:cNvSpPr txBox="1"/>
          <p:nvPr/>
        </p:nvSpPr>
        <p:spPr>
          <a:xfrm>
            <a:off x="379476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</a:t>
            </a:r>
            <a:endParaRPr lang="ko-KR" sz="1200" dirty="0"/>
          </a:p>
        </p:txBody>
      </p:sp>
      <p:sp>
        <p:nvSpPr>
          <p:cNvPr id="55" name="유스케이스 API"/>
          <p:cNvSpPr txBox="1"/>
          <p:nvPr/>
        </p:nvSpPr>
        <p:spPr>
          <a:xfrm>
            <a:off x="7040880" y="5577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⑥ · ⑤</a:t>
            </a:r>
            <a:endParaRPr lang="ko-KR" sz="1050" dirty="0"/>
          </a:p>
        </p:txBody>
      </p:sp>
      <p:sp>
        <p:nvSpPr>
          <p:cNvPr id="56" name="Text 5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18</a:t>
            </a:r>
            <a:endParaRPr lang="ko-KR" sz="900" dirty="0"/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부르는 핏콜라보 API는 9종입니다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경로와 키값은 규격서 원본 기준이며, 번호는 모든 장에서 같은 API를 가리킵니다.</a:t>
            </a:r>
            <a:endParaRPr lang="ko-KR" sz="1300" dirty="0"/>
          </a:p>
        </p:txBody>
      </p:sp>
      <p:graphicFrame>
        <p:nvGraphicFramePr>
          <p:cNvPr id="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691640"/>
                <a:gridCol w="2606040"/>
                <a:gridCol w="1600200"/>
                <a:gridCol w="41422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· 규격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값(보냄 → 받음) · 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transType L → transNo · token(30분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 → ci 등,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후 3분 안에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(1500)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 0 · 1 · ci → tid · authYN · reqToken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approvalNo · pgTno,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필수, 전체 취소(type 0)만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→ state · approvalNo · cancelState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userType 0(CI) · redirectUrl → sessionKey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중계 5종(승인 등록 · 취소 등)은 핏콜라보가 결제대행사로 보냅니다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18</a:t>
            </a:r>
            <a:endParaRPr lang="ko-KR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로그인 · 가입, 로그인 API ① · ②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앱카드 인증 뒤 메가MGC커피 서버가 CI로 기존 계정을 찾습니다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로그인 한 번에 메가MGC커피 서버와 핏콜라보가 두 번 주고받습니다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로그인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18</a:t>
            </a:r>
            <a:endParaRPr lang="ko-KR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 뒤 메가MGC커피 서버가 CI로 기존 계정을 찾습니다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로그인 수단 선택부터 홈 또는 주문 화면 복귀까지의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70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71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72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73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74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75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76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77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78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79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80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81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82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휴대폰번호 · 만 14세 판정</a:t>
            </a:r>
          </a:p>
        </p:txBody>
      </p:sp>
      <p:sp>
        <p:nvSpPr>
          <p:cNvPr id="83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84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89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1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94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6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98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0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103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105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Shape 64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결과는 인증 후 3분 안에 조회하고, 같은 CI 계정이 없으면 휴대폰 번호 가입과 같은 가입 판정을 거칩니다</a:t>
            </a:r>
            <a:endParaRPr lang="ko-KR" sz="1500" dirty="0"/>
          </a:p>
        </p:txBody>
      </p:sp>
      <p:sp>
        <p:nvSpPr>
          <p:cNvPr id="69" name="Text 6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18</a:t>
            </a:r>
            <a:endParaRPr lang="ko-KR" sz="900" dirty="0"/>
          </a:p>
        </p:txBody>
      </p:sp>
      <p:sp>
        <p:nvSpPr>
          <p:cNvPr id="108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한 번에 메가MGC커피 서버와 핏콜라보가 두 번 주고받습니다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시간 순서이며, 실선은 요청, 점선은 응답입니다.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(브릿지 · 공통)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7364483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7419347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8002912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187069" y="258775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1232789" y="237744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앱카드 로그인 선택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8049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5946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브릿지 페이지 열기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3913406" y="302209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3959126" y="281178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인증 시작 요청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8002912" y="323926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8048632" y="302895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인증 거래번호 발급 ①(reqTransNo.mv)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 flipH="1">
            <a:off x="8002912" y="34564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8048632" y="32461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transNo · token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3913406" y="367360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3959126" y="346329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transNo만 전달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>
            <a:off x="3913406" y="389077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3959126" y="368046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인증 모듈 호출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276575" y="410794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322295" y="389763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카드사 앱 인증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 flipH="1">
            <a:off x="5276575" y="432511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5322295" y="411480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인증 후 복귀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 flipH="1">
            <a:off x="3913406" y="454228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33197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결과 코드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3913406" y="47594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5491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0000 수신 알림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8002912" y="497662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8048632" y="476631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결과 조회 ②(reqAuthData.mv)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 flipH="1">
            <a:off x="8002912" y="519379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8048632" y="498348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ci · name · phoneNo 등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7262248" y="5292090"/>
            <a:ext cx="1481328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서버 처리"/>
          <p:cNvSpPr txBox="1"/>
          <p:nvPr/>
        </p:nvSpPr>
        <p:spPr>
          <a:xfrm>
            <a:off x="7298824" y="5301234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CI로 계정 확인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 flipH="1">
            <a:off x="3913406" y="5744718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3959126" y="5534406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로그인 처리 결과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 flipH="1">
            <a:off x="2550238" y="5961888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2595958" y="5751576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토큰 전달 · 이동</a:t>
            </a:r>
            <a:endParaRPr lang="ko-KR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18</a:t>
            </a:r>
            <a:endParaRPr lang="ko-KR" sz="900" dirty="0"/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70706"/>
        </p:xfrm>
        <a:graphic>
          <a:graphicData uri="http://schemas.openxmlformats.org/drawingml/2006/table">
            <a:tbl>
              <a:tblPr/>
              <a:tblGrid>
                <a:gridCol w="777240"/>
                <a:gridCol w="2880360"/>
                <a:gridCol w="3291840"/>
                <a:gridCol w="414223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314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호출은 메가MGC커피 서버만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transType(L) → transNo · token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transNo · deviceType · nativeYN=N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token은 메가MGC커피 서버 보관(30분 · 1회용)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후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Android는 복귀 시 포커스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iOS는 인증 모듈이 감지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- 1200 인증 거래번호(transNo) 만료, 기본 5분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token, 3분 초과 1500 ·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28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정보(ci · name · phoneNo 등)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저장: ci · name · phoneNo · 생년 · nation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 8자리는 만 14세 판정에만 사용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gender · email · di 미저장 [확인필요(법무팀)]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CI로 같은 계정이 있으면 그 계정으로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가입 판정 뒤 가입(KCP 생략 · 약관 동의)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처리 결과, 토큰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이동 또는 진행 중이던 주문 화면 복귀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18</a:t>
            </a:r>
            <a:endParaRPr lang="ko-KR" sz="900" dirty="0"/>
          </a:p>
        </p:txBody>
      </p:sp>
      <p:sp>
        <p:nvSpPr>
          <p:cNvPr id="1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 앱카드 결제, 결제 API ①~⑥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결제 거래번호 응답으로 원클릭과 인증 결제가 갈립니다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인증 결제일 때만 인증 모듈과 카드사 앱이 끼어듭니다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결제 송수신 항목과 지켜야 할 규칙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18</a:t>
            </a:r>
            <a:endParaRPr lang="ko-KR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응답으로 원클릭과 인증 결제가 갈립니다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5종(Webview)에서 앱카드를 고르고 결제 전 체크를 통과한 뒤 주문 결과까지의 처리 순서입니다.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180594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5" name="흐름 end"/>
          <p:cNvSpPr txBox="1"/>
          <p:nvPr/>
        </p:nvSpPr>
        <p:spPr>
          <a:xfrm>
            <a:off x="621792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목록 조회 ①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(getPayCardInfo.mv)</a:t>
            </a:r>
            <a:endParaRPr lang="ko-KR" sz="1100" dirty="0"/>
          </a:p>
        </p:txBody>
      </p:sp>
      <p:sp>
        <p:nvSpPr>
          <p:cNvPr id="16" name="Shape 13"/>
          <p:cNvSpPr/>
          <p:nvPr/>
        </p:nvSpPr>
        <p:spPr>
          <a:xfrm>
            <a:off x="2841498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7" name="흐름 proc"/>
          <p:cNvSpPr txBox="1"/>
          <p:nvPr/>
        </p:nvSpPr>
        <p:spPr>
          <a:xfrm>
            <a:off x="2914650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②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(requestTid.mv)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payType 0 기존 · 1 신규</a:t>
            </a:r>
            <a:endParaRPr lang="ko-KR" sz="1100" dirty="0"/>
          </a:p>
        </p:txBody>
      </p:sp>
      <p:sp>
        <p:nvSpPr>
          <p:cNvPr id="18" name="Shape 15"/>
          <p:cNvSpPr/>
          <p:nvPr/>
        </p:nvSpPr>
        <p:spPr>
          <a:xfrm>
            <a:off x="5134356" y="180594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9" name="흐름 dec"/>
          <p:cNvSpPr txBox="1"/>
          <p:nvPr/>
        </p:nvSpPr>
        <p:spPr>
          <a:xfrm>
            <a:off x="5460797" y="191475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필요?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(authYN=N)</a:t>
            </a:r>
            <a:endParaRPr lang="ko-KR" sz="1100" dirty="0"/>
          </a:p>
        </p:txBody>
      </p:sp>
      <p:sp>
        <p:nvSpPr>
          <p:cNvPr id="20" name="Shape 17"/>
          <p:cNvSpPr/>
          <p:nvPr/>
        </p:nvSpPr>
        <p:spPr>
          <a:xfrm>
            <a:off x="7427214" y="180594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흐름 proc"/>
          <p:cNvSpPr txBox="1"/>
          <p:nvPr/>
        </p:nvSpPr>
        <p:spPr>
          <a:xfrm>
            <a:off x="7500366" y="183337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카드사 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(reqAuthDataPay.mv)</a:t>
            </a:r>
            <a:endParaRPr lang="ko-KR" sz="1100" dirty="0"/>
          </a:p>
        </p:txBody>
      </p:sp>
      <p:sp>
        <p:nvSpPr>
          <p:cNvPr id="22" name="Shape 19"/>
          <p:cNvSpPr/>
          <p:nvPr/>
        </p:nvSpPr>
        <p:spPr>
          <a:xfrm>
            <a:off x="5134356" y="29443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3" name="흐름 proc"/>
          <p:cNvSpPr txBox="1"/>
          <p:nvPr/>
        </p:nvSpPr>
        <p:spPr>
          <a:xfrm>
            <a:off x="5207508" y="29718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원클릭(authYN=Y)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화면 생략</a:t>
            </a:r>
            <a:endParaRPr lang="ko-KR" sz="1100" dirty="0"/>
          </a:p>
        </p:txBody>
      </p:sp>
      <p:sp>
        <p:nvSpPr>
          <p:cNvPr id="24" name="Shape 21"/>
          <p:cNvSpPr/>
          <p:nvPr/>
        </p:nvSpPr>
        <p:spPr>
          <a:xfrm>
            <a:off x="7427214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흐름 proc"/>
          <p:cNvSpPr txBox="1"/>
          <p:nvPr/>
        </p:nvSpPr>
        <p:spPr>
          <a:xfrm>
            <a:off x="7500366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 ④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(appcardPayment.mv)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30초~1분 대기</a:t>
            </a:r>
            <a:endParaRPr lang="ko-KR" sz="1100" dirty="0"/>
          </a:p>
        </p:txBody>
      </p:sp>
      <p:sp>
        <p:nvSpPr>
          <p:cNvPr id="26" name="Shape 23"/>
          <p:cNvSpPr/>
          <p:nvPr/>
        </p:nvSpPr>
        <p:spPr>
          <a:xfrm>
            <a:off x="9720072" y="2857500"/>
            <a:ext cx="1920240" cy="77724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7" name="흐름 proc"/>
          <p:cNvSpPr txBox="1"/>
          <p:nvPr/>
        </p:nvSpPr>
        <p:spPr>
          <a:xfrm>
            <a:off x="9793224" y="2884932"/>
            <a:ext cx="17739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없으면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28" name="Shape 25"/>
          <p:cNvSpPr/>
          <p:nvPr/>
        </p:nvSpPr>
        <p:spPr>
          <a:xfrm>
            <a:off x="9720072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9" name="흐름 dec"/>
          <p:cNvSpPr txBox="1"/>
          <p:nvPr/>
        </p:nvSpPr>
        <p:spPr>
          <a:xfrm>
            <a:off x="10046513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30" name="Shape 27"/>
          <p:cNvSpPr/>
          <p:nvPr/>
        </p:nvSpPr>
        <p:spPr>
          <a:xfrm>
            <a:off x="7427214" y="3995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1" name="흐름 proc"/>
          <p:cNvSpPr txBox="1"/>
          <p:nvPr/>
        </p:nvSpPr>
        <p:spPr>
          <a:xfrm>
            <a:off x="7500366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</p:txBody>
      </p:sp>
      <p:sp>
        <p:nvSpPr>
          <p:cNvPr id="32" name="Shape 29"/>
          <p:cNvSpPr/>
          <p:nvPr/>
        </p:nvSpPr>
        <p:spPr>
          <a:xfrm>
            <a:off x="5134356" y="39090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3" name="흐름 dec"/>
          <p:cNvSpPr txBox="1"/>
          <p:nvPr/>
        </p:nvSpPr>
        <p:spPr>
          <a:xfrm>
            <a:off x="5460797" y="40178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성공?</a:t>
            </a:r>
            <a:endParaRPr lang="ko-KR" sz="1100" dirty="0"/>
          </a:p>
        </p:txBody>
      </p:sp>
      <p:sp>
        <p:nvSpPr>
          <p:cNvPr id="34" name="Shape 31"/>
          <p:cNvSpPr/>
          <p:nvPr/>
        </p:nvSpPr>
        <p:spPr>
          <a:xfrm>
            <a:off x="2841498" y="3995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35" name="흐름 end"/>
          <p:cNvSpPr txBox="1"/>
          <p:nvPr/>
        </p:nvSpPr>
        <p:spPr>
          <a:xfrm>
            <a:off x="2914650" y="4023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결과(Webview)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ko-KR" sz="1100" dirty="0"/>
          </a:p>
        </p:txBody>
      </p:sp>
      <p:sp>
        <p:nvSpPr>
          <p:cNvPr id="36" name="Shape 33"/>
          <p:cNvSpPr/>
          <p:nvPr/>
        </p:nvSpPr>
        <p:spPr>
          <a:xfrm>
            <a:off x="5134356" y="500176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37" name="흐름 proc"/>
          <p:cNvSpPr txBox="1"/>
          <p:nvPr/>
        </p:nvSpPr>
        <p:spPr>
          <a:xfrm>
            <a:off x="5207508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38" name="Shape 35"/>
          <p:cNvSpPr/>
          <p:nvPr/>
        </p:nvSpPr>
        <p:spPr>
          <a:xfrm>
            <a:off x="9720072" y="5001768"/>
            <a:ext cx="1920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39" name="흐름 scr"/>
          <p:cNvSpPr txBox="1"/>
          <p:nvPr/>
        </p:nvSpPr>
        <p:spPr>
          <a:xfrm>
            <a:off x="9793224" y="502920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실패 안내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(주문 결과 실패)</a:t>
            </a:r>
            <a:endParaRPr lang="ko-KR" sz="1100" dirty="0"/>
          </a:p>
        </p:txBody>
      </p:sp>
      <p:sp>
        <p:nvSpPr>
          <p:cNvPr id="40" name="Shape 37"/>
          <p:cNvSpPr/>
          <p:nvPr/>
        </p:nvSpPr>
        <p:spPr>
          <a:xfrm>
            <a:off x="2468880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4761738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7054596" y="219456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분기 이름"/>
          <p:cNvSpPr txBox="1"/>
          <p:nvPr/>
        </p:nvSpPr>
        <p:spPr>
          <a:xfrm>
            <a:off x="7100316" y="194767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>
            <a:off x="6094476" y="2583180"/>
            <a:ext cx="0" cy="36118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5" name="분기 이름"/>
          <p:cNvSpPr txBox="1"/>
          <p:nvPr/>
        </p:nvSpPr>
        <p:spPr>
          <a:xfrm>
            <a:off x="6158484" y="260146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8387334" y="258318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4"/>
          <p:cNvSpPr/>
          <p:nvPr/>
        </p:nvSpPr>
        <p:spPr>
          <a:xfrm>
            <a:off x="7054596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Shape 45"/>
          <p:cNvSpPr/>
          <p:nvPr/>
        </p:nvSpPr>
        <p:spPr>
          <a:xfrm>
            <a:off x="9347454" y="324612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6"/>
          <p:cNvSpPr/>
          <p:nvPr/>
        </p:nvSpPr>
        <p:spPr>
          <a:xfrm>
            <a:off x="10680192" y="3634740"/>
            <a:ext cx="0" cy="27432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7"/>
          <p:cNvSpPr/>
          <p:nvPr/>
        </p:nvSpPr>
        <p:spPr>
          <a:xfrm flipH="1">
            <a:off x="9347454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분기 이름"/>
          <p:cNvSpPr txBox="1"/>
          <p:nvPr/>
        </p:nvSpPr>
        <p:spPr>
          <a:xfrm>
            <a:off x="9400032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2" name="Shape 49"/>
          <p:cNvSpPr/>
          <p:nvPr/>
        </p:nvSpPr>
        <p:spPr>
          <a:xfrm>
            <a:off x="10680192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분기 이름"/>
          <p:cNvSpPr txBox="1"/>
          <p:nvPr/>
        </p:nvSpPr>
        <p:spPr>
          <a:xfrm>
            <a:off x="10744200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4" name="Shape 51"/>
          <p:cNvSpPr/>
          <p:nvPr/>
        </p:nvSpPr>
        <p:spPr>
          <a:xfrm flipH="1">
            <a:off x="7054596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 flipH="1">
            <a:off x="4761738" y="42976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4814316" y="40507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686300"/>
            <a:ext cx="0" cy="31546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7045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7054596" y="5303520"/>
            <a:ext cx="266547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보조 설명"/>
          <p:cNvSpPr txBox="1"/>
          <p:nvPr/>
        </p:nvSpPr>
        <p:spPr>
          <a:xfrm>
            <a:off x="548640" y="28803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새 카드(payType 1)는 authYN=N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결제 거래번호(tid) 만료 시 1403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요청은 다시 호출하지 않음</a:t>
            </a:r>
            <a:endParaRPr lang="ko-KR" sz="1100" dirty="0"/>
          </a:p>
        </p:txBody>
      </p:sp>
      <p:sp>
        <p:nvSpPr>
          <p:cNvPr id="61" name="Shape 58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2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없이 거래 상태를 조회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주문이 없으면 승인을 취소합니다</a:t>
            </a:r>
            <a:endParaRPr lang="ko-KR" sz="1500" dirty="0"/>
          </a:p>
        </p:txBody>
      </p:sp>
      <p:sp>
        <p:nvSpPr>
          <p:cNvPr id="63" name="Text 6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18</a:t>
            </a:r>
            <a:endParaRPr lang="ko-KR" sz="900" dirty="0"/>
          </a:p>
        </p:txBody>
      </p:sp>
      <p:sp>
        <p:nvSpPr>
          <p:cNvPr id="6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결제일 때만 인증 모듈과 카드사 앱이 끼어듭니다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안(7~14)은 결제 거래번호 응답이 authYN=N(새 카드 등)일 때만 일어납니다.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276858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1911809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1966673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(결제 화면)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3274977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3329841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4638146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4693010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6001314" y="1783080"/>
            <a:ext cx="1276858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605617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9000285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9055149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0363454" y="1783080"/>
            <a:ext cx="127685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9" name="참여자"/>
          <p:cNvSpPr txBox="1"/>
          <p:nvPr/>
        </p:nvSpPr>
        <p:spPr>
          <a:xfrm>
            <a:off x="10418318" y="1810512"/>
            <a:ext cx="11671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30" name="Shape 27"/>
          <p:cNvSpPr/>
          <p:nvPr/>
        </p:nvSpPr>
        <p:spPr>
          <a:xfrm>
            <a:off x="1187069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550238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3913406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5276575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663974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9638714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6" name="Shape 33"/>
          <p:cNvSpPr/>
          <p:nvPr/>
        </p:nvSpPr>
        <p:spPr>
          <a:xfrm>
            <a:off x="11001883" y="2240280"/>
            <a:ext cx="0" cy="404164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681558" y="3643615"/>
            <a:ext cx="8505797" cy="1708852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8" name="조건 구간"/>
          <p:cNvSpPr txBox="1"/>
          <p:nvPr/>
        </p:nvSpPr>
        <p:spPr>
          <a:xfrm>
            <a:off x="1736422" y="3671047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필요 시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2550238" y="2587752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2595958" y="2377440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결제수단 요청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>
            <a:off x="6639743" y="278354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6685463" y="257322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계정 목록 조회 ①(getPayCardInfo.mv)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>
            <a:off x="1187069" y="297933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1232789" y="276901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앱카드로 결제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2550238" y="317512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6" name="송수신"/>
          <p:cNvSpPr txBox="1"/>
          <p:nvPr/>
        </p:nvSpPr>
        <p:spPr>
          <a:xfrm>
            <a:off x="2595958" y="296480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결제 요청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6639743" y="3370909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6685463" y="3160597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결제 거래번호 발급 ②(requestTid.mv)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6639743" y="356669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6685463" y="335638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tid · authYN · reqToken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 flipH="1">
            <a:off x="2550238" y="3890503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2595958" y="3680191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tid 전달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2550238" y="408629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2595958" y="387598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인증 모듈 호출</a:t>
            </a:r>
            <a:endParaRPr lang="ko-KR" sz="1000" dirty="0"/>
          </a:p>
        </p:txBody>
      </p:sp>
      <p:sp>
        <p:nvSpPr>
          <p:cNvPr id="55" name="Shape 52"/>
          <p:cNvSpPr/>
          <p:nvPr/>
        </p:nvSpPr>
        <p:spPr>
          <a:xfrm>
            <a:off x="3913406" y="428208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송수신"/>
          <p:cNvSpPr txBox="1"/>
          <p:nvPr/>
        </p:nvSpPr>
        <p:spPr>
          <a:xfrm>
            <a:off x="3959126" y="407176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카드사 앱 인증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 flipH="1">
            <a:off x="3913406" y="4477871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8" name="송수신"/>
          <p:cNvSpPr txBox="1"/>
          <p:nvPr/>
        </p:nvSpPr>
        <p:spPr>
          <a:xfrm>
            <a:off x="3959126" y="4267559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인증 후 복귀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 flipH="1">
            <a:off x="2550238" y="4673660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0" name="송수신"/>
          <p:cNvSpPr txBox="1"/>
          <p:nvPr/>
        </p:nvSpPr>
        <p:spPr>
          <a:xfrm>
            <a:off x="2595958" y="4463348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결과 코드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2550238" y="4869449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송수신"/>
          <p:cNvSpPr txBox="1"/>
          <p:nvPr/>
        </p:nvSpPr>
        <p:spPr>
          <a:xfrm>
            <a:off x="2595958" y="4659137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 0000 수신 알림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6639743" y="5065238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4" name="송수신"/>
          <p:cNvSpPr txBox="1"/>
          <p:nvPr/>
        </p:nvSpPr>
        <p:spPr>
          <a:xfrm>
            <a:off x="6685463" y="4854926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 인증 결과 조회 ③(reqAuthDataPay.mv)</a:t>
            </a:r>
            <a:endParaRPr lang="ko-KR" sz="1000" dirty="0"/>
          </a:p>
        </p:txBody>
      </p:sp>
      <p:sp>
        <p:nvSpPr>
          <p:cNvPr id="65" name="Shape 62"/>
          <p:cNvSpPr/>
          <p:nvPr/>
        </p:nvSpPr>
        <p:spPr>
          <a:xfrm flipH="1">
            <a:off x="6639743" y="5261027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66" name="송수신"/>
          <p:cNvSpPr txBox="1"/>
          <p:nvPr/>
        </p:nvSpPr>
        <p:spPr>
          <a:xfrm>
            <a:off x="6685463" y="5050715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14. acntId · userNo</a:t>
            </a:r>
            <a:endParaRPr lang="ko-KR" sz="1000" dirty="0"/>
          </a:p>
        </p:txBody>
      </p:sp>
      <p:sp>
        <p:nvSpPr>
          <p:cNvPr id="67" name="Shape 64"/>
          <p:cNvSpPr/>
          <p:nvPr/>
        </p:nvSpPr>
        <p:spPr>
          <a:xfrm>
            <a:off x="6639743" y="5584832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8" name="송수신"/>
          <p:cNvSpPr txBox="1"/>
          <p:nvPr/>
        </p:nvSpPr>
        <p:spPr>
          <a:xfrm>
            <a:off x="6685463" y="5374520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15. 승인 ④(appcardPayment.mv)</a:t>
            </a:r>
            <a:endParaRPr lang="ko-KR" sz="1000" dirty="0"/>
          </a:p>
        </p:txBody>
      </p:sp>
      <p:sp>
        <p:nvSpPr>
          <p:cNvPr id="69" name="Shape 66"/>
          <p:cNvSpPr/>
          <p:nvPr/>
        </p:nvSpPr>
        <p:spPr>
          <a:xfrm>
            <a:off x="9638714" y="5780622"/>
            <a:ext cx="1363169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0" name="송수신"/>
          <p:cNvSpPr txBox="1"/>
          <p:nvPr/>
        </p:nvSpPr>
        <p:spPr>
          <a:xfrm>
            <a:off x="9684434" y="5570310"/>
            <a:ext cx="1271729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16. 승인 등록</a:t>
            </a:r>
            <a:endParaRPr lang="ko-KR" sz="1000" dirty="0"/>
          </a:p>
        </p:txBody>
      </p:sp>
      <p:sp>
        <p:nvSpPr>
          <p:cNvPr id="71" name="Shape 68"/>
          <p:cNvSpPr/>
          <p:nvPr/>
        </p:nvSpPr>
        <p:spPr>
          <a:xfrm flipH="1">
            <a:off x="6639743" y="5976411"/>
            <a:ext cx="29989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2" name="송수신"/>
          <p:cNvSpPr txBox="1"/>
          <p:nvPr/>
        </p:nvSpPr>
        <p:spPr>
          <a:xfrm>
            <a:off x="6685463" y="5766099"/>
            <a:ext cx="29075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17. approvalNo · pgTno</a:t>
            </a:r>
            <a:endParaRPr lang="ko-KR" sz="1000" dirty="0"/>
          </a:p>
        </p:txBody>
      </p:sp>
      <p:sp>
        <p:nvSpPr>
          <p:cNvPr id="73" name="Shape 70"/>
          <p:cNvSpPr/>
          <p:nvPr/>
        </p:nvSpPr>
        <p:spPr>
          <a:xfrm flipH="1">
            <a:off x="2550238" y="6172200"/>
            <a:ext cx="4089506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74" name="송수신"/>
          <p:cNvSpPr txBox="1"/>
          <p:nvPr/>
        </p:nvSpPr>
        <p:spPr>
          <a:xfrm>
            <a:off x="2595958" y="5961888"/>
            <a:ext cx="399806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18. 주문 생성 후 주문 결과</a:t>
            </a:r>
            <a:endParaRPr lang="ko-KR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18</a:t>
            </a:r>
            <a:endParaRPr lang="ko-KR" sz="900" dirty="0"/>
          </a:p>
        </p:txBody>
      </p:sp>
      <p:sp>
        <p:nvSpPr>
          <p:cNvPr id="7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송수신 항목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송수신 항목과 지켜야 할 규칙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다이어그램 번호 기준으로 호출명과 보내는 값, 규칙을 정리합니다.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17188"/>
        </p:xfrm>
        <a:graphic>
          <a:graphicData uri="http://schemas.openxmlformats.org/drawingml/2006/table">
            <a:tbl>
              <a:tblPr/>
              <a:tblGrid>
                <a:gridCol w="777240"/>
                <a:gridCol w="3108960"/>
                <a:gridCol w="3337560"/>
                <a:gridCol w="386791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 spc="-5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 → acntId · userNo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일시불만, 카드사 목록은 앱 고정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04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 기존(acntId · userNo) · 1 신규, ci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storeUserNo · userName은 보내지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주문당 결제 1건, 결과 미확인 주문은 재발급 안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spc="-40" kern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인증 모듈 ↔ 카드사 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 tid · amount · orderNo · payType · termYN=N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거래번호(tid)가 만료되면 1403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orderNo · reqToken → acntId · userNo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2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 결제대행사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 30초~1분 대기, 재호출 금지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[확인필요(핏콜라보)]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저장(취소에 필수)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응답이 없으면 거래 상태 조회 ⑥(reqCondition.mv)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후 주문 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승인됐는데 주문이 없으면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⑤(appcardCancel.mv)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8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결과를 따로 알리지 않으므로 </a:t>
            </a:r>
            <a:pPr indent="0" marL="0">
              <a:buNone/>
            </a:pP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조회해 확정</a:t>
            </a: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18</a:t>
            </a:r>
            <a:endParaRPr lang="ko-KR" sz="900" dirty="0"/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카드 관리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500" dirty="0">
                <a:solidFill>
                  <a:srgbClr val="E2D9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취소, 결과 미확인 거래 정리, 등록 카드 관리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7A6A5D"/>
            </a:solidFill>
            <a:prstDash val="solid"/>
          </a:ln>
        </p:spPr>
        <p:txBody>
          <a:bodyPr/>
          <a:p/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취소 요청과 주기 작업 모두 승인 취소 ⑤로 정리합니다</a:t>
            </a:r>
            <a:endParaRPr lang="ko-KR" sz="1300" dirty="0"/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취소 결과도 핏콜라보 응답으로만 확정합니다</a:t>
            </a:r>
            <a:endParaRPr lang="ko-KR" sz="1300" dirty="0"/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카드 조회 · 등록 · 삭제는 핏콜라보 카드관리 페이지가 맡습니다</a:t>
            </a:r>
            <a:endParaRPr lang="ko-KR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18</a:t>
            </a:r>
            <a:endParaRPr lang="ko-KR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흐름도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요청과 주기 작업 모두 승인 취소 ⑤로 정리합니다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위는 고객 · 매장 · 에이전트 자동 · 상담원 · 선물 결제 취소, 아래는 메가MGC커피 서버의 미확인 거래 정리입니다.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61813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528816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· 끝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9749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744968" y="3840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· 서버 처리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710928" y="411480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1005840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607040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954512" y="38404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000" dirty="0"/>
          </a:p>
        </p:txBody>
      </p:sp>
      <p:sp>
        <p:nvSpPr>
          <p:cNvPr id="14" name="구역 이름"/>
          <p:cNvSpPr txBox="1"/>
          <p:nvPr/>
        </p:nvSpPr>
        <p:spPr>
          <a:xfrm>
            <a:off x="54864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6" name="흐름 end"/>
          <p:cNvSpPr txBox="1"/>
          <p:nvPr/>
        </p:nvSpPr>
        <p:spPr>
          <a:xfrm>
            <a:off x="6217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(고객 · 매장 · 자동 등)</a:t>
            </a:r>
            <a:endParaRPr lang="ko-KR" sz="1100" dirty="0"/>
          </a:p>
        </p:txBody>
      </p:sp>
      <p:sp>
        <p:nvSpPr>
          <p:cNvPr id="19" name="Shape 16"/>
          <p:cNvSpPr/>
          <p:nvPr/>
        </p:nvSpPr>
        <p:spPr>
          <a:xfrm>
            <a:off x="5134356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0" name="흐름 proc"/>
          <p:cNvSpPr txBox="1"/>
          <p:nvPr/>
        </p:nvSpPr>
        <p:spPr>
          <a:xfrm>
            <a:off x="5207508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⑤(전체 취소)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21" name="Shape 18"/>
          <p:cNvSpPr/>
          <p:nvPr/>
        </p:nvSpPr>
        <p:spPr>
          <a:xfrm>
            <a:off x="7427214" y="207568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2" name="흐름 proc"/>
          <p:cNvSpPr txBox="1"/>
          <p:nvPr/>
        </p:nvSpPr>
        <p:spPr>
          <a:xfrm>
            <a:off x="7500366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결제대행사에 취소</a:t>
            </a:r>
            <a:endParaRPr lang="ko-KR" sz="1100" dirty="0"/>
          </a:p>
        </p:txBody>
      </p:sp>
      <p:sp>
        <p:nvSpPr>
          <p:cNvPr id="23" name="Shape 20"/>
          <p:cNvSpPr/>
          <p:nvPr/>
        </p:nvSpPr>
        <p:spPr>
          <a:xfrm>
            <a:off x="9720072" y="207568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24" name="흐름 end"/>
          <p:cNvSpPr txBox="1"/>
          <p:nvPr/>
        </p:nvSpPr>
        <p:spPr>
          <a:xfrm>
            <a:off x="9793224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상태 취소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</a:t>
            </a:r>
            <a:endParaRPr lang="ko-KR" sz="1100" dirty="0"/>
          </a:p>
        </p:txBody>
      </p:sp>
      <p:sp>
        <p:nvSpPr>
          <p:cNvPr id="27" name="Shape 24"/>
          <p:cNvSpPr/>
          <p:nvPr/>
        </p:nvSpPr>
        <p:spPr>
          <a:xfrm>
            <a:off x="2468880" y="2377440"/>
            <a:ext cx="267004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7054596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9347454" y="237744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보조 설명"/>
          <p:cNvSpPr txBox="1"/>
          <p:nvPr/>
        </p:nvSpPr>
        <p:spPr>
          <a:xfrm>
            <a:off x="8732520" y="2971800"/>
            <a:ext cx="2907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approvalNo 필수(없으면 ⑥ 먼저)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- 9001이면 cancelState 확인 후 처리</a:t>
            </a:r>
            <a:endParaRPr lang="ko-KR" sz="1100" dirty="0"/>
          </a:p>
          <a:p>
            <a:pPr indent="0" marL="0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승인 취소는 다시 호출해도 됨</a:t>
            </a:r>
            <a:endParaRPr lang="ko-KR" sz="1100" dirty="0"/>
          </a:p>
        </p:txBody>
      </p:sp>
      <p:sp>
        <p:nvSpPr>
          <p:cNvPr id="37" name="Shape 34"/>
          <p:cNvSpPr/>
          <p:nvPr/>
        </p:nvSpPr>
        <p:spPr>
          <a:xfrm>
            <a:off x="548640" y="3840480"/>
            <a:ext cx="11091672" cy="0"/>
          </a:xfrm>
          <a:prstGeom prst="line">
            <a:avLst/>
          </a:prstGeom>
          <a:noFill/>
          <a:ln w="9525">
            <a:solidFill>
              <a:srgbClr val="E6DDD4"/>
            </a:solidFill>
            <a:prstDash val="solid"/>
          </a:ln>
        </p:spPr>
        <p:txBody>
          <a:bodyPr/>
          <a:p/>
        </p:txBody>
      </p:sp>
      <p:sp>
        <p:nvSpPr>
          <p:cNvPr id="38" name="구역 이름"/>
          <p:cNvSpPr txBox="1"/>
          <p:nvPr/>
        </p:nvSpPr>
        <p:spPr>
          <a:xfrm>
            <a:off x="54864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미확인 거래 정리(주기 작업)</a:t>
            </a:r>
            <a:endParaRPr lang="ko-KR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0" name="흐름 end"/>
          <p:cNvSpPr txBox="1"/>
          <p:nvPr/>
        </p:nvSpPr>
        <p:spPr>
          <a:xfrm>
            <a:off x="621792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주기 작업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 spc="-5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(결과 미확인 거래)</a:t>
            </a:r>
            <a:endParaRPr lang="ko-KR" sz="1100" dirty="0"/>
          </a:p>
        </p:txBody>
      </p:sp>
      <p:sp>
        <p:nvSpPr>
          <p:cNvPr id="41" name="Shape 38"/>
          <p:cNvSpPr/>
          <p:nvPr/>
        </p:nvSpPr>
        <p:spPr>
          <a:xfrm>
            <a:off x="2841498" y="42245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42" name="흐름 proc"/>
          <p:cNvSpPr txBox="1"/>
          <p:nvPr/>
        </p:nvSpPr>
        <p:spPr>
          <a:xfrm>
            <a:off x="2914650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 ⑥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(reqCondition.mv)</a:t>
            </a:r>
            <a:endParaRPr lang="ko-KR" sz="1100" dirty="0"/>
          </a:p>
        </p:txBody>
      </p:sp>
      <p:sp>
        <p:nvSpPr>
          <p:cNvPr id="43" name="Shape 40"/>
          <p:cNvSpPr/>
          <p:nvPr/>
        </p:nvSpPr>
        <p:spPr>
          <a:xfrm>
            <a:off x="5134356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4" name="흐름 dec"/>
          <p:cNvSpPr txBox="1"/>
          <p:nvPr/>
        </p:nvSpPr>
        <p:spPr>
          <a:xfrm>
            <a:off x="5460797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완료?</a:t>
            </a:r>
            <a:endParaRPr lang="ko-KR" sz="1100" dirty="0"/>
          </a:p>
        </p:txBody>
      </p:sp>
      <p:sp>
        <p:nvSpPr>
          <p:cNvPr id="45" name="Shape 42"/>
          <p:cNvSpPr/>
          <p:nvPr/>
        </p:nvSpPr>
        <p:spPr>
          <a:xfrm>
            <a:off x="7427214" y="4137660"/>
            <a:ext cx="1920240" cy="777240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흐름 dec"/>
          <p:cNvSpPr txBox="1"/>
          <p:nvPr/>
        </p:nvSpPr>
        <p:spPr>
          <a:xfrm>
            <a:off x="7753655" y="4246474"/>
            <a:ext cx="1267358" cy="55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있음?</a:t>
            </a:r>
            <a:endParaRPr lang="ko-KR" sz="1100" dirty="0"/>
          </a:p>
        </p:txBody>
      </p:sp>
      <p:sp>
        <p:nvSpPr>
          <p:cNvPr id="47" name="Shape 44"/>
          <p:cNvSpPr/>
          <p:nvPr/>
        </p:nvSpPr>
        <p:spPr>
          <a:xfrm>
            <a:off x="9720072" y="42245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8" name="흐름 end"/>
          <p:cNvSpPr txBox="1"/>
          <p:nvPr/>
        </p:nvSpPr>
        <p:spPr>
          <a:xfrm>
            <a:off x="9793224" y="42519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거래로 종료</a:t>
            </a:r>
            <a:endParaRPr lang="ko-KR" sz="1100" dirty="0"/>
          </a:p>
        </p:txBody>
      </p:sp>
      <p:sp>
        <p:nvSpPr>
          <p:cNvPr id="49" name="Shape 46"/>
          <p:cNvSpPr/>
          <p:nvPr/>
        </p:nvSpPr>
        <p:spPr>
          <a:xfrm>
            <a:off x="5134356" y="5138928"/>
            <a:ext cx="1920240" cy="603504"/>
          </a:xfrm>
          <a:prstGeom prst="roundRect">
            <a:avLst>
              <a:gd name="adj" fmla="val 18182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50" name="흐름 end"/>
          <p:cNvSpPr txBox="1"/>
          <p:nvPr/>
        </p:nvSpPr>
        <p:spPr>
          <a:xfrm>
            <a:off x="5207508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거래로 종료</a:t>
            </a:r>
            <a:endParaRPr lang="ko-KR" sz="1100" dirty="0"/>
          </a:p>
        </p:txBody>
      </p:sp>
      <p:sp>
        <p:nvSpPr>
          <p:cNvPr id="51" name="Shape 48"/>
          <p:cNvSpPr/>
          <p:nvPr/>
        </p:nvSpPr>
        <p:spPr>
          <a:xfrm>
            <a:off x="7427214" y="5138928"/>
            <a:ext cx="1920240" cy="603504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52" name="흐름 proc"/>
          <p:cNvSpPr txBox="1"/>
          <p:nvPr/>
        </p:nvSpPr>
        <p:spPr>
          <a:xfrm>
            <a:off x="7500366" y="516636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endParaRPr lang="ko-KR" sz="1100" dirty="0"/>
          </a:p>
          <a:p>
            <a:pPr algn="ctr" indent="0" marL="0">
              <a:buNone/>
            </a:pPr>
            <a:r>
              <a:rPr lang="ko-KR" altLang="en-US" sz="1100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(appcardCancel.mv)</a:t>
            </a:r>
            <a:endParaRPr lang="ko-KR" sz="1100" dirty="0"/>
          </a:p>
        </p:txBody>
      </p:sp>
      <p:sp>
        <p:nvSpPr>
          <p:cNvPr id="53" name="Shape 50"/>
          <p:cNvSpPr/>
          <p:nvPr/>
        </p:nvSpPr>
        <p:spPr>
          <a:xfrm>
            <a:off x="2468880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Shape 51"/>
          <p:cNvSpPr/>
          <p:nvPr/>
        </p:nvSpPr>
        <p:spPr>
          <a:xfrm>
            <a:off x="4761738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Shape 52"/>
          <p:cNvSpPr/>
          <p:nvPr/>
        </p:nvSpPr>
        <p:spPr>
          <a:xfrm>
            <a:off x="7054596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6" name="분기 이름"/>
          <p:cNvSpPr txBox="1"/>
          <p:nvPr/>
        </p:nvSpPr>
        <p:spPr>
          <a:xfrm>
            <a:off x="7100316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57" name="Shape 54"/>
          <p:cNvSpPr/>
          <p:nvPr/>
        </p:nvSpPr>
        <p:spPr>
          <a:xfrm>
            <a:off x="6094476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분기 이름"/>
          <p:cNvSpPr txBox="1"/>
          <p:nvPr/>
        </p:nvSpPr>
        <p:spPr>
          <a:xfrm>
            <a:off x="6158484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59" name="Shape 56"/>
          <p:cNvSpPr/>
          <p:nvPr/>
        </p:nvSpPr>
        <p:spPr>
          <a:xfrm>
            <a:off x="9347454" y="4526280"/>
            <a:ext cx="372618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0" name="분기 이름"/>
          <p:cNvSpPr txBox="1"/>
          <p:nvPr/>
        </p:nvSpPr>
        <p:spPr>
          <a:xfrm>
            <a:off x="9393174" y="42793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</a:t>
            </a:r>
            <a:endParaRPr lang="ko-KR" sz="1000" dirty="0"/>
          </a:p>
        </p:txBody>
      </p:sp>
      <p:sp>
        <p:nvSpPr>
          <p:cNvPr id="61" name="Shape 58"/>
          <p:cNvSpPr/>
          <p:nvPr/>
        </p:nvSpPr>
        <p:spPr>
          <a:xfrm>
            <a:off x="8387334" y="4914900"/>
            <a:ext cx="0" cy="224028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2" name="분기 이름"/>
          <p:cNvSpPr txBox="1"/>
          <p:nvPr/>
        </p:nvSpPr>
        <p:spPr>
          <a:xfrm>
            <a:off x="8451342" y="493318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endParaRPr lang="ko-KR" sz="1000" dirty="0"/>
          </a:p>
        </p:txBody>
      </p:sp>
      <p:sp>
        <p:nvSpPr>
          <p:cNvPr id="63" name="Shape 60"/>
          <p:cNvSpPr/>
          <p:nvPr/>
        </p:nvSpPr>
        <p:spPr>
          <a:xfrm>
            <a:off x="548640" y="5952744"/>
            <a:ext cx="45720" cy="237744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64" name="핵심 문장 요약"/>
          <p:cNvSpPr txBox="1"/>
          <p:nvPr/>
        </p:nvSpPr>
        <p:spPr>
          <a:xfrm>
            <a:off x="731520" y="5879592"/>
            <a:ext cx="10908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pPr indent="0" marL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531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65" name="Text 6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18</a:t>
            </a:r>
            <a:endParaRPr lang="ko-KR" sz="900" dirty="0"/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결과도 핏콜라보 응답으로만 확정합니다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틀 안(7~11)은 메가MGC커피 서버 주기 작업이며, 고객 요청 없이 실행됩니다.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매장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616740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6716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화면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684841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73970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82006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82554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2344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3302540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5370641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88864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954512" y="2240280"/>
            <a:ext cx="0" cy="39044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2845340" y="4482389"/>
            <a:ext cx="8749252" cy="1644091"/>
          </a:xfrm>
          <a:prstGeom prst="rect">
            <a:avLst/>
          </a:prstGeom>
          <a:ln w="9525">
            <a:solidFill>
              <a:srgbClr val="7A6A5D"/>
            </a:solidFill>
            <a:prstDash val="dash"/>
          </a:ln>
        </p:spPr>
        <p:txBody>
          <a:bodyPr/>
          <a:p/>
        </p:txBody>
      </p:sp>
      <p:sp>
        <p:nvSpPr>
          <p:cNvPr id="32" name="조건 구간"/>
          <p:cNvSpPr txBox="1"/>
          <p:nvPr/>
        </p:nvSpPr>
        <p:spPr>
          <a:xfrm>
            <a:off x="2900204" y="4509821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ko-KR" altLang="en-US" sz="10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 작업</a:t>
            </a:r>
            <a:endParaRPr lang="ko-KR" sz="1000" dirty="0"/>
          </a:p>
        </p:txBody>
      </p:sp>
      <p:sp>
        <p:nvSpPr>
          <p:cNvPr id="33" name="Shape 30"/>
          <p:cNvSpPr/>
          <p:nvPr/>
        </p:nvSpPr>
        <p:spPr>
          <a:xfrm>
            <a:off x="1234440" y="2587752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송수신"/>
          <p:cNvSpPr txBox="1"/>
          <p:nvPr/>
        </p:nvSpPr>
        <p:spPr>
          <a:xfrm>
            <a:off x="1280160" y="2377440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취소 요청(고객 · 매장 등)</a:t>
            </a:r>
            <a:endParaRPr lang="ko-KR" sz="1000" dirty="0"/>
          </a:p>
        </p:txBody>
      </p:sp>
      <p:sp>
        <p:nvSpPr>
          <p:cNvPr id="35" name="Shape 32"/>
          <p:cNvSpPr/>
          <p:nvPr/>
        </p:nvSpPr>
        <p:spPr>
          <a:xfrm>
            <a:off x="3302540" y="2914193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송수신"/>
          <p:cNvSpPr txBox="1"/>
          <p:nvPr/>
        </p:nvSpPr>
        <p:spPr>
          <a:xfrm>
            <a:off x="3348260" y="2703881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취소 요청 전달</a:t>
            </a:r>
            <a:endParaRPr lang="ko-KR" sz="1000" dirty="0"/>
          </a:p>
        </p:txBody>
      </p:sp>
      <p:sp>
        <p:nvSpPr>
          <p:cNvPr id="37" name="Shape 34"/>
          <p:cNvSpPr/>
          <p:nvPr/>
        </p:nvSpPr>
        <p:spPr>
          <a:xfrm>
            <a:off x="5370641" y="3240634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송수신"/>
          <p:cNvSpPr txBox="1"/>
          <p:nvPr/>
        </p:nvSpPr>
        <p:spPr>
          <a:xfrm>
            <a:off x="5416361" y="3030322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승인 취소 ⑤(appcardCancel.mv) · approvalNo</a:t>
            </a:r>
            <a:endParaRPr lang="ko-KR" sz="1000" dirty="0"/>
          </a:p>
        </p:txBody>
      </p:sp>
      <p:sp>
        <p:nvSpPr>
          <p:cNvPr id="39" name="Shape 36"/>
          <p:cNvSpPr/>
          <p:nvPr/>
        </p:nvSpPr>
        <p:spPr>
          <a:xfrm>
            <a:off x="8886412" y="3567074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송수신"/>
          <p:cNvSpPr txBox="1"/>
          <p:nvPr/>
        </p:nvSpPr>
        <p:spPr>
          <a:xfrm>
            <a:off x="8932132" y="3356762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취소 요청(중계)</a:t>
            </a:r>
            <a:endParaRPr lang="ko-KR" sz="1000" dirty="0"/>
          </a:p>
        </p:txBody>
      </p:sp>
      <p:sp>
        <p:nvSpPr>
          <p:cNvPr id="41" name="Shape 38"/>
          <p:cNvSpPr/>
          <p:nvPr/>
        </p:nvSpPr>
        <p:spPr>
          <a:xfrm flipH="1">
            <a:off x="5370641" y="3893515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2" name="송수신"/>
          <p:cNvSpPr txBox="1"/>
          <p:nvPr/>
        </p:nvSpPr>
        <p:spPr>
          <a:xfrm>
            <a:off x="5416361" y="3683203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cancelTid · cancelPgTno</a:t>
            </a:r>
            <a:endParaRPr lang="ko-KR" sz="1000" dirty="0"/>
          </a:p>
        </p:txBody>
      </p:sp>
      <p:sp>
        <p:nvSpPr>
          <p:cNvPr id="43" name="Shape 40"/>
          <p:cNvSpPr/>
          <p:nvPr/>
        </p:nvSpPr>
        <p:spPr>
          <a:xfrm flipH="1">
            <a:off x="3302540" y="4219956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4" name="송수신"/>
          <p:cNvSpPr txBox="1"/>
          <p:nvPr/>
        </p:nvSpPr>
        <p:spPr>
          <a:xfrm>
            <a:off x="3348260" y="4009644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주문 상태 취소 · 안내</a:t>
            </a:r>
            <a:endParaRPr lang="ko-KR" sz="1000" dirty="0"/>
          </a:p>
        </p:txBody>
      </p:sp>
      <p:sp>
        <p:nvSpPr>
          <p:cNvPr id="45" name="Shape 42"/>
          <p:cNvSpPr/>
          <p:nvPr/>
        </p:nvSpPr>
        <p:spPr>
          <a:xfrm>
            <a:off x="4319081" y="4610405"/>
            <a:ext cx="2103120" cy="237744"/>
          </a:xfrm>
          <a:prstGeom prst="rect">
            <a:avLst/>
          </a:prstGeom>
          <a:solidFill>
            <a:srgbClr val="F3EEE8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46" name="서버 처리"/>
          <p:cNvSpPr txBox="1"/>
          <p:nvPr/>
        </p:nvSpPr>
        <p:spPr>
          <a:xfrm>
            <a:off x="4355657" y="4619549"/>
            <a:ext cx="2029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결과 미확인 거래 선별</a:t>
            </a:r>
            <a:endParaRPr lang="ko-KR" sz="1000" dirty="0"/>
          </a:p>
        </p:txBody>
      </p:sp>
      <p:sp>
        <p:nvSpPr>
          <p:cNvPr id="47" name="Shape 44"/>
          <p:cNvSpPr/>
          <p:nvPr/>
        </p:nvSpPr>
        <p:spPr>
          <a:xfrm>
            <a:off x="5370641" y="505571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8" name="송수신"/>
          <p:cNvSpPr txBox="1"/>
          <p:nvPr/>
        </p:nvSpPr>
        <p:spPr>
          <a:xfrm>
            <a:off x="5416361" y="484540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거래 상태 조회 ⑥(reqCondition.mv)</a:t>
            </a:r>
            <a:endParaRPr lang="ko-KR" sz="1000" dirty="0"/>
          </a:p>
        </p:txBody>
      </p:sp>
      <p:sp>
        <p:nvSpPr>
          <p:cNvPr id="49" name="Shape 46"/>
          <p:cNvSpPr/>
          <p:nvPr/>
        </p:nvSpPr>
        <p:spPr>
          <a:xfrm flipH="1">
            <a:off x="5370641" y="5382158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0" name="송수신"/>
          <p:cNvSpPr txBox="1"/>
          <p:nvPr/>
        </p:nvSpPr>
        <p:spPr>
          <a:xfrm>
            <a:off x="5416361" y="5171846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state · approvalNo · cancelState</a:t>
            </a:r>
            <a:endParaRPr lang="ko-KR" sz="1000" dirty="0"/>
          </a:p>
        </p:txBody>
      </p:sp>
      <p:sp>
        <p:nvSpPr>
          <p:cNvPr id="51" name="Shape 48"/>
          <p:cNvSpPr/>
          <p:nvPr/>
        </p:nvSpPr>
        <p:spPr>
          <a:xfrm>
            <a:off x="5370641" y="5708599"/>
            <a:ext cx="351577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송수신"/>
          <p:cNvSpPr txBox="1"/>
          <p:nvPr/>
        </p:nvSpPr>
        <p:spPr>
          <a:xfrm>
            <a:off x="5416361" y="5498287"/>
            <a:ext cx="342433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 승인 취소 ⑤(조회한 approvalNo)</a:t>
            </a:r>
            <a:endParaRPr lang="ko-KR" sz="1000" dirty="0"/>
          </a:p>
        </p:txBody>
      </p:sp>
      <p:sp>
        <p:nvSpPr>
          <p:cNvPr id="53" name="Shape 50"/>
          <p:cNvSpPr/>
          <p:nvPr/>
        </p:nvSpPr>
        <p:spPr>
          <a:xfrm>
            <a:off x="8886412" y="6035040"/>
            <a:ext cx="206810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4" name="송수신"/>
          <p:cNvSpPr txBox="1"/>
          <p:nvPr/>
        </p:nvSpPr>
        <p:spPr>
          <a:xfrm>
            <a:off x="8932132" y="5824728"/>
            <a:ext cx="19766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 취소 요청(중계)</a:t>
            </a:r>
            <a:endParaRPr lang="ko-KR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18</a:t>
            </a:r>
            <a:endParaRPr lang="ko-KR" sz="900" dirty="0"/>
          </a:p>
        </p:txBody>
      </p:sp>
      <p:sp>
        <p:nvSpPr>
          <p:cNvPr id="5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· 송수신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조회 · 등록 · 삭제는 핏콜라보 카드관리 페이지가 맡습니다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데이터 적재 API로 sessionKey를 받아 카드관리 페이지를 열고, 닫으면 메가퀵결제로 돌아옵니다.</a:t>
            </a:r>
            <a:endParaRPr lang="ko-KR" sz="1300" dirty="0"/>
          </a:p>
        </p:txBody>
      </p:sp>
      <p:sp>
        <p:nvSpPr>
          <p:cNvPr id="6" name="Shape 3"/>
          <p:cNvSpPr/>
          <p:nvPr/>
        </p:nvSpPr>
        <p:spPr>
          <a:xfrm>
            <a:off x="5952744" y="411480"/>
            <a:ext cx="274320" cy="164592"/>
          </a:xfrm>
          <a:prstGeom prst="roundRect">
            <a:avLst>
              <a:gd name="adj" fmla="val 27778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7" name="범례"/>
          <p:cNvSpPr txBox="1"/>
          <p:nvPr/>
        </p:nvSpPr>
        <p:spPr>
          <a:xfrm>
            <a:off x="6300216" y="384048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· 요청자</a:t>
            </a:r>
            <a:endParaRPr lang="ko-KR" sz="1000" dirty="0"/>
          </a:p>
        </p:txBody>
      </p:sp>
      <p:sp>
        <p:nvSpPr>
          <p:cNvPr id="8" name="Shape 5"/>
          <p:cNvSpPr/>
          <p:nvPr/>
        </p:nvSpPr>
        <p:spPr>
          <a:xfrm>
            <a:off x="7351776" y="411480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9" name="범례"/>
          <p:cNvSpPr txBox="1"/>
          <p:nvPr/>
        </p:nvSpPr>
        <p:spPr>
          <a:xfrm>
            <a:off x="7699248" y="384048"/>
            <a:ext cx="12527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측</a:t>
            </a:r>
            <a:endParaRPr lang="ko-KR" sz="1000" dirty="0"/>
          </a:p>
        </p:txBody>
      </p:sp>
      <p:sp>
        <p:nvSpPr>
          <p:cNvPr id="10" name="Shape 7"/>
          <p:cNvSpPr/>
          <p:nvPr/>
        </p:nvSpPr>
        <p:spPr>
          <a:xfrm>
            <a:off x="9134856" y="411480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11" name="범례"/>
          <p:cNvSpPr txBox="1"/>
          <p:nvPr/>
        </p:nvSpPr>
        <p:spPr>
          <a:xfrm>
            <a:off x="9482328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</a:t>
            </a:r>
            <a:endParaRPr lang="ko-KR" sz="1000" dirty="0"/>
          </a:p>
        </p:txBody>
      </p:sp>
      <p:sp>
        <p:nvSpPr>
          <p:cNvPr id="12" name="Shape 9"/>
          <p:cNvSpPr/>
          <p:nvPr/>
        </p:nvSpPr>
        <p:spPr>
          <a:xfrm>
            <a:off x="10030968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범례"/>
          <p:cNvSpPr txBox="1"/>
          <p:nvPr/>
        </p:nvSpPr>
        <p:spPr>
          <a:xfrm>
            <a:off x="10378440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ko-KR" sz="1000" dirty="0"/>
          </a:p>
        </p:txBody>
      </p:sp>
      <p:sp>
        <p:nvSpPr>
          <p:cNvPr id="14" name="Shape 11"/>
          <p:cNvSpPr/>
          <p:nvPr/>
        </p:nvSpPr>
        <p:spPr>
          <a:xfrm>
            <a:off x="10927080" y="493776"/>
            <a:ext cx="274320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15" name="범례"/>
          <p:cNvSpPr txBox="1"/>
          <p:nvPr/>
        </p:nvSpPr>
        <p:spPr>
          <a:xfrm>
            <a:off x="11274552" y="384048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178308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  <a:prstDash val="solid"/>
          </a:ln>
        </p:spPr>
        <p:txBody>
          <a:bodyPr/>
          <a:p/>
        </p:txBody>
      </p:sp>
      <p:sp>
        <p:nvSpPr>
          <p:cNvPr id="17" name="참여자"/>
          <p:cNvSpPr txBox="1"/>
          <p:nvPr/>
        </p:nvSpPr>
        <p:spPr>
          <a:xfrm>
            <a:off x="603504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ko-KR" sz="1050" dirty="0"/>
          </a:p>
        </p:txBody>
      </p:sp>
      <p:sp>
        <p:nvSpPr>
          <p:cNvPr id="18" name="Shape 15"/>
          <p:cNvSpPr/>
          <p:nvPr/>
        </p:nvSpPr>
        <p:spPr>
          <a:xfrm>
            <a:off x="2284367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19" name="참여자"/>
          <p:cNvSpPr txBox="1"/>
          <p:nvPr/>
        </p:nvSpPr>
        <p:spPr>
          <a:xfrm>
            <a:off x="2339231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(전체메뉴)</a:t>
            </a:r>
            <a:endParaRPr lang="ko-KR" sz="1050" dirty="0"/>
          </a:p>
        </p:txBody>
      </p:sp>
      <p:sp>
        <p:nvSpPr>
          <p:cNvPr id="20" name="Shape 17"/>
          <p:cNvSpPr/>
          <p:nvPr/>
        </p:nvSpPr>
        <p:spPr>
          <a:xfrm>
            <a:off x="4020094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1" name="참여자"/>
          <p:cNvSpPr txBox="1"/>
          <p:nvPr/>
        </p:nvSpPr>
        <p:spPr>
          <a:xfrm>
            <a:off x="4074958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(메가퀵결제)</a:t>
            </a:r>
            <a:endParaRPr lang="ko-KR" sz="1050" dirty="0"/>
          </a:p>
        </p:txBody>
      </p:sp>
      <p:sp>
        <p:nvSpPr>
          <p:cNvPr id="22" name="Shape 19"/>
          <p:cNvSpPr/>
          <p:nvPr/>
        </p:nvSpPr>
        <p:spPr>
          <a:xfrm>
            <a:off x="5755821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3" name="참여자"/>
          <p:cNvSpPr txBox="1"/>
          <p:nvPr/>
        </p:nvSpPr>
        <p:spPr>
          <a:xfrm>
            <a:off x="5810685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카드관리</a:t>
            </a:r>
            <a:endParaRPr lang="ko-KR" sz="1050" dirty="0"/>
          </a:p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(Webview)</a:t>
            </a:r>
            <a:endParaRPr lang="ko-KR" sz="1050" dirty="0"/>
          </a:p>
        </p:txBody>
      </p:sp>
      <p:sp>
        <p:nvSpPr>
          <p:cNvPr id="24" name="Shape 21"/>
          <p:cNvSpPr/>
          <p:nvPr/>
        </p:nvSpPr>
        <p:spPr>
          <a:xfrm>
            <a:off x="7491549" y="1783080"/>
            <a:ext cx="1371600" cy="457200"/>
          </a:xfrm>
          <a:prstGeom prst="rect">
            <a:avLst/>
          </a:prstGeom>
          <a:solidFill>
            <a:srgbClr val="F3EEE8"/>
          </a:solidFill>
          <a:ln w="9525">
            <a:solidFill>
              <a:srgbClr val="F3EEE8"/>
            </a:solidFill>
            <a:prstDash val="solid"/>
          </a:ln>
        </p:spPr>
        <p:txBody>
          <a:bodyPr/>
          <a:p/>
        </p:txBody>
      </p:sp>
      <p:sp>
        <p:nvSpPr>
          <p:cNvPr id="25" name="참여자"/>
          <p:cNvSpPr txBox="1"/>
          <p:nvPr/>
        </p:nvSpPr>
        <p:spPr>
          <a:xfrm>
            <a:off x="7546413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</a:t>
            </a:r>
            <a:endParaRPr lang="ko-KR" sz="1050" dirty="0"/>
          </a:p>
        </p:txBody>
      </p:sp>
      <p:sp>
        <p:nvSpPr>
          <p:cNvPr id="26" name="Shape 23"/>
          <p:cNvSpPr/>
          <p:nvPr/>
        </p:nvSpPr>
        <p:spPr>
          <a:xfrm>
            <a:off x="10268712" y="1783080"/>
            <a:ext cx="1371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  <a:prstDash val="solid"/>
          </a:ln>
        </p:spPr>
        <p:txBody>
          <a:bodyPr/>
          <a:p/>
        </p:txBody>
      </p:sp>
      <p:sp>
        <p:nvSpPr>
          <p:cNvPr id="27" name="참여자"/>
          <p:cNvSpPr txBox="1"/>
          <p:nvPr/>
        </p:nvSpPr>
        <p:spPr>
          <a:xfrm>
            <a:off x="10323576" y="1810512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5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</a:t>
            </a:r>
            <a:endParaRPr lang="ko-KR" sz="1050" dirty="0"/>
          </a:p>
        </p:txBody>
      </p:sp>
      <p:sp>
        <p:nvSpPr>
          <p:cNvPr id="28" name="Shape 25"/>
          <p:cNvSpPr/>
          <p:nvPr/>
        </p:nvSpPr>
        <p:spPr>
          <a:xfrm>
            <a:off x="1234440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2970167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4705894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6441621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2" name="Shape 29"/>
          <p:cNvSpPr/>
          <p:nvPr/>
        </p:nvSpPr>
        <p:spPr>
          <a:xfrm>
            <a:off x="8177349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954512" y="2240280"/>
            <a:ext cx="0" cy="2304288"/>
          </a:xfrm>
          <a:prstGeom prst="line">
            <a:avLst/>
          </a:prstGeom>
          <a:noFill/>
          <a:ln w="12700">
            <a:solidFill>
              <a:srgbClr val="E6DDD4"/>
            </a:solidFill>
            <a:prstDash val="dash"/>
          </a:ln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234440" y="2587752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송수신"/>
          <p:cNvSpPr txBox="1"/>
          <p:nvPr/>
        </p:nvSpPr>
        <p:spPr>
          <a:xfrm>
            <a:off x="1280160" y="2377440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전체메뉴 &gt; 결제</a:t>
            </a:r>
            <a:endParaRPr lang="ko-KR" sz="1000" dirty="0"/>
          </a:p>
        </p:txBody>
      </p:sp>
      <p:sp>
        <p:nvSpPr>
          <p:cNvPr id="36" name="Shape 33"/>
          <p:cNvSpPr/>
          <p:nvPr/>
        </p:nvSpPr>
        <p:spPr>
          <a:xfrm>
            <a:off x="2970167" y="281863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송수신"/>
          <p:cNvSpPr txBox="1"/>
          <p:nvPr/>
        </p:nvSpPr>
        <p:spPr>
          <a:xfrm>
            <a:off x="3015887" y="260832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메가퀵결제 열기</a:t>
            </a:r>
            <a:endParaRPr lang="ko-KR" sz="1000" dirty="0"/>
          </a:p>
        </p:txBody>
      </p:sp>
      <p:sp>
        <p:nvSpPr>
          <p:cNvPr id="38" name="Shape 35"/>
          <p:cNvSpPr/>
          <p:nvPr/>
        </p:nvSpPr>
        <p:spPr>
          <a:xfrm>
            <a:off x="4705894" y="3049524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송수신"/>
          <p:cNvSpPr txBox="1"/>
          <p:nvPr/>
        </p:nvSpPr>
        <p:spPr>
          <a:xfrm>
            <a:off x="4751614" y="2839212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앱카드 관리 진입 요청</a:t>
            </a:r>
            <a:endParaRPr lang="ko-KR" sz="1000" dirty="0"/>
          </a:p>
        </p:txBody>
      </p:sp>
      <p:sp>
        <p:nvSpPr>
          <p:cNvPr id="40" name="Shape 37"/>
          <p:cNvSpPr/>
          <p:nvPr/>
        </p:nvSpPr>
        <p:spPr>
          <a:xfrm>
            <a:off x="8177349" y="3280410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송수신"/>
          <p:cNvSpPr txBox="1"/>
          <p:nvPr/>
        </p:nvSpPr>
        <p:spPr>
          <a:xfrm>
            <a:off x="8223069" y="3070098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데이터 적재 ①(insSessionData.mv)</a:t>
            </a:r>
            <a:endParaRPr lang="ko-KR" sz="1000" dirty="0"/>
          </a:p>
        </p:txBody>
      </p:sp>
      <p:sp>
        <p:nvSpPr>
          <p:cNvPr id="42" name="Shape 39"/>
          <p:cNvSpPr/>
          <p:nvPr/>
        </p:nvSpPr>
        <p:spPr>
          <a:xfrm flipH="1">
            <a:off x="8177349" y="3511296"/>
            <a:ext cx="2777163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3" name="송수신"/>
          <p:cNvSpPr txBox="1"/>
          <p:nvPr/>
        </p:nvSpPr>
        <p:spPr>
          <a:xfrm>
            <a:off x="8223069" y="3300984"/>
            <a:ext cx="268572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sessionKey · token</a:t>
            </a:r>
            <a:endParaRPr lang="ko-KR" sz="1000" dirty="0"/>
          </a:p>
        </p:txBody>
      </p:sp>
      <p:sp>
        <p:nvSpPr>
          <p:cNvPr id="44" name="Shape 41"/>
          <p:cNvSpPr/>
          <p:nvPr/>
        </p:nvSpPr>
        <p:spPr>
          <a:xfrm flipH="1">
            <a:off x="4705894" y="3742182"/>
            <a:ext cx="3471454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송수신"/>
          <p:cNvSpPr txBox="1"/>
          <p:nvPr/>
        </p:nvSpPr>
        <p:spPr>
          <a:xfrm>
            <a:off x="4751614" y="3531870"/>
            <a:ext cx="338001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sessionKey · token 전달</a:t>
            </a:r>
            <a:endParaRPr lang="ko-KR" sz="1000" dirty="0"/>
          </a:p>
        </p:txBody>
      </p:sp>
      <p:sp>
        <p:nvSpPr>
          <p:cNvPr id="46" name="Shape 43"/>
          <p:cNvSpPr/>
          <p:nvPr/>
        </p:nvSpPr>
        <p:spPr>
          <a:xfrm>
            <a:off x="4705894" y="3973068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송수신"/>
          <p:cNvSpPr txBox="1"/>
          <p:nvPr/>
        </p:nvSpPr>
        <p:spPr>
          <a:xfrm>
            <a:off x="4751614" y="3762756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페이지 이동</a:t>
            </a:r>
            <a:endParaRPr lang="ko-KR" sz="1000" dirty="0"/>
          </a:p>
        </p:txBody>
      </p:sp>
      <p:sp>
        <p:nvSpPr>
          <p:cNvPr id="48" name="Shape 45"/>
          <p:cNvSpPr/>
          <p:nvPr/>
        </p:nvSpPr>
        <p:spPr>
          <a:xfrm>
            <a:off x="1234440" y="4203954"/>
            <a:ext cx="5207181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송수신"/>
          <p:cNvSpPr txBox="1"/>
          <p:nvPr/>
        </p:nvSpPr>
        <p:spPr>
          <a:xfrm>
            <a:off x="1280160" y="3993642"/>
            <a:ext cx="511574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카드 조회 · 등록 · 삭제</a:t>
            </a:r>
            <a:endParaRPr lang="ko-KR" sz="1000" dirty="0"/>
          </a:p>
        </p:txBody>
      </p:sp>
      <p:sp>
        <p:nvSpPr>
          <p:cNvPr id="50" name="Shape 47"/>
          <p:cNvSpPr/>
          <p:nvPr/>
        </p:nvSpPr>
        <p:spPr>
          <a:xfrm flipH="1">
            <a:off x="4705894" y="4434840"/>
            <a:ext cx="1735727" cy="0"/>
          </a:xfrm>
          <a:prstGeom prst="line">
            <a:avLst/>
          </a:prstGeom>
          <a:noFill/>
          <a:ln w="12700">
            <a:solidFill>
              <a:srgbClr val="7A6A5D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51" name="송수신"/>
          <p:cNvSpPr txBox="1"/>
          <p:nvPr/>
        </p:nvSpPr>
        <p:spPr>
          <a:xfrm>
            <a:off x="4751614" y="4224528"/>
            <a:ext cx="1644287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10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 닫기 → redirectUrl</a:t>
            </a:r>
            <a:endParaRPr lang="ko-KR" sz="1000" dirty="0"/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17720"/>
          <a:ext cx="11091672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9079992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추가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페이지에서 등록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 때 자동 등록(reqAuthData.mv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중 새 카드 인증(reqAuthDataPay.mv 이후)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적재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deviceType · userType 0(CI) · ci · redirectUrl(메가퀵결제)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제공하지 않는 기능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이름 변경 · 대표 카드 · 약관 재표시 · 해지(앱카드 해지 · 등록 카드 문의는 핏콜라보 전담)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인증만으로 결제 계정이 등록되는 점의 고객 동의 범위 [확인필요(핏콜라보 · 법무팀)]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3" name="Text 4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18</a:t>
            </a:r>
            <a:endParaRPr lang="ko-KR" sz="900" dirty="0"/>
          </a:p>
        </p:txBody>
      </p:sp>
      <p:sp>
        <p:nvSpPr>
          <p:cNvPr id="5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6장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API 연동 흐름 정의서 v0.2</dc:title>
  <dc:subject>PptxGenJS Presentation</dc:subject>
  <dc:creator>PptxGenJS</dc:creator>
  <cp:lastModifiedBy>PptxGenJS</cp:lastModifiedBy>
  <cp:revision>1</cp:revision>
  <dcterms:created xsi:type="dcterms:W3CDTF">2026-10-21T01:27:57Z</dcterms:created>
  <dcterms:modified xsi:type="dcterms:W3CDTF">2026-10-21T01:27:57Z</dcterms:modified>
</cp:coreProperties>
</file>