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326" r:id="rId74"/>
    <p:sldId id="260" r:id="rId6"/>
    <p:sldId id="262" r:id="rId7"/>
    <p:sldId id="263" r:id="rId8"/>
    <p:sldId id="264" r:id="rId9"/>
    <p:sldId id="265" r:id="rId10"/>
    <p:sldId id="266" r:id="rId11"/>
    <p:sldId id="267" r:id="rId12"/>
    <p:sldId id="340" r:id="rId92"/>
    <p:sldId id="341" r:id="rId93"/>
    <p:sldId id="268" r:id="rId13"/>
    <p:sldId id="269" r:id="rId14"/>
    <p:sldId id="270" r:id="rId15"/>
    <p:sldId id="342" r:id="rId94"/>
    <p:sldId id="271" r:id="rId16"/>
    <p:sldId id="272" r:id="rId17"/>
    <p:sldId id="273" r:id="rId18"/>
    <p:sldId id="335" r:id="rId19"/>
    <p:sldId id="336" r:id="rId20"/>
    <p:sldId id="274" r:id="rId21"/>
    <p:sldId id="275" r:id="rId22"/>
    <p:sldId id="276" r:id="rId23"/>
    <p:sldId id="277" r:id="rId24"/>
    <p:sldId id="278" r:id="rId25"/>
    <p:sldId id="279" r:id="rId26"/>
    <p:sldId id="343" r:id="rId95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337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44" r:id="rId9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8" r:id="rId83"/>
    <p:sldId id="339" r:id="rId8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74853C-7B98-4819-9651-3B28C2B7C273}" v="2" dt="2026-10-21T05:16:26.047"/>
    <p1510:client id="{75A5A900-D0AD-4353-9BD9-7E429D63DE80}" v="18" dt="2026-10-21T04:41:47.9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9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slide" Target="slides/slide22.xml"/><Relationship Id="rId20" Type="http://schemas.openxmlformats.org/officeDocument/2006/relationships/slide" Target="slides/slide23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6.xml"/><Relationship Id="rId24" Type="http://schemas.openxmlformats.org/officeDocument/2006/relationships/slide" Target="slides/slide27.xml"/><Relationship Id="rId25" Type="http://schemas.openxmlformats.org/officeDocument/2006/relationships/slide" Target="slides/slide28.xml"/><Relationship Id="rId26" Type="http://schemas.openxmlformats.org/officeDocument/2006/relationships/slide" Target="slides/slide29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34.xml"/><Relationship Id="rId31" Type="http://schemas.openxmlformats.org/officeDocument/2006/relationships/slide" Target="slides/slide35.xml"/><Relationship Id="rId32" Type="http://schemas.openxmlformats.org/officeDocument/2006/relationships/slide" Target="slides/slide36.xml"/><Relationship Id="rId33" Type="http://schemas.openxmlformats.org/officeDocument/2006/relationships/slide" Target="slides/slide37.xml"/><Relationship Id="rId34" Type="http://schemas.openxmlformats.org/officeDocument/2006/relationships/slide" Target="slides/slide38.xml"/><Relationship Id="rId35" Type="http://schemas.openxmlformats.org/officeDocument/2006/relationships/slide" Target="slides/slide39.xml"/><Relationship Id="rId36" Type="http://schemas.openxmlformats.org/officeDocument/2006/relationships/slide" Target="slides/slide40.xml"/><Relationship Id="rId37" Type="http://schemas.openxmlformats.org/officeDocument/2006/relationships/slide" Target="slides/slide41.xml"/><Relationship Id="rId38" Type="http://schemas.openxmlformats.org/officeDocument/2006/relationships/slide" Target="slides/slide42.xml"/><Relationship Id="rId39" Type="http://schemas.openxmlformats.org/officeDocument/2006/relationships/slide" Target="slides/slide43.xml"/><Relationship Id="rId40" Type="http://schemas.openxmlformats.org/officeDocument/2006/relationships/slide" Target="slides/slide44.xml"/><Relationship Id="rId41" Type="http://schemas.openxmlformats.org/officeDocument/2006/relationships/slide" Target="slides/slide45.xml"/><Relationship Id="rId42" Type="http://schemas.openxmlformats.org/officeDocument/2006/relationships/slide" Target="slides/slide46.xml"/><Relationship Id="rId43" Type="http://schemas.openxmlformats.org/officeDocument/2006/relationships/slide" Target="slides/slide47.xml"/><Relationship Id="rId44" Type="http://schemas.openxmlformats.org/officeDocument/2006/relationships/slide" Target="slides/slide48.xml"/><Relationship Id="rId45" Type="http://schemas.openxmlformats.org/officeDocument/2006/relationships/slide" Target="slides/slide49.xml"/><Relationship Id="rId46" Type="http://schemas.openxmlformats.org/officeDocument/2006/relationships/slide" Target="slides/slide50.xml"/><Relationship Id="rId47" Type="http://schemas.openxmlformats.org/officeDocument/2006/relationships/slide" Target="slides/slide51.xml"/><Relationship Id="rId48" Type="http://schemas.openxmlformats.org/officeDocument/2006/relationships/slide" Target="slides/slide52.xml"/><Relationship Id="rId49" Type="http://schemas.openxmlformats.org/officeDocument/2006/relationships/slide" Target="slides/slide53.xml"/><Relationship Id="rId50" Type="http://schemas.openxmlformats.org/officeDocument/2006/relationships/slide" Target="slides/slide54.xml"/><Relationship Id="rId51" Type="http://schemas.openxmlformats.org/officeDocument/2006/relationships/slide" Target="slides/slide55.xml"/><Relationship Id="rId52" Type="http://schemas.openxmlformats.org/officeDocument/2006/relationships/slide" Target="slides/slide56.xml"/><Relationship Id="rId53" Type="http://schemas.openxmlformats.org/officeDocument/2006/relationships/slide" Target="slides/slide57.xml"/><Relationship Id="rId54" Type="http://schemas.openxmlformats.org/officeDocument/2006/relationships/slide" Target="slides/slide58.xml"/><Relationship Id="rId55" Type="http://schemas.openxmlformats.org/officeDocument/2006/relationships/slide" Target="slides/slide59.xml"/><Relationship Id="rId56" Type="http://schemas.openxmlformats.org/officeDocument/2006/relationships/slide" Target="slides/slide60.xml"/><Relationship Id="rId57" Type="http://schemas.openxmlformats.org/officeDocument/2006/relationships/slide" Target="slides/slide62.xml"/><Relationship Id="rId58" Type="http://schemas.openxmlformats.org/officeDocument/2006/relationships/slide" Target="slides/slide63.xml"/><Relationship Id="rId59" Type="http://schemas.openxmlformats.org/officeDocument/2006/relationships/slide" Target="slides/slide64.xml"/><Relationship Id="rId60" Type="http://schemas.openxmlformats.org/officeDocument/2006/relationships/slide" Target="slides/slide65.xml"/><Relationship Id="rId61" Type="http://schemas.openxmlformats.org/officeDocument/2006/relationships/slide" Target="slides/slide66.xml"/><Relationship Id="rId62" Type="http://schemas.openxmlformats.org/officeDocument/2006/relationships/slide" Target="slides/slide67.xml"/><Relationship Id="rId63" Type="http://schemas.openxmlformats.org/officeDocument/2006/relationships/slide" Target="slides/slide68.xml"/><Relationship Id="rId64" Type="http://schemas.openxmlformats.org/officeDocument/2006/relationships/slide" Target="slides/slide69.xml"/><Relationship Id="rId65" Type="http://schemas.openxmlformats.org/officeDocument/2006/relationships/slide" Target="slides/slide70.xml"/><Relationship Id="rId66" Type="http://schemas.openxmlformats.org/officeDocument/2006/relationships/slide" Target="slides/slide71.xml"/><Relationship Id="rId67" Type="http://schemas.openxmlformats.org/officeDocument/2006/relationships/slide" Target="slides/slide72.xml"/><Relationship Id="rId68" Type="http://schemas.openxmlformats.org/officeDocument/2006/relationships/slide" Target="slides/slide73.xml"/><Relationship Id="rId69" Type="http://schemas.openxmlformats.org/officeDocument/2006/relationships/slide" Target="slides/slide74.xml"/><Relationship Id="rId70" Type="http://schemas.openxmlformats.org/officeDocument/2006/relationships/slide" Target="slides/slide75.xml"/><Relationship Id="rId71" Type="http://schemas.openxmlformats.org/officeDocument/2006/relationships/slide" Target="slides/slide76.xml"/><Relationship Id="rId72" Type="http://schemas.openxmlformats.org/officeDocument/2006/relationships/slide" Target="slides/slide77.xml"/><Relationship Id="rId73" Type="http://schemas.openxmlformats.org/officeDocument/2006/relationships/slide" Target="slides/slide78.xml"/><Relationship Id="rId74" Type="http://schemas.openxmlformats.org/officeDocument/2006/relationships/slide" Target="slides/slide5.xml"/><Relationship Id="rId75" Type="http://schemas.openxmlformats.org/officeDocument/2006/relationships/slide" Target="slides/slide79.xml"/><Relationship Id="rId76" Type="http://schemas.openxmlformats.org/officeDocument/2006/relationships/slide" Target="slides/slide80.xml"/><Relationship Id="rId77" Type="http://schemas.openxmlformats.org/officeDocument/2006/relationships/slide" Target="slides/slide81.xml"/><Relationship Id="rId78" Type="http://schemas.openxmlformats.org/officeDocument/2006/relationships/slide" Target="slides/slide82.xml"/><Relationship Id="rId79" Type="http://schemas.openxmlformats.org/officeDocument/2006/relationships/slide" Target="slides/slide83.xml"/><Relationship Id="rId80" Type="http://schemas.openxmlformats.org/officeDocument/2006/relationships/slide" Target="slides/slide84.xml"/><Relationship Id="rId81" Type="http://schemas.openxmlformats.org/officeDocument/2006/relationships/slide" Target="slides/slide85.xml"/><Relationship Id="rId82" Type="http://schemas.openxmlformats.org/officeDocument/2006/relationships/slide" Target="slides/slide86.xml"/><Relationship Id="rId83" Type="http://schemas.openxmlformats.org/officeDocument/2006/relationships/slide" Target="slides/slide87.xml"/><Relationship Id="rId84" Type="http://schemas.openxmlformats.org/officeDocument/2006/relationships/slide" Target="slides/slide88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Relationship Id="rId90" Type="http://schemas.microsoft.com/office/2016/11/relationships/changesInfo" Target="changesInfos/changesInfo1.xml"/><Relationship Id="rId91" Type="http://schemas.microsoft.com/office/2015/10/relationships/revisionInfo" Target="revisionInfo.xml"/><Relationship Id="rId92" Type="http://schemas.openxmlformats.org/officeDocument/2006/relationships/slide" Target="slides/slide13.xml"/><Relationship Id="rId93" Type="http://schemas.openxmlformats.org/officeDocument/2006/relationships/slide" Target="slides/slide14.xml"/><Relationship Id="rId94" Type="http://schemas.openxmlformats.org/officeDocument/2006/relationships/slide" Target="slides/slide18.xml"/><Relationship Id="rId95" Type="http://schemas.openxmlformats.org/officeDocument/2006/relationships/slide" Target="slides/slide30.xml"/><Relationship Id="rId96" Type="http://schemas.openxmlformats.org/officeDocument/2006/relationships/slide" Target="slides/slide6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1T05:45:43.677" v="140" actId="20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  <pc:spChg chg="add del mod">
          <ac:chgData name="문 진승" userId="4d4d7787-e10c-42c5-ab64-b0d0e0438d64" providerId="ADAL" clId="{DB4B0D55-DDE0-40F6-B946-69DBCD43A701}" dt="2026-10-21T04:29:01.339" v="2"/>
          <ac:spMkLst>
            <pc:docMk/>
            <pc:sldMk cId="0" sldId="256"/>
            <ac:spMk id="6" creationId="{AF86A4D1-E180-8CE8-189A-7C68B91F3264}"/>
          </ac:spMkLst>
        </pc:spChg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4:35:41.164" v="24" actId="14734"/>
        <pc:sldMkLst>
          <pc:docMk/>
          <pc:sldMk cId="0" sldId="259"/>
        </pc:sldMkLst>
        <pc:graphicFrameChg chg="mod modGraphic">
          <ac:chgData name="문 진승" userId="4d4d7787-e10c-42c5-ab64-b0d0e0438d64" providerId="ADAL" clId="{DB4B0D55-DDE0-40F6-B946-69DBCD43A701}" dt="2026-10-21T04:35:41.164" v="24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spChg chg="add del mod">
          <ac:chgData name="문 진승" userId="4d4d7787-e10c-42c5-ab64-b0d0e0438d64" providerId="ADAL" clId="{DB4B0D55-DDE0-40F6-B946-69DBCD43A701}" dt="2026-10-21T05:16:28.173" v="100"/>
          <ac:spMkLst>
            <pc:docMk/>
            <pc:sldMk cId="0" sldId="263"/>
            <ac:spMk id="5" creationId="{7D24D1F3-1F82-E4A8-667E-07BE37D4F76C}"/>
          </ac:spMkLst>
        </pc:spChg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  <pc:picChg chg="mod">
          <ac:chgData name="문 진승" userId="4d4d7787-e10c-42c5-ab64-b0d0e0438d64" providerId="ADAL" clId="{DB4B0D55-DDE0-40F6-B946-69DBCD43A701}" dt="2026-10-21T05:11:44.503" v="64" actId="14100"/>
          <ac:picMkLst>
            <pc:docMk/>
            <pc:sldMk cId="0" sldId="267"/>
            <ac:picMk id="6" creationId="{00000000-0000-0000-0000-000000000000}"/>
          </ac:picMkLst>
        </pc:pic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6장.</a:t>
            </a:r>
          </a:p>
          <a:p>
            <a:r>
              <a:t>메가MGC커피는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13 · 30장.</a:t>
            </a: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 · 메가선불카드 금액 충전 MGC_PAY_007 V0.9.</a:t>
            </a:r>
          </a:p>
          <a:p>
            <a:r>
              <a:t>- 신용 앱카드로 메가선불카드 구매 · 충전을 결제할 수 있다(핏콜라보 회신).</a:t>
            </a: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59 · 60장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[확인필요(핏콜라보)].</a:t>
            </a:r>
          </a:p>
          <a:p>
            <a:r>
              <a:t>- 취소 불가 때 안내할 고객센터 [확인필요(품질경영팀)].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v0.24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· 결제대행사가 함께 보는 로그인 · 결제 · 카드 관리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영역마다 정책 → 화면 → API → 흐름 → 예외 순서로 읽습니다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읽는 사람은 결론(4장)과 정책 기준(5장)을 먼저 보고, 담당별로 먼저 볼 장(6장)으로 이동합니다.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129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3~10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 · 정책 기준 6가지 · 앱 구조 ·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 · 유스케이스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정했고 누가 무엇을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11~23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규칙과 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24~31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Flipbook 화면 1_1 · 1_2 · 2 · 3, 결제 화면 5종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요소별 동작, 결제 전 체크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32~44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연동 방식, 호출값, 결과 코드, API 9종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주체, 파라미터, 키값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45~57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취소 · 카드 관리 흐름도와 송수신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순서와 주고받는 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58~64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· 만료 · 무응답 · 취소 실패 처리, 고객 안내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코드별 처리, 재호출 기준, 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65~68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대행과 결제대행사(OnePG) 등록 · 정산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역할, 거래 식별값, 연동 리스크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69~77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 매트릭스 · 착수 전 확인 · B.O · 테스트 · 오픈 · 심사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만들고 무엇을 확인하나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회신 · CJ ONS 확인 · 법무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무엇을 답해야 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간 불일치, 용어, 통합 플로우 · 프로세스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기준과 용어 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· 정책 기준 · 앱 구조 · 개발 주체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정책 기준 6가지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앱 구조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5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화면별 구분과 연동 관계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5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구성 요소와 개발 주체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5" name="간지 목록"/>
          <p:cNvSpPr txBox="1"/>
          <p:nvPr/>
        </p:nvSpPr>
        <p:spPr>
          <a:xfrm>
            <a:off x="822960" y="5788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유스케이스 6개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API를 부르고, Webview는 거래번호만 다룹니다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구조와 정책은 정해졌고, 착수 전에는 핏콜라보의 pgType CJ ONS 추가와 응답 개인정보 처리 기준을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92408"/>
              </p:ext>
            </p:extLst>
          </p:nvPr>
        </p:nvGraphicFramePr>
        <p:xfrm>
          <a:off x="548640" y="3154680"/>
          <a:ext cx="11091672" cy="1548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 API를 호출하고, Webview는 거래번호만 인증 모듈에 넘김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거래번호(transNo)는 로그인 인증, 결제 거래번호(tid)는 결제 승인에 쓰는 별개 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로그인 버튼 · 결제수단 화면을 만들고, 핏콜라보는 인증 모듈 · 카드관리 페이지를 제공함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</a:t>
                      </a: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ONS를 추가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앱카드 승인이 결제대행사에 등록됨 [확인필요(핏콜라보): 추가 일정]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 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인증 결과 조회 응답의 gender · email · di(계약 제외 항목)를 저장하지 않음 [확인필요(법무팀)]</a:t>
                      </a:r>
                      <a:endParaRPr lang="en-US" sz="1100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   Native → Webview → 메가MGC커피 서버 → 핏콜라보 서버 → 결제대행사 순으로 거래번호와 승인 정보가 오감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 보관 · CI로 계정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 서버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· 승인 대행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연동의 정책 기준 6가지는 모두 정해졌습니다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6가지는 개발이 따르는 최종 기준이며, 세부 처리 기준은 확정 정책(12~23장)에 있습니다.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78536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약관은 인증 모듈에 넣지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않음(storeTermYN 미사용, termYN=N)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자체 토큰으로 로그인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유지(핏콜라보 토큰 인증 API 미사용)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가입하는 고객도 본인인증 화면에서 앱카드 인증 선택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 본인인증 건수 감소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결제는 </a:t>
                      </a:r>
                      <a:r>
                        <a:rPr lang="en-US" sz="125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확인(생체인증 · 비밀번호 미적용)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한도는 현행 간편결제 · 신용카드와 같은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결제에만 적용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9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앱카드는 신규 가입 수단, CI는 KCP 없이 앱카드 인증으로 받음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같은 CI 계정이 있으면 어느 수단으로 들어와도 그 계정으로 로그인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신규 가입은 휴대폰 번호 가입과 같은 가입 판정(13장)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만 14세 미만은 보호자 본인인증 · 동의 뒤 가입(14장)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미보유 기존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· 로그인 · 결제 화면 5종 · 카드 관리를 </a:t>
                      </a:r>
                      <a:r>
                        <a:rPr lang="en-US" sz="125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개발(Native · Webview · 서버) · 결제대행사마다 먼저 볼 장이 다릅니다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기준 · 확인 필요를, 개발은 연동 구조 · 처리 흐름 · 예외를, 결제대행사는 정산 장을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388848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기준(5) · 정책(12~23)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화면(25~31)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필요(79~81)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정책 기준 6가지, 화면 요소별 동작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 회신 대기 항목,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개발(Native)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구조(33~44)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흐름(46~57)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로그인 버튼으로 브릿지 페이지 열기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카드사 앱 9곳 등록 · 주소 가로채기 · Android 복귀 포커스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개발(Webview)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화면(25~31)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구조(33~44)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예외(59~64)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공통 웹 컴포넌트 · 브릿지 페이지 · 결과 코드 출처 검증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결제수단 · 본인인증 화면의 앱카드 선택, 결제 버튼 잠금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개발(메가MGC커피 서버)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정책(12~23) · API(33~44)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흐름(46~57)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예외(59~64)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 API 9종 호출, token · reqToken 보관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가입(KCP 없이 CI) · 같은 CI 계정 로그인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승인 무응답 처리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정산(66~68)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예외(59~64)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pgType에 CJ ONS를 추가한 뒤 승인 등록을 받는 방식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거래 식별값 연결, 취소 · 정산 경로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서버 담당은 연동 구조(33~44장)부터 예외(59~64장)까지를 먼저 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Native 화면 3개를 빼면 모두 Webview로 동작합니다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53148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531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531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버튼 1곳과 Webview 화면 9곳에 앱카드 연동이 들어갑니다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버튼이 브릿지 페이지를 열어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수단에 앱카드 인증을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 · 취소 안내 문구를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 진입을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 9개 중 CJ ONS는 4개, 핏콜라보는 3개를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053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선택의 앱카드 버튼, 카드사 앱 열기,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 수신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버튼으로 열리며, 인증 모듈을 띄울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컴포넌트를 담음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인증 모듈 표시, 결과 코드 수신 · 출처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약관 동의 뒤 카드사 앱 인증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 카드 인증 뒤 메가MGC커피 앱으로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호출 · 토큰 보관 · CI 계정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· 주문 · 취소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 · 인증 결과 제공 · 승인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대행 · 결제대행사 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조회 · 등록 · 삭제, 닫으면 메가퀵결제로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핏콜라보의 승인 등록 수신 · 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협의 뒤 범위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기능은 고객용 4가지, 결제 취소 1가지, 서버 주기 작업 1가지입니다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안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00" b="0">
                <a:solidFill>
                  <a:srgbClr val="C9BDB1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39장, 기능별 호출 순서는 46~57장(처리 흐름)에서 확인함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수단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앱카드 가입 판정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만 14세 미만 가입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거래번호 · 토큰 원칙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정책(판단 · 경로)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정책(결과 · 정산 · 취소)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결제 정책(결제 화면별 기준)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카드사 9곳 코드 · 앱 등록값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카드 관리 정책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개인정보 별표2 대조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① 회원 ·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  현행 시스템 연결 ② 주문 · 결제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앱카드는 신규 가입 수단이며, 같은 CI면 기존 계정으로 로그인합니다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2034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없으면 메가MGC커피 서버가 KCP 본인인증 없이 앱카드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CI로 다른 수단에 가입한 계정이 있으면 메가MGC커피 서버가 그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앱카드로 가입한 회원이 다른 수단으로 들어와도 같은 CI면 그 계정으로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1명(CI 1개)에 로그인 수단 여러 개를 연결하고, 1인 1계정은 CI로 관리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수단으로 가입하는 고객도 본인인증 화면에서 앱카드 인증 선택 가능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가입과 같은 판정 순서로 신규 가입 처리(13장)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동의를 마친 뒤 가입(14장)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가입도 휴대폰 번호 가입과 같은 판정 순서를 거칩니다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 서버가 그 계정으로 로그인시키고, 로그인</a:t>
                      </a:r>
                    </a:p>
                    <a:p>
                      <a:pPr marL="140208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수단에 앱카드 연결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같은 CI 계정이 2개 이상이면 계정 선택 화면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불가 알럿을 띄우고 로그인 수단 선택으로 돌려보냄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오프라인에서 적립한 스탬프를 매칭해 앱카드 회원으로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번호에 기존 혜택이 있다는 고객센터 안내 알럿을 띄우고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약관 동의(KCP 본인인증 생략)를 받고 가입 완료 팝업을 띄움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 · 동의(14장)를 받은 뒤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미만은 보호자 본인인증과 동의를 마쳐야 가입합니다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생년월일 8자리로 가입일 기준 만 나이를 계산함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19세 이상이며, 가입하는 아동과 CI가 달라야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보호자는 KCP 휴대폰 본인인증으로 인증함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본인인증이 끝나야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보호자가 필수 약관 · 위치 기반 서비스 · 마케팅(선택)을 항목별로 동의함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개인정보 보호법 제22조의2</a:t>
                      </a: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전에는 저장하지 않고, 인증 취소 · 실패 때 즉시 파기함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 · 휴대폰번호 · 동의 일시 · 인증 거래번호만 저장함(CI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</a:t>
                      </a:r>
                    </a:p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· 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만 14세가 되는 날 보호자 정보를 파기함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보호자의 동의 철회는 고객센터가 받아 탈퇴로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전에는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정보를 저장하지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보호자 본인인증이 끝나야 동의를 받습니다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거래번호는 Webview에 넘기고, 토큰은 메가MGC커피 서버에만 둡니다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거래번호만 Webview로 넘기고 토큰은 서버에만 보관하며, 토큰을 URL ·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39009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거래번호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①로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 호출, 인증 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거래번호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 응답으로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②로 받음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 응답으로 받아 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결과 조회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①,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②, 카드관리 데이터 적재 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IP를 쓸 수 없을 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핏콜라보에서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API 요청에 함께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않음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정책(판단 · 경로)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핏콜라보 응답 authYN이 최종 판단합니다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 서버가 결제 거래번호 발급 ②에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 · acntId(간편결제 계정 ID) · isOneclick(원클릭 여부) · CI를 보냄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핏콜라보가 그 계정의 원클릭 가능 여부를 판단해 authYN=Y(바로 승인)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뒤 승인)으로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판단 조건(CI 일치 외) [확인필요(핏콜라보)]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화면 5종(메가오더 · 함께오더 공용, 퀵오더, 홀케이크 · MD 예약, 선물 주문하기,</a:t>
                      </a: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충전)은 결제 경로 1개를 씀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화면별 결제 전 체크를 통과한 뒤에만 결제 거래번호 발급 ②를 요청함(30장)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메가MGC커피는 일시불만 씀(Flipbook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인증 모듈 호출값 installment(할부 개월)는 "00"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앱은 카드사 9곳을 고정 목록으로 표시하고, 카드사 목록 조회 API는 쓰지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현행 결제는 결제대행사에서 결제 키를 받아 결제 화면을 띄우고 승인함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정책(결과 · 정산 · 취소)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결과를 따로 보내지 않고 메가MGC커피 서버가 조회해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6449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핏콜라보는 승인 결과를 승인 요청의 응답에 담아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핏콜라보가 메가MGC커피 서버로 결과를 따로 보내는 통지는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핏콜라보는 승인을 대행한 뒤 결제대행사에 승인 · 정산 정보를 등록함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대금 정산은 현행 결제대행사 기준을 그대로 따름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 서버는 </a:t>
                      </a:r>
                      <a:r>
                        <a:rPr lang="en-US" sz="14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취소만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요청하고, 부분 취소는 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취소 경로와 예약 미수령 폐기 기준은 18장을 따르며, 취소 기간 제한은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일부 쓴 메가선불카드 충전 · 선물은 현행 잔액 기준 환불 조건으로 잔액을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승인 취소는 쓰지 않은 충전 · 선물에만 요청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결제는 밀어서 결제로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원클릭 결제에도 생체인증 · 비밀번호를 걸지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한도는 현행 간편결제 · 신용카드 결제와 </a:t>
                      </a:r>
                      <a:r>
                        <a:rPr lang="en-US" sz="14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로그인 인증을 하면 그 카드가 결제 계정으로 자동 등록돼 첫 결제부터 원클릭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자동 등록의 고객 동의 범위 [확인필요(법무팀)]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정책(결제 화면별 기준)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다섯 결제 화면에서 같은 기준으로 결제하고 취소합니다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36753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결제하기 체크를 모두 통과한 뒤 결제 거래번호 발급 ②를 요청(30장)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고객의 결제 인증 설정과 관계없이 밀어서 결제로 확인(선물 주문하기 포함)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앱카드 계정을 카드사 · 카드번호 끝 4자리로 표시하고, 계정이 없어지면 결제수단 없음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고객(주문완료 상태) · 매장 · 에이전트 자동 취소 · 상담원 · 선물 결제 취소 요청을 승인 취소 ⑤로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결제금액을 환불하지 않으므로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분이 여러 명이어도 </a:t>
                      </a:r>
                      <a:r>
                        <a:rPr lang="en-US" sz="11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금액 충전에도 앱카드를 쓰며, 유효기간 5년 초과 · 보유 + 충전 50만원 초과면 결제 전에 막음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카드사 9곳의 앱 이름을 미리 등록해야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3189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않음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[확인필요(핏콜라보): 공지 방식]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조회 · 등록 · 삭제는 </a:t>
            </a:r>
            <a:r>
              <a:rPr lang="ko-KR" altLang="en-US" sz="2400" b="1" dirty="0">
                <a:solidFill>
                  <a:schemeClr val="accent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메가퀵결제 화면에서 앱카드 관리를 누르면, 메가MGC커피 서버가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적재(insSessionData.mv)로 sessionKey(세션 키)를 받고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페이지로 이동함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CI로 등록된 앱카드 계정 목록을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고르면 인증 모듈 → 카드사 앱 인증으로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등록함(앱카드 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앱카드 계정을 삭제함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앱에서 돌아올 때 nativeFocusHandler를 카드관리 페이지가 받아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카드 이름 변경 · 대표 카드 지정 · 약관 재표시 · 해지 기능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해지 · 등록 카드 · 탈퇴 뒤 카드 계정 문의는 </a:t>
                      </a:r>
                      <a:r>
                        <a:rPr lang="en-US" sz="13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[확인필요(법무팀):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해지권]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CI만 위탁하고, 계약 외 응답 항목은 저장하지 않습니다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74497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CI만 위탁함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핏콜라보는 CI를 저장하지 않고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파기함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API · 결제 인증 모듈 · 카드</a:t>
                      </a: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API에 회원번호 · 주문자</a:t>
                      </a: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이름을 보내지 않음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고객 식별은 ci로만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CI · 성명 · 휴대폰번호 ·</a:t>
                      </a: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생년(4자리) · 내외국인을 받음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성별 · 이메일 · 주소는 제공</a:t>
                      </a: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아님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인증 결과 조회 ② 응답에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gender(필수) · email(선택) ·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di가 들어옴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birthDate(생년월일) 8자리는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판정에만 쓰고, 생년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4자리만 저장함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 처리 기준은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 흐름   메가MGC커피는 CI만 위탁하고, 핏콜라보가 돌려주는 5항목만 저장함</a:t>
            </a:r>
            <a:r>
              <a:rPr sz="1100" b="1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로그인 요청 · 회원 테이블에 앱카드 값을 더해야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339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고유값 · 계정 유형을 로그인 요청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계정 유형에 앱카드 추가(계정 고유값은 CI)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회원(APP_USER)마다 로그인유형코드 1개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회원 1명에 로그인 수단 여러 개</a:t>
                      </a:r>
                    </a:p>
                    <a:p>
                      <a:pPr marL="134366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연결(구조 개선)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없는 기존 회원은 재로그인 때 1회 수집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앱에 CI 없는 기존 회원이 없어 중복 계정이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신규 가입도 CI로 같은 제한 적용(13장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토큰은 만료 없이 유지(FO_005),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토큰으로 로그인 유지(핏콜라보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certificationComplete(토큰 전달)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refreshApi · 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브릿지 페이지 · 주문 결과에서 그대로</a:t>
                      </a:r>
                    </a:p>
                    <a:p>
                      <a:pPr marL="134366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생체인증 요청(requestAuth · hasBio)은</a:t>
                      </a:r>
                    </a:p>
                    <a:p>
                      <a:pPr marL="134366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ONS가 현행 구조를 보고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결제 데이터에 앱카드 거래값을 저장할 자리를 정해야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106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결제(APP_ORD_DTL): 결제 유형 3종,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유형 · 결제수단 코드에 앱카드 추가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approvalNo · approvalDate는</a:t>
                      </a:r>
                    </a:p>
                    <a:p>
                      <a:pPr marL="140208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 · 승인 일시 칸에 저장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tid · pgTno 저장 위치는 CJ ONS가 정함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그룹 A 메가퀵결제 · B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 · C 간편결제, 다음 주문 결제수단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그룹 값 추가(CJ ONS 확인)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고른 앱카드 계정은 현행대로 다음 주문에</a:t>
                      </a:r>
                    </a:p>
                    <a:p>
                      <a:pPr marL="140208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설정 A 비밀번호 · B 생체인증 · C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설정과 관계없이 밀어서 결제로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결제대행사는 검증값(가맹점 ID + 금액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앱카드는 검증값이 없어 결제 ② · 승인 ④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필수(핏콜라보 연동</a:t>
                      </a:r>
                    </a:p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범위)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교환권 · 금액권 · 선불카드 · 멤버십을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amount(결제 금액)는 차감 후 남은</a:t>
                      </a:r>
                    </a:p>
                    <a:p>
                      <a:pPr marL="140208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쿠폰 · 금액권 · 선불카드는</a:t>
                      </a:r>
                    </a:p>
                    <a:p>
                      <a:pPr marL="140208" indent="0">
                        <a:buNone/>
                      </a:pPr>
                      <a:r>
                        <a:rPr lang="en-US" sz="120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 승인 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차감 시점]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서버의 주문 금액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1_1 → 1_2 로그인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앱카드 버튼을 누르면 핏콜라보 인증 모듈이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44373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3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버튼이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안의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70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0003(취소)을 보내면,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처리하므로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·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주소를 가로채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포커스를 전달함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앱카드 계정 → 카드사 선택 → 변경하기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계정이 있으면 계정 목록 → 카드사 선택 →</a:t>
                      </a:r>
                    </a:p>
                    <a:p>
                      <a:pPr marL="1460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 순서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계정은 최근 사용 순, 처음 진입하면 첫</a:t>
                      </a:r>
                    </a:p>
                    <a:p>
                      <a:pPr marL="1460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선택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바텀시트가 열리면 메가MGC커피 서버가</a:t>
                      </a:r>
                    </a:p>
                    <a:p>
                      <a:pPr marL="1460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호출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이미지 · 카드사명 · 카드명 · 마스킹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번호를 보여 주고, 계정이 없으면 숨김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누르면 카드사 9곳 드롭다운이 위로 펼쳐짐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드롭다운 밖을 누르면 닫힘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누르면 화면 3 주문서로 이동함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결제를 끝까지 밀면 메가MGC커피 서버가 결제 거래번호를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결제 진행 중 → 주문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 서버가 결제 거래번호 발급</a:t>
                      </a: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②(requestTid.mv)를 부름(payType 0)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authYN=Y이면 바로 승인 ④(appcardPayment.mv)를</a:t>
                      </a: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완료 → 카드사 인증 →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 → 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 · 승인 ④로 이어짐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진행 중 문구를 보여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결제 요청 시점부터 인증 모듈 표시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응답까지 </a:t>
                      </a: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버튼을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type="range" 슬라이더이며, thumb가 value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100에 닿으면 결제를 시작함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주문서는 앱카드 계정을 메가퀵결제 계정보다 앞에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3451607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가장 왼쪽 카드가 선택된 채로 진입하고, 드래그해도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순서: 앱카드 계정 → 메가퀵결제 계정 → 카드사 선택 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같은 계정 목록 조회 결과를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결제대행사로 등록한 기존 간편결제라 앱카드 연동 범위가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2와 같지만, 버튼 아래 공간이 있어 드롭다운이 아래로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펼쳐짐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2 밀어서 결제와 같은 결제 요청을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바꿈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5종은 결제수단 목록에 앱카드를 더합니다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 띄움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저장된 결제수단에 앱카드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계정을 표시함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결제수단은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 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카드간편결제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화면별 결제 전 체크를 통과해야 결제 거래번호를 요청합니다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84886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매장 오더 오픈 · 판매 · 품절 · 픽업시간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쿠폰 · 금액권 · 선불카드 사용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제휴 멤버십 응답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바텀시트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 메인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화면과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판매 안함 · 품절이면 알럿 뒤 장바구니로 이동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장바구니 위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예약기간 · 상품 상태 → 매장 오더 오픈 → 매장 품절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예약일시 → 개인정보 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상품 판매 상태 · 판매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보내는 분 · 받는 분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메인 위 「보낸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선물하기와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주문완료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유효기간 5년 초과, 보유 + 충전 50만원 초과면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충전 금액 · 결제수단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 팝업 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닫고 메가선불카드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입력값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0626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3311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화면은 앱카드 결제의 실패 · 취소 안내를 더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9745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승인 뒤 매장에 주문이 전달됨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· tid(결제 거래번호) · approvalNo(승인번호) ·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pgTno(결제대행사 거래번호)를 함께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인증이나 승인이 실패했음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화면이 실패 안내 문구를 보여 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· 매장 · 에이전트 자동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선물 결제 취소 요청으로 주문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 취소 ⑤를 부르고, 주문 결과 화면이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매장이 제조를 진행함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앱카드와 관계없이 현행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   앱카드 결제도 현행 상태를 그대로 쓰고, 취소는 승인 취소 ⑤로 처리함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결제 API 키값 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</a:t>
            </a: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인증 모듈을 공통 웹 컴포넌트로 띄우는 방식을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공통 웹 컴포넌트가 메가MGC커피 서버에 거래번호를 요청함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 서버는 transNo(인증 거래번호) · tid(결제 거래번호)만 내려주고 토큰은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공통 웹 컴포넌트가 호출한 화면 위에 인증 모듈을 object/iframe으로 띄우고, 주소의 #/ 뒤에 호출값을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바텀시트 · 주문서는 그대로 남기고, 같은 화면에 인증 모듈을 두 번 만들지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인증 모듈이 postMessage로 resultCode(결과 코드)를 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공통 웹 컴포넌트는 인증 모듈 주소에서 온 결과만 처리하고, 리스너는 띄울 때 등록 · 닫을 때 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0000이면 메가MGC커피 서버가 인증 결과 조회 ② 또는 결제 인증 결과 조회 ③ · 승인 ④로 확정함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0002 · 0003이면 인증 모듈을 닫고 원래 화면으로 돌아감(로그인은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Android: Native가 onResume에서 nativeFocusHandler(true)를 1회 부르면 공통 웹 컴포넌트가 인증 모듈에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iOS: 인증 모듈이 포커스 변화를 스스로 감지하므로 Native 처리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Native는 앱카드 버튼으로 브릿지 페이지를 열고, 카드사 앱 주소를 가로채 실행(앱이 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Native는 Android 복귀 알림만 하고, 인증 처리 로직은 두지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</a:t>
            </a:r>
            <a:r>
              <a:rPr sz="10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0000일 때만</a:t>
            </a:r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메가MGC커피 서버가 확정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7단계로 인증 모듈을 띄우고 결과를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4451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필요하면 거래번호를 요청하고, 메가MGC커피 서버는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transNo(로그인) 또는 tid(결제)를 발급받음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호출한 화면 위에 인증 모듈을 object/iframe으로 띄우고, 다른 페이지로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카드사를 고르고 약관에 동의한 뒤 카드사 앱에서 인증함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Native는 카드사 앱에서 돌아오면 현재 Webview의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nativeFocusHandler를 부름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코드를 받고, 메시지가 인증 모듈 주소에서 왔는지 검증함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0000이면 메가MGC커피 서버에 알리고, 메가MGC커피 서버가 인증 결과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57733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승인을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0002 · 0003이면 인증 모듈을 닫고 원래 화면을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Native가 토큰을 받아 홈 또는 주문 화면으로, 결제는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주문 결과 화면으로 이동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바꿈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모듈은 인증 거래번호와 기기 구분 값만 있으면 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157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한 건을 가리키는 16자 번호이며,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①(reqTransNo.mv)로 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받은 값을 그대로 넣고,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뒤 5분 안에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화면과 카드사 앱 호출 방식을 고르는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값(1 iOS Web · 2 iOS App · 3 AOS Web · 4 AOS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앱 Webview 2, Android 앱 Webview 4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 [확인필요(핏콜라보 · 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값이 있으면 그 카드사 화면만, 없으면 카드사 9곳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화면을 보여 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않음(고객이 인증 모듈에서 카드사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부르는 위치 구분값이며, 생략하면 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01은 카드사 앱 안 앱카드iN에서 부를 때만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Y면 인증 모듈에 가맹점 약관을 함께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모듈은 tid · 금액 · 카드 구분을 받습니다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8960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모듈과 같은 값 [확인필요(핏콜라보 · CJ ONS)]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받아 화면 2 · 3의 1a에 보임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받음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결과 코드 0000만 메가MGC커피 서버 확인으로 넘깁니다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87833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메가MGC커피 서버에 알리며, </a:t>
                      </a:r>
                      <a:r>
                        <a:rPr lang="en-US" sz="1250" dirty="0" b="1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설치하기를 누르면 함께 온 scheme(스토어 주소)을 열고, 인증 모듈은 닫지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닫고, 실패 알럿 아래 줄에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resultMessage(카드사 앱 미인증 · 유효기간 만료 카드 등)를 붙임(61장)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이전 화면으로 돌아가며, 0001 직후의 0003은 스토어 이동에 따른 종료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 결제 인증(payType 1)일 때 카드사 앱 인증 뒤에 전달됨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카드사 앱 주소를 가로채 열고, Android만 복귀를 알립니다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가로챔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Android는 shouldOverrideUrlLoading, iOS는</a:t>
            </a:r>
          </a:p>
          <a:p>
            <a:pPr algn="l" marL="128524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decidePolicyFor에서 카드사 앱 주소를 외부 앱으로 열어 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Android 주소는 intent 형식이며, 카드사 앱이 없으면 패키지명으로</a:t>
            </a:r>
          </a:p>
          <a:p>
            <a:pPr algn="l" marL="128524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Play 스토어를 열어 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현행 Webview에 가로채기가 없으면 CJ ONS가 추가함</a:t>
            </a:r>
          </a:p>
          <a:p>
            <a:pPr algn="l" marL="128524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[확인필요(CJ ONS)]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알림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복귀 1회에 nativeFocusHandler(true)를 한 번만 부르고, blur는</a:t>
            </a:r>
          </a:p>
          <a:p>
            <a:pPr algn="l" marL="128524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보내지 않음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함수 이름 nativeFocusHandler는 바꿀 수 없음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없음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인증 모듈이 화면 포커스 변화를 스스로 감지함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• 포커스가 오지 않는 인앱 브라우저는 인증 모듈의 확인 버튼으로 조회함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열어 줌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CI 등 회원 정보를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거래번호와 인증 필요 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인증이 끝난 계정 ID를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 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 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 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2종은 인증 거래번호와 인증 토큰을 짝으로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transType(거래 구분: L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token(인증 토큰, 32자, 30분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받음(인증 후 3분 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ci(연계정보) · di(중복가입확인정보)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birthDate(생년월일) · gender(성별)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8524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 조회 ② 응답의 gender(성별) · email(이메일)은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①~③은 결제 거래번호 · 결제 토큰 · 계정 ID를 이어서 씁니다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5251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userType(조회 구분, 1 = CI)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cardList(계정 목록):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한 건의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거래번호와 인증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amount(결제 금액) · orderNo(주문번호)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goodsName(상품명)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pgType(결제대행사 구분)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installment(할부 개월)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cardCode(카드사 코드)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ci(연계정보)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acntId(간편결제 계정 ID)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tid(결제 거래번호, 20자)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authYN(인증 필요 여부: Y 바로 승인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결제에서 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계정 ID를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acntId(간편결제 계정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④~⑥과 카드 관리 API는 승인번호와 세션 키를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362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tid(결제 거래번호) · amount(결제 금액) ·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 · 세액 항목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cardCode(카드사 코드)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acntId(간편결제 계정 ID)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pgTno(결제대행사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mid(결제대행사 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approvalNo(승인번호, 필수)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type(취소 구분, 0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cancelPgTno(결제대행사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state(거래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 진입용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storeId(가맹점 ID) · deviceType(기기 구분)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userType(조회 구분, 0 = CI) · ci(연계정보)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않음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서로 다른 값입니다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발급해 재시도함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pgTno(결제대행사 거래번호) · cancelTid · cancelPgTno도 별개 값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2.1.2 결과 코드 표에는 1200이 없어, 1200 유지 여부는 핏콜라보가 확인 [확인필요(핏콜라보)]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API는 POST · form-urlencoded로 보내고 JSON으로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메가MGC커피 서버는 POST, Content-Type application/x-www-form-urlencoded; charset=UTF-8로 보냄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핏콜라보는 JSON(resultCode · resultMessage · resultData)으로 응답하고, HTTP 200이 성공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서버와 핏콜라보 서버는 HTTPS(TLS 1.2 이상)로 통신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메가MGC커피는 개발 · 스테이징 · 운영 메가MGC커피 서버의 공인 IP를 핏콜라보에 알려야 함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고정 IP를 쓸 수 없으면 메가MGC커피 서버가 storeAuthKey를 모든 요청에 붙이고, 등록되지 않은 IP는 9998을 받음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승인 요청과 승인 취소의 응답을 30초~1분 기다림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판정(13장)을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13장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•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•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단계마다 보내는 쪽 · 받는 쪽 · 규칙이 정해져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4588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핏콜라보를 부르고,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transType(L)을 보내 transNo · token을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호출값은 transNo · deviceType · nativeYN=N이고,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token은 메가MGC커피 서버가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 포커스를 전달하고, iOS는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감지함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 성공 · 0001 스토어 이동 · 0002 실패 · 0003 취소,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1200은 transNo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token을 보내며, 3분을 넘기면 1500, token이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다르면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· name · phoneNo · 생년 · nation만 저장하고,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생년월일은 만 14세 판정에만 씀 [확인필요(법무팀)]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CI로 같은 계정이 있으면 그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로그인시키고, 없으면 가입 판정(13장)을 거쳐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Native는 홈 또는 진행 중이던 주문 화면으로 이동함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고객이 주문하면 로그인 후 그 주문으로 돌아갑니다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누름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장의 로그인 흐름과 같은 순서로 앱카드 로그인 진행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돌아감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Webview는 로그인 완료 화면 대신 원래 주문하기 화면을 열고 결제를 이어 감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이를 위해 Webview는 로그인하는 동안 주문 정보를 유지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씀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CI로 계정 목록을 조회하고 원클릭 조건을 확인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함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없으면 CJ ONS가 Native · Webview에 새로 만듦 [확인필요(CJ ONS)]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Native · Webview에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 응답에 따라 원클릭과 인증 결제로 나뉩니다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단계마다 메가MGC커피 서버가 지켜야 할 규칙이 있습니다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</a:t>
            </a:r>
            <a:r>
              <a:rPr lang="ko-KR" altLang="en-US" sz="1300" dirty="0" b="1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 ⑥으로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4451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userType 1(CI) · ci를 보내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할부는 쓰지 않고,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payType 0(기존 카드, 계정 ID 포함) 또는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1(새 카드, 카드사 코드)을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Webview는 요청하는 순간부터 결제 버튼을 잠금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호출값은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결제 화면은 그대로 두고, tid가 만료되면 1403을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2682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reqToken을 보내 acntId · userNo를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응답을 30초~1분 기다리고, 다시 부르지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pgType에 CJ ONS 추가 [확인필요(핏콜라보)]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approvalNo를 저장하고, 응답이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거래 상태 조회 ⑥을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승인은 됐는데 주문이 없으면 메가MGC커피 서버가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원클릭은 인증 없이, 인증 결제는 카드사 앱 인증 뒤 승인합니다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9361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1a 앱카드 계정을 고르고 결제함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고객이 1b에서 카드사를 고르고 결제함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원클릭에 authYN=N이 오면 같은 tid로 인증함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payType=0, isOneclick=Y, 고른 계정의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payType=1, 고른 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띄우지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결제 화면 위에 띄우고,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ID는 보내지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 ③으로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userNo를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주문을 만들고,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승인을 취소함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원클릭과 같고, 이 카드는 다음 결제부터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나옴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 '이 카드는 카드사 인증이 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 더 필요해요'(61장)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결제 키 대신 결제 거래번호로 현행 결제 흐름을 탑니다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7210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인증 모듈을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· 간편결제 앱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Native가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포커스로 복귀를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 5경로와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메가MGC커피 서버가 핏콜라보 응답으로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sessionKey를 받아 카드관리 페이지를 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95364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 주소에 sessionKey · token · storeId를 붙여 웹 화면 이동으로 열어 줌(iframe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nativeFocusHandler를 받으므로 Android Native는 결제 때와 같은 복귀 처리를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결제 · 취소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예외는 대부분 처음부터 다시 시작합니다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099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scheme(스토어 주소)을 열고 인증 모듈은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인증 모듈을 닫고, 실패 알럿에 resultMessage를 붙여 다시 시도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닫고 직전 화면으로 돌아감(로그인은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 발급함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뒤 3분이 지났으므로 메가MGC커피 서버가 reqTransNo부터 다시 시작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발급 때와 다른 token을 보냈으므로 인증 거래번호 발급부터 다시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로그인은 처음부터 다시 하고, 결제는 메가MGC커피 서버가 승인을 요청하지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핏콜라보에 메가MGC커피 서버 공인 IP 등록을 요청함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예외에서 메가MGC커피 서버는 주문을 임의로 확정하지 않습니다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307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 발급하고, 인증 결제는 처음부터 다시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 일시불만 쓰므로 일시불로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주문을 확정하지 않고 응답의 거절 사유(contents)를 확인함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승인을 다시 부르지 않고, 30초~1분 기다린 뒤 거래 상태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⑥(reqCondition.mv)으로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appcardCancel로 전체 취소한 뒤 주문을 실패로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조건이 맞지 않으면 공통 웹 컴포넌트가 받은 tid 그대로 인증 모듈을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바로 성공으로 처리하지 않고, 거래 상태 조회 ⑥으로 cancelState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A009는 기취소, A020 · A057은 취소 불가이므로 메가MGC커피 서버가 응답 사유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나면 고객 화면에는 정해진 문구만 보여 줍니다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</a:t>
            </a:r>
            <a:r>
              <a:rPr lang="ko-KR" altLang="en-US" sz="1300" dirty="0" b="1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화면에 보이지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승인만 다시 부르지 않고, 나머지 API는 다시 불러도 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못 받아도 다시 부르지 않고 거래 상태 조회 ⑥으로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건이면 9001이 오므로 거래 상태 조회로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같은 값을 다시 보내 결과를 다시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 새로 발급받고, 결과 미확인 결제가 있는 주문은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 발급하지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   승인은 다시 부르지 않고 거래 상태 조회로 결과를 확정함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서버는 8가지 구현 기준을 지켜야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67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바텀시트 · 전체화면이 그려진 뒤 인증 모듈을 띄우고, object/WebView를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만들지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Native는 복귀 1회에 focus(true)만 한 번 보냄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모듈을 띄울 때 리스너를 한 번 등록하고, 인증 모듈이 끝나면 해제함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화면의 성공 코드만으로 로그인 · 승인을 확정하지 않고, 메가MGC커피 서버 응답으로 확정함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컴포넌트는 인증 모듈 주소에서 왔고 결과 코드가 있는 메시지만 처리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token · reqToken · storeAuthKey를 관리하고, 앱 · 분석 로그에 원문을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Webview는 결제 버튼 · 슬라이더를 실행 뒤 잠그고, 성공 · 실패가 확정되면 다시 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서버는 결제 ② · 승인 ④의 amount를 메가MGC커피 서버의 주문 금액과 대조하고,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가맹점에서 세 가지 사고가 반복됐습니다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225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· 웹뷰가 넣은 빈 메시지를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모듈의 닫기 결과로 처리했음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출처를 검증하고, 결과 코드가 있는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결제 버튼을 연속으로 눌렀음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요청 시점부터 인증 모듈 표시 · 승인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생성이 실패했음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승인을 취소하고,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응답이 없던 건은 거래 상태 조회로 정리함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   결제 흐름의 세 지점에서 기본 처리로 사고를 막음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핏콜라보가 승인하고 결제대행사는 승인 등록을 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67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[확인필요(핏콜라보):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연동 방식]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등록을 받는 연동 하나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주문번호 · tid · 승인번호 · pgTno를 함께 보관합니다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8607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 ② 요청 때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만듦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   네 값은 생기는 곳이 달라 메가MGC커피 서버가 함께 모아 저장함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구분값(pgType) 목록에 CJ ONS 추가가 필요합니다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7203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 목록(KICC · 이니시스 · KCP · 나이스 · 스마트로 · 토스 · KSNET · 신한은행)에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할부 정보 조회 · 가맹점 번호 조회 · 승인 등록 · 거래 상태 조회 · 취소 5종을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쪽 중계 API는 기본 개발 범위에 넣지 않고, 핏콜라보 · CJ ONS 협의에서 필요하다고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경우에만 개발 과제로 넣음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핏콜라보: pgType에 CJ ONS(OnePG) 추가 개발 일정과 승인 등록 연동 방식(회신 대기 1순위)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CJ ONS: 협의 안건으로 OnePG 쪽 중계 API 필요 여부를 공유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정보와 신용카드 가맹점 번호를 핏콜라보에 넘겨야 가맹점 ID(storeId)가 발급됨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   핏콜라보가 CJ ONS를 추가하면 현행 정산 구조를 그대로 씀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매트릭스(메가MGC커피 서버)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작업 매트릭스(Native · Webview)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착수 전 확인 13건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B.O · 로그 · 데이터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연동 준비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스테이징 테스트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오픈 전 점검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매트릭스(메가MGC커피 서버)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작업이 가장 많고, Native 작업이 가장 적습니다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 · 취소 경로 연결 · 미확인 거래 정리도 메가MGC커피 서버가 맡습니다.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113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CI를 메가MGC커피 서버에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13 · 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방지(주문당 결제 1건)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대조(22 · 23장)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매트릭스(Native · Webview)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공통 웹 컴포넌트와 결제수단 화면을 새로 만듭니다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이동(30장)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 · 주문 복귀 기능이 없으면 Native 작업이 늘어남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전에 13개 개발 과제의 확인 사항을 먼저 풀어야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1919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B.O와 리포트에 앱카드 결제수단 코드를 반영해야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7167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조회에 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· 주문번호 · tid · 승인번호 · pgTno · 카드사를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결제수단별 매출에서 앱카드를 따로 집계함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 [확인필요(마케팅1팀)]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· 매장 취소 경로가 승인 취소 ⑤를 부르도록 연결함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주기 작업의 실행 이력과 처리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결과(정상 · 취소 · 실패)를 기록함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토큰 원문을 남기지 않고 CI 등 개인정보를 가림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문의 대응을 위해 요청 전문과 transNo · tid는 추적되게 남김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로그인 · 가입 판정 · 결제 단계 이벤트를 새로 설계함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가입 판정 결과와 만 14세 미만 여부를 넣고, 토큰 원문은 넣지</a:t>
                      </a:r>
                    </a:p>
                    <a:p>
                      <a:pPr marL="151892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[확인필요(마케팅1팀)]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 시작하려면 가맹점 ID와 방화벽부터 준비해야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6460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결제대행사 정보 · 가맹점 번호를 넘기면 핏콜라보가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ID)를 발급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CJ ONS가 메가MGC커피 서버 → 핏콜라보 서버 방화벽을 열어 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CJ ONS가 공인 IP 3종(개발 · 스테이징 · 운영 서버)을 알림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핏콜라보 서버 호스트 · 인증 모듈 주소 · 출처 검증 값을 환경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설정값으로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거래 상태 코드 전체 목록 · 카드관리페이지 API 규격서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v1.0.4를 받음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   가맹점 ID와 방화벽이 열려야 스테이징 테스트를 시작할 수 있음</a:t>
            </a:r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531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53148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스테이징도 실제 승인이 나므로 본인 카드로 결제 후 취소합니다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앱카드 신규 가입 · 재로그인, 같은 CI 기존 계정 로그인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기존 카드 원클릭, authYN=N일 때 인증 결제 전환,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63576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5종(메가오더 · 함께오더, 퀵오더,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고객 · 매장 경로의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취소함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전에는 운영 값 전환 4가지를 확인합니다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호스트, 인증 모듈 주소, 메시지 출처 검증 값이 스테이징 값에서 운영 값으로 바뀌었는지 확인함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메가MGC커피 서버 공인 IP가 등록되고 운영 방화벽이 열렸는지 확인함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ID와 결제대행사 정보(pgType · 가맹점 번호)가 운영 값인지 확인함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금액과 주문 금액이 같은지, 승인 응답을 못 받은 건 정리가 동작하는지 확인함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심사에는 앱카드 전 과정 영상과 다른 로그인 계정을 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→ 카드사 앱 이동 · 인증 → 앱 복귀 → 로그인 · 결제 완료까지의 영상이나 캡처를 냄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 정보에 영상 · 캡처를 붙이고, 국내 카드사 앱 본인 인증이라 직접 확인할 수 없다고 메모에 적음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액세스 설명에 같은 내용을 적고 영상은 링크로 넣음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앱카드가 아닌 방식으로 로그인할 수 있는 심사용 계정을 함께 냄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5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중에는 결제대행사 승인 등록 방식이 가장 급합니다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81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ONS(OnePG)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현행 앱 기능 · 데이터 구조와 OnePG 범위를 확인해야 합니다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11-2입니다.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카드사 앱 주소 이동을 가로채는지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iOS · Android에 가로채기 처리를 더함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등록 카드사 앱 목록, 카드사 추가 때 갱신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국민 · 삼성 · 현대, Android 삼성 · 우리의 신규 등록 여부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에이전트 자동 취소 · 충전 실패의 결제 취소 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취소 · 충전 실패 때 승인 취소 ⑤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비로그인 주문 중 로그인 뒤 주문 복귀 기능이 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앱 · 웹에 복귀 기능을 새로 만듦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 필요 여부(협의 안건)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필요하면 개발 과제에 넣고 공수를 다시 산정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작업 간격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 시간, 실패 건 처리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차감, 승인 취소 뒤 복원(23장)을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법무팀은 개인정보 · 원클릭 책임 · 해지권 등 6가지를 봐야 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[확인필요(법무팀)].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6600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제22조의2 · 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2008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 · 연동 요약서: transNo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tid 조회 실패,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[확인필요(핏콜라보)]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핏콜라보 연동 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범위(협의 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때만 개발)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일시불(installment 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675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1.2.8 6.2.5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 6장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예제: 3(AOS Web)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가이드 예시: 2(iOS App)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[확인필요(핏콜라보 · CJ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ONS)]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별표2: 위탁 CI만, 제공 5항목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규격: 결제 storeUserNo · userName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CI만 전송,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프로그램 목록: 일반 결제만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MGC_ORD_132 · 133: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2: 앱카드 빠른결제 계정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Flipbook 화면 3: 앱카드 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외부IF리스트 · 화면설계서 설명: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휴대폰 계정에 SNS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구조 안내: 회원마다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[확인필요(CJ ONS)]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요약서: 사전예약 폐기 취소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49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화면으로, 로그인 수단 선택 · 전체메뉴 · 홈이 해당함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화면으로,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 · 본인인증 · 약관 · 주문하기 · 주문 결과 · 메가퀵결제 · 카드관리 페이지가 해당함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로그인 버튼이 여는 Webview 페이지이며, 공통 웹 컴포넌트를 담아 인증 모듈을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 · 결과 수신 · 출처 검증 · 포커스 수신 · 메가MGC커피 서버 호출을 담은 공통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카드사 선택 · 약관 동의 · 카드사 앱 인증 웹 페이지(화면 1_2)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주는 앱카드 조회 · 등록 · 삭제 웹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메가MGC커피의 현행 결제대행사 등록 간편결제(전체메뉴 &gt; 결제에서 관리)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• 고객 화면에서는 앱카드 계정도 「메가퀵결제」로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ONS가 운영하는 결제대행사(PG)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인증으로 가입 · 로그인하는 수단(CI는 KCP 없이 받고, 신규 가입은 13장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46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 거래번호(16자)와 함께 받는 1회용 토큰(32자)이며, token은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거래번호(20자)와 함께 받는 토큰(64자)이며, reqToken은 메가MGC커피 서버만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응답으로, Y는 인증 없이 승인(원클릭), N은 인증 뒤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보내는 카드 구분으로, 0은 기존 카드, 1은 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간편결제 계정 ID와 간편결제 회원번호이며, 기존 카드 결제에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storeId는 핏콜라보가 발급한 가맹점 ID이고, storeUserNo(회원번호)는 보내지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승인번호와 결제대행사 거래번호이며, approvalNo는 승인 취소에 꼭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본인확인 연계정보로, 회원을 찾고 앱카드 계정을 조회하는 유일한 회원 식별값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고객 행동과 판단 순서입니다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판정(13장)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않음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로그인부터 결제 완료까지 시스템별 처리와 데이터 흐름입니다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부름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16894</Words>
  <Application>Microsoft Office PowerPoint</Application>
  <PresentationFormat>와이드스크린</PresentationFormat>
  <Paragraphs>2756</Paragraphs>
  <Slides>83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83</vt:i4>
      </vt:variant>
    </vt:vector>
  </HeadingPairs>
  <TitlesOfParts>
    <vt:vector size="8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2026-10-22T10:10:36Z</dcterms:modified>
</cp:coreProperties>
</file>