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
호출 경로 · 키값은 위 원본과 대조함. 하이브리드 앱이므로 인증 모듈 호출값 nativeYN=N.
Native = 앱 네이티브 화면, Webview = 앱 안에서 여는 웹 화면.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</a:t>
            </a:r>
          </a:p>
          <a:p>
            <a:r>
              <a:t>호출 경로 · 키값은 위 원본과 대조함. 하이브리드 앱이므로 인증 모듈 호출값 nativeYN=N.</a:t>
            </a:r>
          </a:p>
          <a:p>
            <a:r>
              <a:t>Native = 앱 네이티브 화면, Webview = 앱 안에서 여는 웹 화면.</a:t>
            </a:r>
          </a:p>
          <a:p>
            <a:r>
              <a:t>결제대행사 구분값(pgType)에 CJ ONS(OnePG) 추가는 핏콜라보 회신 대기, OnePG 쪽 범위는 CJ ONS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
호출 경로 · 키값은 위 원본과 대조함. 하이브리드 앱이므로 인증 모듈 호출값 nativeYN=N.
Native = 앱 네이티브 화면, Webview = 앱 안에서 여는 웹 화면.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</a:t>
            </a:r>
          </a:p>
          <a:p>
            <a:r>
              <a:t>호출 경로 · 키값은 위 원본과 대조함. 하이브리드 앱이므로 인증 모듈 호출값 nativeYN=N.</a:t>
            </a:r>
          </a:p>
          <a:p>
            <a:r>
              <a:t>Native = 앱 네이티브 화면, Webview = 앱 안에서 여는 웹 화면.</a:t>
            </a:r>
          </a:p>
          <a:p>
            <a:r>
              <a:t>인증 거래번호(transNo, 16자)는 로그인 6.1.3 「앱카드 인증 거래번호」, 결제 거래번호(tid, 20자)는 결제 6.4.3 「앱카드 결제 거래번호」. 만료 코드: transNo 1200(모듈 2.0.4 · 연동 요약서, 기본 5분), tid 1403(간편결제 7장). 로그인 1.2.8 8장의 1200은 「tid 조회 실패」로 의미가 다름.</a:t>
            </a:r>
          </a:p>
          <a:p>
            <a:r>
              <a:t>규격 API 목록과 본문 이름이 다른 계정 목록 조회는 본문 기준(목록 getPayCardInfos.mv) [확인필요(핏콜라보)].</a:t>
            </a:r>
          </a:p>
          <a:p>
            <a:r>
              <a:t>회원번호(storeUserNo) · 주문자 이름(userName)은 어느 API에도 보내지 않고, 고객 식별은 ci로만 한다.</a:t>
            </a:r>
          </a:p>
          <a:p>
            <a:r>
              <a:t>조회 구분 값이 다름: 계정 목록 조회 userType 1 = CI, 카드관리 데이터 적재 userType 0 = 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</a:t>
            </a:r>
          </a:p>
          <a:p>
            <a:r>
              <a:t>호출 경로 · 키값은 위 원본과 대조함. 하이브리드 앱이므로 인증 모듈 호출값 nativeYN=N.</a:t>
            </a:r>
          </a:p>
          <a:p>
            <a:r>
              <a:t>Native = 앱 네이티브 화면, Webview = 앱 안에서 여는 웹 화면.</a:t>
            </a:r>
          </a:p>
          <a:p>
            <a:r>
              <a:t>앱카드는 신규 가입 수단이며, 같은 CI 계정이 있으면 가입 수단과 관계없이 그 계정으로 로그인한다.</a:t>
            </a:r>
          </a:p>
          <a:p>
            <a:r>
              <a:t>신규 가입은 휴대폰 번호 가입과 같은 가입 판정(탈퇴 30일 · 오프라인 스탬프 매칭 · 휴대폰번호 · 만 14세)을 거친다. 근거: 화면설계서_회원가입/로그인 V1.0(2025-06-10).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</a:t>
            </a:r>
          </a:p>
          <a:p>
            <a:r>
              <a:t>호출 경로 · 키값은 위 원본과 대조함. 하이브리드 앱이므로 인증 모듈 호출값 nativeYN=N.</a:t>
            </a:r>
          </a:p>
          <a:p>
            <a:r>
              <a:t>Native = 앱 네이티브 화면, Webview = 앱 안에서 여는 웹 화면.</a:t>
            </a:r>
          </a:p>
          <a:p>
            <a:r>
              <a:t>로그인 유지는 메가MGC커피 자체 토큰으로 하므로 핏콜라보로 결과를 알리는 단계는 없다.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
호출 경로 · 키값은 위 원본과 대조함. 하이브리드 앱이므로 인증 모듈 호출값 nativeYN=N.
Native = 앱 네이티브 화면, Webview = 앱 안에서 여는 웹 화면.
받는 개인정보 범위는 계약 별표2(2026-09-21) 기준.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</a:t>
            </a:r>
          </a:p>
          <a:p>
            <a:r>
              <a:t>호출 경로 · 키값은 위 원본과 대조함. 하이브리드 앱이므로 인증 모듈 호출값 nativeYN=N.</a:t>
            </a:r>
          </a:p>
          <a:p>
            <a:r>
              <a:t>Native = 앱 네이티브 화면, Webview = 앱 안에서 여는 웹 화면.</a:t>
            </a:r>
          </a:p>
          <a:p>
            <a:r>
              <a:t>authYN(결제 6.4.3): Y 바로 승인 · N 인증 모듈 인증 후 승인.</a:t>
            </a:r>
          </a:p>
          <a:p>
            <a:r>
              <a:t>결제 확인 방식은 밀어서 결제로 통일(앱카드 결제에만 적용, 생체인증 · 비밀번호 미적용).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
호출 경로 · 키값은 위 원본과 대조함. 하이브리드 앱이므로 인증 모듈 호출값 nativeYN=N.
Native = 앱 네이티브 화면, Webview = 앱 안에서 여는 웹 화면.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
호출 경로 · 키값은 위 원본과 대조함. 하이브리드 앱이므로 인증 모듈 호출값 nativeYN=N.
Native = 앱 네이티브 화면, Webview = 앱 안에서 여는 웹 화면.
결제대행사 구분값(pgType)에 CJ ONS가 없어 15번의 연동 방식 · 주체는 핏콜라보 회신 대기.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
호출 경로 · 키값은 위 원본과 대조함. 하이브리드 앱이므로 인증 모듈 호출값 nativeYN=N.
Native = 앱 네이티브 화면, Webview = 앱 안에서 여는 웹 화면.
주기 작업 실행 간격은 CJ ONS 설계 [확인필요(CJ ONS)].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</a:t>
            </a:r>
          </a:p>
          <a:p>
            <a:r>
              <a:t>호출 경로 · 키값은 위 원본과 대조함. 하이브리드 앱이므로 인증 모듈 호출값 nativeYN=N.</a:t>
            </a:r>
          </a:p>
          <a:p>
            <a:r>
              <a:t>Native = 앱 네이티브 화면, Webview = 앱 안에서 여는 웹 화면.</a:t>
            </a:r>
          </a:p>
          <a:p>
            <a:r>
              <a:t>취소 요청 경로: 고객(주문완료 상태) · 매장 · 에이전트 자동 취소 · 상담원 · 선물 결제 취소, 선불카드 충전 실패. 예약 상품 미수령 폐기는 결제금액을 환불하지 않으므로 취소를 요청하지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</a:t>
            </a:r>
          </a:p>
          <a:p>
            <a:r>
              <a:t>호출 경로 · 키값은 위 원본과 대조함. 하이브리드 앱이므로 인증 모듈 호출값 nativeYN=N.</a:t>
            </a:r>
          </a:p>
          <a:p>
            <a:r>
              <a:t>Native = 앱 네이티브 화면, Webview = 앱 안에서 여는 웹 화면.</a:t>
            </a:r>
          </a:p>
          <a:p>
            <a:r>
              <a:t>카드관리 페이지는 iframe이 아닌 웹 화면 이동으로 연다(연동 가이드 3-6). Android 복귀 통지는 카드관리 페이지가 처리.</a:t>
            </a:r>
          </a:p>
          <a:p>
            <a:r>
              <a:t>데이터 적재에는 storeUserNo(회원번호)를 보내지 않는다(핏콜라보 회신).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FFD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API 연동 흐름 정의서 v0.2</a:t>
            </a:r>
            <a:endParaRPr lang="ko-KR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560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로그인 · 결제 API 연동 흐름</a:t>
            </a:r>
            <a:endParaRPr lang="ko-KR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600" dirty="0">
                <a:solidFill>
                  <a:srgbClr val="E2D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흐름별 흐름도와 송수신 다이어그램</a:t>
            </a:r>
            <a:endParaRPr lang="ko-KR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8521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2026-10-22 · 마케팅1팀 서비스기획 · 기준 규격 로그인 1.2.8 · 간편결제 1.3.6 · 인증 모듈 2.1.2</a:t>
            </a:r>
            <a:endParaRPr lang="ko-KR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순서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흐름마다 흐름도 → 송수신 다이어그램 → 송수신 항목 순서로 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흐름도는 고객 행동과 판단을, 송수신 다이어그램은 누가 누구에게 무엇을 보내는지를 보여 줍니다.</a:t>
            </a:r>
            <a:endParaRPr lang="ko-KR" sz="1300" dirty="0"/>
          </a:p>
        </p:txBody>
      </p:sp>
      <p:graphicFrame>
        <p:nvGraphicFramePr>
          <p:cNvPr id="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22960"/>
                <a:gridCol w="4782312"/>
                <a:gridCol w="3474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담은 내용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관점에서 볼 것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구성 요소, 유스케이스, API 9종과 호출명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spc="-10" kern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· Webview 구분, 호출 주체, API 번호 체계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7~10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로그인 · 가입, 로그인 API ① · ②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 시간, CI 계정 확인, 주문 복귀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11~14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 앱카드 결제, 결제 API ①~⑥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 · 인증 결제 분기, 승인 무응답 처리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· 카드 관리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15~18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취소, 결과 미확인 거래 정리, 등록 카드 관리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 경로, 카드관리 페이지 진입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07999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네이티브 화면: 로그인 수단 선택, 전체메뉴, 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안에서 여는 웹 화면: 브릿지 페이지, 본인인증 · 약관, 주문하기, 주문 결과, 메가퀵결제, 카드관리 페이지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API(호출명)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소괄호 안은 호출명, 전체 경로 · 서버 · 주요 값은 API 목록 장(예: /prepay/requestTid.mv · 결제 서버)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거래번호(transNo)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로그인용 16자: reqTransNo.mv(로그인 6.1)로 발급, 모듈 호출(모듈 4.1) · 인증 결과 조회에 사용, 만료 1200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거래번호(tid)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결제용 20자: requestTid.mv(결제 6.4)로 발급, 모듈 호출(모듈 4.2) · 결제 ③~⑥에 사용, 만료 1403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548640" y="5971032"/>
            <a:ext cx="45720" cy="219456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9" name="핵심 문장 요약"/>
          <p:cNvSpPr txBox="1"/>
          <p:nvPr/>
        </p:nvSpPr>
        <p:spPr>
          <a:xfrm>
            <a:off x="731520" y="58978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거래번호와 결제 거래번호는 </a:t>
            </a:r>
            <a:pPr indent="0" marL="0">
              <a:buNone/>
            </a:pP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값</a:t>
            </a:r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이며, 번호와 호출명은 모든 장에서 같은 API를 가리킵니다</a:t>
            </a:r>
            <a:endParaRPr lang="ko-KR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18</a:t>
            </a:r>
            <a:endParaRPr lang="ko-KR" sz="900" dirty="0"/>
          </a:p>
        </p:txBody>
      </p:sp>
      <p:sp>
        <p:nvSpPr>
          <p:cNvPr id="11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B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E2D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구성 요소, 유스케이스, API 9종과 호출명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7A6A5D"/>
            </a:solidFill>
            <a:prstDash val="solid"/>
          </a:ln>
        </p:spPr>
        <p:txBody>
          <a:bodyPr/>
          <a:p/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   핏콜라보 호출은 메가MGC커피 서버가, Webview는 거래번호(transNo · tid)만 다룹니다</a:t>
            </a:r>
            <a:endParaRPr lang="ko-KR" sz="1300" dirty="0"/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   고객 · 매장 · 주기 작업이 쓰는 유스케이스는 6개입니다</a:t>
            </a:r>
            <a:endParaRPr lang="ko-KR" sz="1300" dirty="0"/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   메가MGC커피 서버가 부르는 핏콜라보 API는 9종입니다</a:t>
            </a:r>
            <a:endParaRPr lang="ko-KR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18</a:t>
            </a:r>
            <a:endParaRPr lang="ko-KR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호출은 메가MGC커피 서버가, Webview는 거래번호만 다룹니다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Native는 로그인 수단 선택과 전체메뉴뿐이고, 인증 · 결제 · 카드 관리는 모두 Webview입니다.</a:t>
            </a:r>
            <a:endParaRPr lang="ko-KR" sz="1300" dirty="0"/>
          </a:p>
        </p:txBody>
      </p:sp>
      <p:graphicFrame>
        <p:nvGraphicFramePr>
          <p:cNvPr id="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000754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5833872"/>
                <a:gridCol w="18745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구성 요소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주체 · 구분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화면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휴대폰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수단 선택(앱카드 버튼), 전체메뉴, 로그인 토큰 받아 화면 이동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기존 수정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브릿지 페이지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로그인 버튼에서 열려 인증 모듈 호출을 준비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신규 개발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컴포넌트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거래번호(transNo) · 결제 거래번호(tid)로 인증 모듈 호출, 결과 코드 수신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신규 개발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2.1.2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선택과 카드사 앱 인증, 결과 코드 0000~0003 반환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제공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9곳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휴대폰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인증 후 복귀(Android는 포커스 전달, iOS는 모듈이 감지)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API 9종 호출, token · reqToken 보관, CI 계정 확인, 주문 처리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기존 수정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서버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· 결제 거래번호 발급, 인증 결과 제공, 승인 대행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제공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조회 · 등록 · 삭제(sessionKey로 진입, 닫으면 redirectUrl 복귀)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제공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77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승인 등록 수신, 정산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ONS(OnePG) ·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범위 확인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52744"/>
            <a:ext cx="45720" cy="237744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8" name="핵심 문장 요약"/>
          <p:cNvSpPr txBox="1"/>
          <p:nvPr/>
        </p:nvSpPr>
        <p:spPr>
          <a:xfrm>
            <a:off x="731520" y="58795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token · reqToken은 메가MGC커피 서버에만 보관하고, Webview에는 </a:t>
            </a:r>
            <a:pPr indent="0" marL="0">
              <a:buNone/>
            </a:pP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transNo · tid만</a:t>
            </a:r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넘깁니다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18</a:t>
            </a:r>
            <a:endParaRPr lang="ko-KR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· 매장 · 주기 작업이 쓰는 유스케이스는 6개입니다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가운데 틀은 메가MGC커피 앱(Native · Webview)과 서버가 맡는 범위이고, 오른쪽은 연동하는 외부 시스템입니다.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2880360" y="1783080"/>
            <a:ext cx="6428232" cy="4480560"/>
          </a:xfrm>
          <a:prstGeom prst="rect">
            <a:avLst/>
          </a:prstGeom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7" name="범위 이름"/>
          <p:cNvSpPr txBox="1"/>
          <p:nvPr/>
        </p:nvSpPr>
        <p:spPr>
          <a:xfrm>
            <a:off x="2990088" y="18562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앱(Native · Webview) · 메가MGC커피 서버</a:t>
            </a:r>
            <a:endParaRPr lang="ko-KR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715768"/>
            <a:ext cx="1737360" cy="512064"/>
          </a:xfrm>
          <a:prstGeom prst="roundRect">
            <a:avLst>
              <a:gd name="adj" fmla="val 17857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9" name="참여자"/>
          <p:cNvSpPr txBox="1"/>
          <p:nvPr/>
        </p:nvSpPr>
        <p:spPr>
          <a:xfrm>
            <a:off x="603504" y="27432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</a:t>
            </a:r>
            <a:endParaRPr lang="ko-KR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4315968"/>
            <a:ext cx="1737360" cy="512064"/>
          </a:xfrm>
          <a:prstGeom prst="roundRect">
            <a:avLst>
              <a:gd name="adj" fmla="val 17857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1" name="참여자"/>
          <p:cNvSpPr txBox="1"/>
          <p:nvPr/>
        </p:nvSpPr>
        <p:spPr>
          <a:xfrm>
            <a:off x="603504" y="43434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 · 상담원</a:t>
            </a:r>
            <a:endParaRPr lang="ko-KR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5276088"/>
            <a:ext cx="1737360" cy="512064"/>
          </a:xfrm>
          <a:prstGeom prst="roundRect">
            <a:avLst>
              <a:gd name="adj" fmla="val 17857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3" name="참여자"/>
          <p:cNvSpPr txBox="1"/>
          <p:nvPr/>
        </p:nvSpPr>
        <p:spPr>
          <a:xfrm>
            <a:off x="603504" y="530352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 작업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(메가MGC커피 서버)</a:t>
            </a:r>
            <a:endParaRPr lang="ko-KR" sz="1100" dirty="0"/>
          </a:p>
        </p:txBody>
      </p:sp>
      <p:sp>
        <p:nvSpPr>
          <p:cNvPr id="14" name="Shape 11"/>
          <p:cNvSpPr/>
          <p:nvPr/>
        </p:nvSpPr>
        <p:spPr>
          <a:xfrm>
            <a:off x="9902952" y="2487168"/>
            <a:ext cx="1737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5" name="참여자"/>
          <p:cNvSpPr txBox="1"/>
          <p:nvPr/>
        </p:nvSpPr>
        <p:spPr>
          <a:xfrm>
            <a:off x="9957816" y="25146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</a:t>
            </a:r>
            <a:endParaRPr lang="ko-KR" sz="1100" dirty="0"/>
          </a:p>
        </p:txBody>
      </p:sp>
      <p:sp>
        <p:nvSpPr>
          <p:cNvPr id="16" name="Shape 13"/>
          <p:cNvSpPr/>
          <p:nvPr/>
        </p:nvSpPr>
        <p:spPr>
          <a:xfrm>
            <a:off x="9902952" y="3584448"/>
            <a:ext cx="1737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7" name="참여자"/>
          <p:cNvSpPr txBox="1"/>
          <p:nvPr/>
        </p:nvSpPr>
        <p:spPr>
          <a:xfrm>
            <a:off x="9957816" y="361188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앱</a:t>
            </a:r>
            <a:endParaRPr lang="ko-KR" sz="1100" dirty="0"/>
          </a:p>
        </p:txBody>
      </p:sp>
      <p:sp>
        <p:nvSpPr>
          <p:cNvPr id="18" name="Shape 15"/>
          <p:cNvSpPr/>
          <p:nvPr/>
        </p:nvSpPr>
        <p:spPr>
          <a:xfrm>
            <a:off x="9902952" y="4681728"/>
            <a:ext cx="1737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9" name="참여자"/>
          <p:cNvSpPr txBox="1"/>
          <p:nvPr/>
        </p:nvSpPr>
        <p:spPr>
          <a:xfrm>
            <a:off x="9957816" y="470916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</a:t>
            </a:r>
            <a:endParaRPr lang="ko-KR" sz="1100" dirty="0"/>
          </a:p>
        </p:txBody>
      </p:sp>
      <p:sp>
        <p:nvSpPr>
          <p:cNvPr id="20" name="Shape 17"/>
          <p:cNvSpPr/>
          <p:nvPr/>
        </p:nvSpPr>
        <p:spPr>
          <a:xfrm flipV="1">
            <a:off x="2286000" y="2560320"/>
            <a:ext cx="1234440" cy="41148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8668512" y="2560320"/>
            <a:ext cx="1234440" cy="18288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8668512" y="2560320"/>
            <a:ext cx="1234440" cy="128016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2286000" y="2971800"/>
            <a:ext cx="1234440" cy="22860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2286000" y="2971800"/>
            <a:ext cx="1234440" cy="86868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 flipV="1">
            <a:off x="8668512" y="2743200"/>
            <a:ext cx="1234440" cy="109728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8668512" y="3840480"/>
            <a:ext cx="1234440" cy="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8668512" y="3840480"/>
            <a:ext cx="1234440" cy="109728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2286000" y="2971800"/>
            <a:ext cx="1234440" cy="150876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 flipV="1">
            <a:off x="8668512" y="2743200"/>
            <a:ext cx="1234440" cy="173736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 flipV="1">
            <a:off x="8668512" y="3840480"/>
            <a:ext cx="1234440" cy="64008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2286000" y="2971800"/>
            <a:ext cx="1234440" cy="214884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2286000" y="4572000"/>
            <a:ext cx="1234440" cy="54864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 flipV="1">
            <a:off x="8668512" y="2743200"/>
            <a:ext cx="1234440" cy="237744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 flipV="1">
            <a:off x="8668512" y="4937760"/>
            <a:ext cx="1234440" cy="18288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2286000" y="5532120"/>
            <a:ext cx="1234440" cy="22860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 flipV="1">
            <a:off x="8668512" y="2743200"/>
            <a:ext cx="1234440" cy="301752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 flipV="1">
            <a:off x="8668512" y="4937760"/>
            <a:ext cx="1234440" cy="82296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3520440" y="2331720"/>
            <a:ext cx="5148072" cy="457200"/>
          </a:xfrm>
          <a:prstGeom prst="roundRect">
            <a:avLst>
              <a:gd name="adj" fmla="val 50000"/>
            </a:avLst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39" name="유스케이스"/>
          <p:cNvSpPr txBox="1"/>
          <p:nvPr/>
        </p:nvSpPr>
        <p:spPr>
          <a:xfrm>
            <a:off x="3794760" y="23774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앱카드로 가입 · 로그인</a:t>
            </a:r>
            <a:endParaRPr lang="ko-KR" sz="1200" dirty="0"/>
          </a:p>
        </p:txBody>
      </p:sp>
      <p:sp>
        <p:nvSpPr>
          <p:cNvPr id="40" name="유스케이스 API"/>
          <p:cNvSpPr txBox="1"/>
          <p:nvPr/>
        </p:nvSpPr>
        <p:spPr>
          <a:xfrm>
            <a:off x="7040880" y="2377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① · ②</a:t>
            </a:r>
            <a:endParaRPr lang="ko-KR" sz="1050" dirty="0"/>
          </a:p>
        </p:txBody>
      </p:sp>
      <p:sp>
        <p:nvSpPr>
          <p:cNvPr id="41" name="Shape 38"/>
          <p:cNvSpPr/>
          <p:nvPr/>
        </p:nvSpPr>
        <p:spPr>
          <a:xfrm>
            <a:off x="3520440" y="2971800"/>
            <a:ext cx="5148072" cy="457200"/>
          </a:xfrm>
          <a:prstGeom prst="roundRect">
            <a:avLst>
              <a:gd name="adj" fmla="val 50000"/>
            </a:avLst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2" name="유스케이스"/>
          <p:cNvSpPr txBox="1"/>
          <p:nvPr/>
        </p:nvSpPr>
        <p:spPr>
          <a:xfrm>
            <a:off x="3794760" y="30175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후 진행 중이던 주문으로 복귀</a:t>
            </a:r>
            <a:endParaRPr lang="ko-KR" sz="1200" dirty="0"/>
          </a:p>
        </p:txBody>
      </p:sp>
      <p:sp>
        <p:nvSpPr>
          <p:cNvPr id="43" name="유스케이스 API"/>
          <p:cNvSpPr txBox="1"/>
          <p:nvPr/>
        </p:nvSpPr>
        <p:spPr>
          <a:xfrm>
            <a:off x="7040880" y="3017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후 화면 이동</a:t>
            </a:r>
            <a:endParaRPr lang="ko-KR" sz="1050" dirty="0"/>
          </a:p>
        </p:txBody>
      </p:sp>
      <p:sp>
        <p:nvSpPr>
          <p:cNvPr id="44" name="Shape 41"/>
          <p:cNvSpPr/>
          <p:nvPr/>
        </p:nvSpPr>
        <p:spPr>
          <a:xfrm>
            <a:off x="3520440" y="3611880"/>
            <a:ext cx="5148072" cy="457200"/>
          </a:xfrm>
          <a:prstGeom prst="roundRect">
            <a:avLst>
              <a:gd name="adj" fmla="val 50000"/>
            </a:avLst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5" name="유스케이스"/>
          <p:cNvSpPr txBox="1"/>
          <p:nvPr/>
        </p:nvSpPr>
        <p:spPr>
          <a:xfrm>
            <a:off x="3794760" y="36576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결제(원클릭 · 인증 결제)</a:t>
            </a:r>
            <a:endParaRPr lang="ko-KR" sz="1200" dirty="0"/>
          </a:p>
        </p:txBody>
      </p:sp>
      <p:sp>
        <p:nvSpPr>
          <p:cNvPr id="46" name="유스케이스 API"/>
          <p:cNvSpPr txBox="1"/>
          <p:nvPr/>
        </p:nvSpPr>
        <p:spPr>
          <a:xfrm>
            <a:off x="7040880" y="3657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①~④ · ⑥</a:t>
            </a:r>
            <a:endParaRPr lang="ko-KR" sz="1050" dirty="0"/>
          </a:p>
        </p:txBody>
      </p:sp>
      <p:sp>
        <p:nvSpPr>
          <p:cNvPr id="47" name="Shape 44"/>
          <p:cNvSpPr/>
          <p:nvPr/>
        </p:nvSpPr>
        <p:spPr>
          <a:xfrm>
            <a:off x="3520440" y="4251960"/>
            <a:ext cx="5148072" cy="457200"/>
          </a:xfrm>
          <a:prstGeom prst="roundRect">
            <a:avLst>
              <a:gd name="adj" fmla="val 50000"/>
            </a:avLst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8" name="유스케이스"/>
          <p:cNvSpPr txBox="1"/>
          <p:nvPr/>
        </p:nvSpPr>
        <p:spPr>
          <a:xfrm>
            <a:off x="3794760" y="42976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카드 조회 · 추가 · 삭제</a:t>
            </a:r>
            <a:endParaRPr lang="ko-KR" sz="1200" dirty="0"/>
          </a:p>
        </p:txBody>
      </p:sp>
      <p:sp>
        <p:nvSpPr>
          <p:cNvPr id="49" name="유스케이스 API"/>
          <p:cNvSpPr txBox="1"/>
          <p:nvPr/>
        </p:nvSpPr>
        <p:spPr>
          <a:xfrm>
            <a:off x="7040880" y="4297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관리 ①</a:t>
            </a:r>
            <a:endParaRPr lang="ko-KR" sz="1050" dirty="0"/>
          </a:p>
        </p:txBody>
      </p:sp>
      <p:sp>
        <p:nvSpPr>
          <p:cNvPr id="50" name="Shape 47"/>
          <p:cNvSpPr/>
          <p:nvPr/>
        </p:nvSpPr>
        <p:spPr>
          <a:xfrm>
            <a:off x="3520440" y="4892040"/>
            <a:ext cx="5148072" cy="457200"/>
          </a:xfrm>
          <a:prstGeom prst="roundRect">
            <a:avLst>
              <a:gd name="adj" fmla="val 50000"/>
            </a:avLst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51" name="유스케이스"/>
          <p:cNvSpPr txBox="1"/>
          <p:nvPr/>
        </p:nvSpPr>
        <p:spPr>
          <a:xfrm>
            <a:off x="3794760" y="49377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취소(전체)</a:t>
            </a:r>
            <a:endParaRPr lang="ko-KR" sz="1200" dirty="0"/>
          </a:p>
        </p:txBody>
      </p:sp>
      <p:sp>
        <p:nvSpPr>
          <p:cNvPr id="52" name="유스케이스 API"/>
          <p:cNvSpPr txBox="1"/>
          <p:nvPr/>
        </p:nvSpPr>
        <p:spPr>
          <a:xfrm>
            <a:off x="7040880" y="4937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⑤</a:t>
            </a:r>
            <a:endParaRPr lang="ko-KR" sz="1050" dirty="0"/>
          </a:p>
        </p:txBody>
      </p:sp>
      <p:sp>
        <p:nvSpPr>
          <p:cNvPr id="53" name="Shape 50"/>
          <p:cNvSpPr/>
          <p:nvPr/>
        </p:nvSpPr>
        <p:spPr>
          <a:xfrm>
            <a:off x="3520440" y="5532120"/>
            <a:ext cx="5148072" cy="457200"/>
          </a:xfrm>
          <a:prstGeom prst="roundRect">
            <a:avLst>
              <a:gd name="adj" fmla="val 50000"/>
            </a:avLst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54" name="유스케이스"/>
          <p:cNvSpPr txBox="1"/>
          <p:nvPr/>
        </p:nvSpPr>
        <p:spPr>
          <a:xfrm>
            <a:off x="3794760" y="55778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미확인 거래 정리</a:t>
            </a:r>
            <a:endParaRPr lang="ko-KR" sz="1200" dirty="0"/>
          </a:p>
        </p:txBody>
      </p:sp>
      <p:sp>
        <p:nvSpPr>
          <p:cNvPr id="55" name="유스케이스 API"/>
          <p:cNvSpPr txBox="1"/>
          <p:nvPr/>
        </p:nvSpPr>
        <p:spPr>
          <a:xfrm>
            <a:off x="7040880" y="5577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⑥ · ⑤</a:t>
            </a:r>
            <a:endParaRPr lang="ko-KR" sz="1050" dirty="0"/>
          </a:p>
        </p:txBody>
      </p:sp>
      <p:sp>
        <p:nvSpPr>
          <p:cNvPr id="56" name="Text 5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18</a:t>
            </a:r>
            <a:endParaRPr lang="ko-KR" sz="900" dirty="0"/>
          </a:p>
        </p:txBody>
      </p:sp>
      <p:sp>
        <p:nvSpPr>
          <p:cNvPr id="57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부르는 핏콜라보 API는 9종입니다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경로와 키값은 규격서 원본 기준이며, 번호는 모든 장에서 같은 API를 가리킵니다.</a:t>
            </a:r>
            <a:endParaRPr lang="ko-KR" sz="1300" dirty="0"/>
          </a:p>
        </p:txBody>
      </p:sp>
      <p:graphicFrame>
        <p:nvGraphicFramePr>
          <p:cNvPr id="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691640"/>
                <a:gridCol w="2606040"/>
                <a:gridCol w="1600200"/>
                <a:gridCol w="414223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 경로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· 규격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값(보냄 → 받음) · 규칙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발급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/reqTransNo.mv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로그인 6.1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transType L → transNo · token(30분 · 1회용)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/reqAuthData.mv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로그인 6.3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· token → ci 등,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후 3분 안에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(1500)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/api/getPayCardInfo.mv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userType 1(CI) · ci → acntId · userNo 목록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/prepay/requestTid.mv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 0 · 1 · ci → tid · authYN · reqToken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③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/reqAuthDataPay.mv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결제 6.6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 · orderNo · reqToken → acntId · userNo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④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/mobileCert/appcardPayment.mv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 approvalNo · pgTno,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재호출 금지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/ext/appcardCancel.mv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approvalNo 필수, 전체 취소(type 0)만 사용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 상태 조회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/mobileCert/reqCondition.mv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6.12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 → state · approvalNo · cancelState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관리 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적재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/api/insSessionData.mv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카드관리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userType 0(CI) · redirectUrl → sessionKey · token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52744"/>
            <a:ext cx="45720" cy="237744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8" name="핵심 문장 요약"/>
          <p:cNvSpPr txBox="1"/>
          <p:nvPr/>
        </p:nvSpPr>
        <p:spPr>
          <a:xfrm>
            <a:off x="731520" y="58795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중계 5종(승인 등록 · 취소 등)은 핏콜라보가 결제대행사로 보냅니다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18</a:t>
            </a:r>
            <a:endParaRPr lang="ko-KR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B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E2D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로그인 · 가입, 로그인 API ① · ②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7A6A5D"/>
            </a:solidFill>
            <a:prstDash val="solid"/>
          </a:ln>
        </p:spPr>
        <p:txBody>
          <a:bodyPr/>
          <a:p/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   앱카드 인증 뒤 CI로 기존 계정을 찾습니다</a:t>
            </a:r>
            <a:endParaRPr lang="ko-KR" sz="1300" dirty="0"/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   로그인 한 번에 메가MGC커피 서버와 핏콜라보가 두 번 주고받습니다</a:t>
            </a:r>
            <a:endParaRPr lang="ko-KR" sz="1300" dirty="0"/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   로그인 송수신 항목과 지켜야 할 규칙</a:t>
            </a:r>
            <a:endParaRPr lang="ko-KR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18</a:t>
            </a:r>
            <a:endParaRPr lang="ko-KR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· 흐름도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인증 뒤 CI로 기존 계정을 찾습니다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 로그인 수단 선택부터 홈 또는 주문 화면 복귀까지의 처리 순서입니다.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6181344" y="411480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7" name="범례"/>
          <p:cNvSpPr txBox="1"/>
          <p:nvPr/>
        </p:nvSpPr>
        <p:spPr>
          <a:xfrm>
            <a:off x="6528816" y="3840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· 끝</a:t>
            </a:r>
            <a:endParaRPr lang="ko-KR" sz="1000" dirty="0"/>
          </a:p>
        </p:txBody>
      </p:sp>
      <p:sp>
        <p:nvSpPr>
          <p:cNvPr id="8" name="Shape 5"/>
          <p:cNvSpPr/>
          <p:nvPr/>
        </p:nvSpPr>
        <p:spPr>
          <a:xfrm>
            <a:off x="7397496" y="411480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9" name="범례"/>
          <p:cNvSpPr txBox="1"/>
          <p:nvPr/>
        </p:nvSpPr>
        <p:spPr>
          <a:xfrm>
            <a:off x="7744968" y="38404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 · Webview · 서버 처리</a:t>
            </a:r>
            <a:endParaRPr lang="ko-KR" sz="1000" dirty="0"/>
          </a:p>
        </p:txBody>
      </p:sp>
      <p:sp>
        <p:nvSpPr>
          <p:cNvPr id="10" name="Shape 7"/>
          <p:cNvSpPr/>
          <p:nvPr/>
        </p:nvSpPr>
        <p:spPr>
          <a:xfrm>
            <a:off x="9710928" y="411480"/>
            <a:ext cx="274320" cy="16459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1" name="범례"/>
          <p:cNvSpPr txBox="1"/>
          <p:nvPr/>
        </p:nvSpPr>
        <p:spPr>
          <a:xfrm>
            <a:off x="10058400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ko-KR" sz="1000" dirty="0"/>
          </a:p>
        </p:txBody>
      </p:sp>
      <p:sp>
        <p:nvSpPr>
          <p:cNvPr id="12" name="Shape 9"/>
          <p:cNvSpPr/>
          <p:nvPr/>
        </p:nvSpPr>
        <p:spPr>
          <a:xfrm>
            <a:off x="10607040" y="411480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3" name="범례"/>
          <p:cNvSpPr txBox="1"/>
          <p:nvPr/>
        </p:nvSpPr>
        <p:spPr>
          <a:xfrm>
            <a:off x="10954512" y="3840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안내</a:t>
            </a:r>
            <a:endParaRPr lang="ko-KR" sz="1000" dirty="0"/>
          </a:p>
        </p:txBody>
      </p:sp>
      <p:sp>
        <p:nvSpPr>
          <p:cNvPr id="70" name="Rounded Rectangle 10"/>
          <p:cNvSpPr/>
          <p:nvPr/>
        </p:nvSpPr>
        <p:spPr>
          <a:xfrm>
            <a:off x="685800" y="1938528"/>
            <a:ext cx="1691640" cy="566928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앱카드 로그인 선택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로그인 수단 · Native</a:t>
            </a:r>
          </a:p>
        </p:txBody>
      </p:sp>
      <p:sp>
        <p:nvSpPr>
          <p:cNvPr id="71" name="Rectangle 11"/>
          <p:cNvSpPr/>
          <p:nvPr/>
        </p:nvSpPr>
        <p:spPr>
          <a:xfrm>
            <a:off x="2697480" y="1938528"/>
            <a:ext cx="1874519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브릿지 페이지(Webview)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거래번호 발급 ①(reqTransNo.mv)</a:t>
            </a:r>
          </a:p>
        </p:txBody>
      </p:sp>
      <p:sp>
        <p:nvSpPr>
          <p:cNvPr id="72" name="Rectangle 12"/>
          <p:cNvSpPr/>
          <p:nvPr/>
        </p:nvSpPr>
        <p:spPr>
          <a:xfrm>
            <a:off x="4892040" y="1938528"/>
            <a:ext cx="1691640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호출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카드사 앱 인증 · 복귀</a:t>
            </a:r>
          </a:p>
        </p:txBody>
      </p:sp>
      <p:sp>
        <p:nvSpPr>
          <p:cNvPr id="73" name="Diamond 13"/>
          <p:cNvSpPr/>
          <p:nvPr/>
        </p:nvSpPr>
        <p:spPr>
          <a:xfrm>
            <a:off x="6903720" y="1892807"/>
            <a:ext cx="1600200" cy="65836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코드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0000?</a:t>
            </a:r>
          </a:p>
        </p:txBody>
      </p:sp>
      <p:sp>
        <p:nvSpPr>
          <p:cNvPr id="74" name="Rectangle 14"/>
          <p:cNvSpPr/>
          <p:nvPr/>
        </p:nvSpPr>
        <p:spPr>
          <a:xfrm>
            <a:off x="8823960" y="1938528"/>
            <a:ext cx="2011680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조회 ②(reqAuthData.mv)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인증 후 3분 안에</a:t>
            </a:r>
          </a:p>
        </p:txBody>
      </p:sp>
      <p:sp>
        <p:nvSpPr>
          <p:cNvPr id="75" name="Rectangle 15"/>
          <p:cNvSpPr/>
          <p:nvPr/>
        </p:nvSpPr>
        <p:spPr>
          <a:xfrm>
            <a:off x="6784848" y="2852928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실패 · 취소 안내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0001~0003, 1500</a:t>
            </a:r>
          </a:p>
        </p:txBody>
      </p:sp>
      <p:sp>
        <p:nvSpPr>
          <p:cNvPr id="76" name="Diamond 16"/>
          <p:cNvSpPr/>
          <p:nvPr/>
        </p:nvSpPr>
        <p:spPr>
          <a:xfrm>
            <a:off x="9052560" y="2807208"/>
            <a:ext cx="1554480" cy="65836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조회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성공?</a:t>
            </a:r>
          </a:p>
        </p:txBody>
      </p:sp>
      <p:sp>
        <p:nvSpPr>
          <p:cNvPr id="77" name="Diamond 17"/>
          <p:cNvSpPr/>
          <p:nvPr/>
        </p:nvSpPr>
        <p:spPr>
          <a:xfrm>
            <a:off x="8915400" y="3721608"/>
            <a:ext cx="1828800" cy="69494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같은 CI로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가입한 계정?</a:t>
            </a:r>
          </a:p>
        </p:txBody>
      </p:sp>
      <p:sp>
        <p:nvSpPr>
          <p:cNvPr id="78" name="Rectangle 19"/>
          <p:cNvSpPr/>
          <p:nvPr/>
        </p:nvSpPr>
        <p:spPr>
          <a:xfrm>
            <a:off x="4526280" y="3785615"/>
            <a:ext cx="1874519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기존 계정 로그인 · 토큰 발급</a:t>
            </a:r>
          </a:p>
        </p:txBody>
      </p:sp>
      <p:sp>
        <p:nvSpPr>
          <p:cNvPr id="79" name="Diamond 20"/>
          <p:cNvSpPr/>
          <p:nvPr/>
        </p:nvSpPr>
        <p:spPr>
          <a:xfrm>
            <a:off x="2697480" y="3721608"/>
            <a:ext cx="1554480" cy="69494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중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로그인?</a:t>
            </a:r>
          </a:p>
        </p:txBody>
      </p:sp>
      <p:sp>
        <p:nvSpPr>
          <p:cNvPr id="80" name="Rounded Rectangle 21"/>
          <p:cNvSpPr/>
          <p:nvPr/>
        </p:nvSpPr>
        <p:spPr>
          <a:xfrm>
            <a:off x="685800" y="3785615"/>
            <a:ext cx="1691640" cy="566928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진행 중이던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주문 화면 복귀</a:t>
            </a:r>
          </a:p>
        </p:txBody>
      </p:sp>
      <p:sp>
        <p:nvSpPr>
          <p:cNvPr id="81" name="Rounded Rectangle 22"/>
          <p:cNvSpPr/>
          <p:nvPr/>
        </p:nvSpPr>
        <p:spPr>
          <a:xfrm>
            <a:off x="2606040" y="4736592"/>
            <a:ext cx="1737360" cy="502920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홈 이동(Native)</a:t>
            </a:r>
          </a:p>
        </p:txBody>
      </p:sp>
      <p:sp>
        <p:nvSpPr>
          <p:cNvPr id="82" name="Rectangle 24"/>
          <p:cNvSpPr/>
          <p:nvPr/>
        </p:nvSpPr>
        <p:spPr>
          <a:xfrm>
            <a:off x="9098280" y="4700016"/>
            <a:ext cx="1965960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가입 판정 · 약관(Webview)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휴대폰번호 · 만 14세 판정</a:t>
            </a:r>
          </a:p>
        </p:txBody>
      </p:sp>
      <p:sp>
        <p:nvSpPr>
          <p:cNvPr id="83" name="TextBox 25"/>
          <p:cNvSpPr txBox="1"/>
          <p:nvPr/>
        </p:nvSpPr>
        <p:spPr>
          <a:xfrm>
            <a:off x="685800" y="2788920"/>
            <a:ext cx="5760720" cy="5029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- transNo만 Webview로, token은 메가MGC커피 서버에만 보관</a:t>
            </a:r>
          </a:p>
          <a:p>
            <a:pPr algn="l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- 로그인 유지는 메가MGC커피 자체 토큰으로 함</a:t>
            </a:r>
          </a:p>
        </p:txBody>
      </p:sp>
      <p:cxnSp>
        <p:nvCxnSpPr>
          <p:cNvPr id="84" name="Connector 26"/>
          <p:cNvCxnSpPr/>
          <p:nvPr/>
        </p:nvCxnSpPr>
        <p:spPr>
          <a:xfrm>
            <a:off x="2377440" y="2221992"/>
            <a:ext cx="32004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27"/>
          <p:cNvCxnSpPr/>
          <p:nvPr/>
        </p:nvCxnSpPr>
        <p:spPr>
          <a:xfrm>
            <a:off x="4572000" y="2221992"/>
            <a:ext cx="32004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28"/>
          <p:cNvCxnSpPr/>
          <p:nvPr/>
        </p:nvCxnSpPr>
        <p:spPr>
          <a:xfrm flipV="1">
            <a:off x="6583679" y="2221991"/>
            <a:ext cx="320041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29"/>
          <p:cNvCxnSpPr/>
          <p:nvPr/>
        </p:nvCxnSpPr>
        <p:spPr>
          <a:xfrm>
            <a:off x="8503920" y="2221991"/>
            <a:ext cx="320040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30"/>
          <p:cNvSpPr txBox="1"/>
          <p:nvPr/>
        </p:nvSpPr>
        <p:spPr>
          <a:xfrm>
            <a:off x="8549640" y="2020823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89" name="Connector 31"/>
          <p:cNvCxnSpPr/>
          <p:nvPr/>
        </p:nvCxnSpPr>
        <p:spPr>
          <a:xfrm>
            <a:off x="7703820" y="2551176"/>
            <a:ext cx="0" cy="301752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32"/>
          <p:cNvSpPr txBox="1"/>
          <p:nvPr/>
        </p:nvSpPr>
        <p:spPr>
          <a:xfrm>
            <a:off x="7749540" y="2551176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91" name="Connector 33"/>
          <p:cNvCxnSpPr/>
          <p:nvPr/>
        </p:nvCxnSpPr>
        <p:spPr>
          <a:xfrm>
            <a:off x="9829800" y="2505456"/>
            <a:ext cx="0" cy="301752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34"/>
          <p:cNvCxnSpPr/>
          <p:nvPr/>
        </p:nvCxnSpPr>
        <p:spPr>
          <a:xfrm flipH="1">
            <a:off x="8613648" y="3136391"/>
            <a:ext cx="438912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35"/>
          <p:cNvSpPr txBox="1"/>
          <p:nvPr/>
        </p:nvSpPr>
        <p:spPr>
          <a:xfrm>
            <a:off x="8549640" y="2935223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94" name="Connector 36"/>
          <p:cNvCxnSpPr/>
          <p:nvPr/>
        </p:nvCxnSpPr>
        <p:spPr>
          <a:xfrm>
            <a:off x="9829800" y="3465576"/>
            <a:ext cx="0" cy="256032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37"/>
          <p:cNvSpPr txBox="1"/>
          <p:nvPr/>
        </p:nvSpPr>
        <p:spPr>
          <a:xfrm>
            <a:off x="9875520" y="3465576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96" name="Connector 38"/>
          <p:cNvCxnSpPr/>
          <p:nvPr/>
        </p:nvCxnSpPr>
        <p:spPr>
          <a:xfrm flipH="1">
            <a:off x="6400800" y="4069080"/>
            <a:ext cx="251460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39"/>
          <p:cNvSpPr txBox="1"/>
          <p:nvPr/>
        </p:nvSpPr>
        <p:spPr>
          <a:xfrm>
            <a:off x="8503920" y="3867912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98" name="Connector 40"/>
          <p:cNvCxnSpPr/>
          <p:nvPr/>
        </p:nvCxnSpPr>
        <p:spPr>
          <a:xfrm>
            <a:off x="9829800" y="4416552"/>
            <a:ext cx="0" cy="283464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41"/>
          <p:cNvSpPr txBox="1"/>
          <p:nvPr/>
        </p:nvSpPr>
        <p:spPr>
          <a:xfrm>
            <a:off x="9875520" y="4416552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100" name="Connector 46"/>
          <p:cNvCxnSpPr/>
          <p:nvPr/>
        </p:nvCxnSpPr>
        <p:spPr>
          <a:xfrm flipH="1">
            <a:off x="4251960" y="4069079"/>
            <a:ext cx="274320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47"/>
          <p:cNvCxnSpPr/>
          <p:nvPr/>
        </p:nvCxnSpPr>
        <p:spPr>
          <a:xfrm flipH="1" flipV="1">
            <a:off x="2377440" y="4069079"/>
            <a:ext cx="320040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48"/>
          <p:cNvSpPr txBox="1"/>
          <p:nvPr/>
        </p:nvSpPr>
        <p:spPr>
          <a:xfrm>
            <a:off x="2423160" y="3867912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103" name="Connector 49"/>
          <p:cNvCxnSpPr/>
          <p:nvPr/>
        </p:nvCxnSpPr>
        <p:spPr>
          <a:xfrm>
            <a:off x="3474720" y="4416552"/>
            <a:ext cx="0" cy="32004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50"/>
          <p:cNvSpPr txBox="1"/>
          <p:nvPr/>
        </p:nvSpPr>
        <p:spPr>
          <a:xfrm>
            <a:off x="3520440" y="4416552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105" name="Connector 51"/>
          <p:cNvCxnSpPr/>
          <p:nvPr/>
        </p:nvCxnSpPr>
        <p:spPr>
          <a:xfrm>
            <a:off x="10081259" y="5266944"/>
            <a:ext cx="0" cy="201168"/>
          </a:xfrm>
          <a:prstGeom prst="line">
            <a:avLst/>
          </a:prstGeom>
          <a:ln w="12700">
            <a:solidFill>
              <a:srgbClr val="7A6A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52"/>
          <p:cNvCxnSpPr/>
          <p:nvPr/>
        </p:nvCxnSpPr>
        <p:spPr>
          <a:xfrm flipH="1">
            <a:off x="5463540" y="5468112"/>
            <a:ext cx="4617719" cy="0"/>
          </a:xfrm>
          <a:prstGeom prst="line">
            <a:avLst/>
          </a:prstGeom>
          <a:ln w="12700">
            <a:solidFill>
              <a:srgbClr val="7A6A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53"/>
          <p:cNvCxnSpPr/>
          <p:nvPr/>
        </p:nvCxnSpPr>
        <p:spPr>
          <a:xfrm flipV="1">
            <a:off x="5463540" y="4352544"/>
            <a:ext cx="0" cy="1115568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Shape 64"/>
          <p:cNvSpPr/>
          <p:nvPr/>
        </p:nvSpPr>
        <p:spPr>
          <a:xfrm>
            <a:off x="548640" y="5952744"/>
            <a:ext cx="45720" cy="237744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68" name="핵심 문장 요약"/>
          <p:cNvSpPr txBox="1"/>
          <p:nvPr/>
        </p:nvSpPr>
        <p:spPr>
          <a:xfrm>
            <a:off x="731520" y="58795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결과는 인증 후 3분 안에 조회하고, 같은 CI 계정이 없으면 휴대폰 번호 가입과 같은 가입 판정을 거칩니다</a:t>
            </a:r>
            <a:endParaRPr lang="ko-KR" sz="1500" dirty="0"/>
          </a:p>
        </p:txBody>
      </p:sp>
      <p:sp>
        <p:nvSpPr>
          <p:cNvPr id="69" name="Text 6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18</a:t>
            </a:r>
            <a:endParaRPr lang="ko-KR" sz="900" dirty="0"/>
          </a:p>
        </p:txBody>
      </p:sp>
      <p:sp>
        <p:nvSpPr>
          <p:cNvPr id="108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· 송수신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한 번에 메가MGC커피 서버와 핏콜라보가 두 번 주고받습니다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번호는 시간 순서이며, 실선은 요청, 점선은 응답입니다.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5952744" y="411480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7" name="범례"/>
          <p:cNvSpPr txBox="1"/>
          <p:nvPr/>
        </p:nvSpPr>
        <p:spPr>
          <a:xfrm>
            <a:off x="6300216" y="38404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· 요청자</a:t>
            </a:r>
            <a:endParaRPr lang="ko-KR" sz="1000" dirty="0"/>
          </a:p>
        </p:txBody>
      </p:sp>
      <p:sp>
        <p:nvSpPr>
          <p:cNvPr id="8" name="Shape 5"/>
          <p:cNvSpPr/>
          <p:nvPr/>
        </p:nvSpPr>
        <p:spPr>
          <a:xfrm>
            <a:off x="7351776" y="411480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9" name="범례"/>
          <p:cNvSpPr txBox="1"/>
          <p:nvPr/>
        </p:nvSpPr>
        <p:spPr>
          <a:xfrm>
            <a:off x="7699248" y="384048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측</a:t>
            </a:r>
            <a:endParaRPr lang="ko-KR" sz="1000" dirty="0"/>
          </a:p>
        </p:txBody>
      </p:sp>
      <p:sp>
        <p:nvSpPr>
          <p:cNvPr id="10" name="Shape 7"/>
          <p:cNvSpPr/>
          <p:nvPr/>
        </p:nvSpPr>
        <p:spPr>
          <a:xfrm>
            <a:off x="9134856" y="411480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1" name="범례"/>
          <p:cNvSpPr txBox="1"/>
          <p:nvPr/>
        </p:nvSpPr>
        <p:spPr>
          <a:xfrm>
            <a:off x="9482328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</a:t>
            </a:r>
            <a:endParaRPr lang="ko-KR" sz="1000" dirty="0"/>
          </a:p>
        </p:txBody>
      </p:sp>
      <p:sp>
        <p:nvSpPr>
          <p:cNvPr id="12" name="Shape 9"/>
          <p:cNvSpPr/>
          <p:nvPr/>
        </p:nvSpPr>
        <p:spPr>
          <a:xfrm>
            <a:off x="10030968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범례"/>
          <p:cNvSpPr txBox="1"/>
          <p:nvPr/>
        </p:nvSpPr>
        <p:spPr>
          <a:xfrm>
            <a:off x="10378440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</a:t>
            </a:r>
            <a:endParaRPr lang="ko-KR" sz="1000" dirty="0"/>
          </a:p>
        </p:txBody>
      </p:sp>
      <p:sp>
        <p:nvSpPr>
          <p:cNvPr id="14" name="Shape 11"/>
          <p:cNvSpPr/>
          <p:nvPr/>
        </p:nvSpPr>
        <p:spPr>
          <a:xfrm>
            <a:off x="10927080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15" name="범례"/>
          <p:cNvSpPr txBox="1"/>
          <p:nvPr/>
        </p:nvSpPr>
        <p:spPr>
          <a:xfrm>
            <a:off x="11274552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ko-KR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1783080"/>
            <a:ext cx="1276858" cy="457200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7" name="참여자"/>
          <p:cNvSpPr txBox="1"/>
          <p:nvPr/>
        </p:nvSpPr>
        <p:spPr>
          <a:xfrm>
            <a:off x="603504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</a:t>
            </a:r>
            <a:endParaRPr lang="ko-KR" sz="1050" dirty="0"/>
          </a:p>
        </p:txBody>
      </p:sp>
      <p:sp>
        <p:nvSpPr>
          <p:cNvPr id="18" name="Shape 15"/>
          <p:cNvSpPr/>
          <p:nvPr/>
        </p:nvSpPr>
        <p:spPr>
          <a:xfrm>
            <a:off x="1911809" y="1783080"/>
            <a:ext cx="1276858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19" name="참여자"/>
          <p:cNvSpPr txBox="1"/>
          <p:nvPr/>
        </p:nvSpPr>
        <p:spPr>
          <a:xfrm>
            <a:off x="1966673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</a:t>
            </a:r>
            <a:endParaRPr lang="ko-KR" sz="1050" dirty="0"/>
          </a:p>
        </p:txBody>
      </p:sp>
      <p:sp>
        <p:nvSpPr>
          <p:cNvPr id="20" name="Shape 17"/>
          <p:cNvSpPr/>
          <p:nvPr/>
        </p:nvSpPr>
        <p:spPr>
          <a:xfrm>
            <a:off x="3274977" y="1783080"/>
            <a:ext cx="1276858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1" name="참여자"/>
          <p:cNvSpPr txBox="1"/>
          <p:nvPr/>
        </p:nvSpPr>
        <p:spPr>
          <a:xfrm>
            <a:off x="3329841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(브릿지 · 공통)</a:t>
            </a:r>
            <a:endParaRPr lang="ko-KR" sz="1050" dirty="0"/>
          </a:p>
        </p:txBody>
      </p:sp>
      <p:sp>
        <p:nvSpPr>
          <p:cNvPr id="22" name="Shape 19"/>
          <p:cNvSpPr/>
          <p:nvPr/>
        </p:nvSpPr>
        <p:spPr>
          <a:xfrm>
            <a:off x="4638146" y="1783080"/>
            <a:ext cx="127685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3" name="참여자"/>
          <p:cNvSpPr txBox="1"/>
          <p:nvPr/>
        </p:nvSpPr>
        <p:spPr>
          <a:xfrm>
            <a:off x="4693010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</a:t>
            </a:r>
            <a:endParaRPr lang="ko-KR" sz="1050" dirty="0"/>
          </a:p>
        </p:txBody>
      </p:sp>
      <p:sp>
        <p:nvSpPr>
          <p:cNvPr id="24" name="Shape 21"/>
          <p:cNvSpPr/>
          <p:nvPr/>
        </p:nvSpPr>
        <p:spPr>
          <a:xfrm>
            <a:off x="6001314" y="1783080"/>
            <a:ext cx="127685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5" name="참여자"/>
          <p:cNvSpPr txBox="1"/>
          <p:nvPr/>
        </p:nvSpPr>
        <p:spPr>
          <a:xfrm>
            <a:off x="6056178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앱</a:t>
            </a:r>
            <a:endParaRPr lang="ko-KR" sz="1050" dirty="0"/>
          </a:p>
        </p:txBody>
      </p:sp>
      <p:sp>
        <p:nvSpPr>
          <p:cNvPr id="26" name="Shape 23"/>
          <p:cNvSpPr/>
          <p:nvPr/>
        </p:nvSpPr>
        <p:spPr>
          <a:xfrm>
            <a:off x="7364483" y="1783080"/>
            <a:ext cx="1276858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7" name="참여자"/>
          <p:cNvSpPr txBox="1"/>
          <p:nvPr/>
        </p:nvSpPr>
        <p:spPr>
          <a:xfrm>
            <a:off x="7419347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</a:t>
            </a:r>
            <a:endParaRPr lang="ko-KR" sz="1050" dirty="0"/>
          </a:p>
        </p:txBody>
      </p:sp>
      <p:sp>
        <p:nvSpPr>
          <p:cNvPr id="28" name="Shape 25"/>
          <p:cNvSpPr/>
          <p:nvPr/>
        </p:nvSpPr>
        <p:spPr>
          <a:xfrm>
            <a:off x="10363454" y="1783080"/>
            <a:ext cx="127685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9" name="참여자"/>
          <p:cNvSpPr txBox="1"/>
          <p:nvPr/>
        </p:nvSpPr>
        <p:spPr>
          <a:xfrm>
            <a:off x="10418318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서버</a:t>
            </a:r>
            <a:endParaRPr lang="ko-KR" sz="1050" dirty="0"/>
          </a:p>
        </p:txBody>
      </p:sp>
      <p:sp>
        <p:nvSpPr>
          <p:cNvPr id="30" name="Shape 27"/>
          <p:cNvSpPr/>
          <p:nvPr/>
        </p:nvSpPr>
        <p:spPr>
          <a:xfrm>
            <a:off x="1187069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2550238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3913406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5276575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6639743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8002912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11001883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1187069" y="258775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8" name="송수신"/>
          <p:cNvSpPr txBox="1"/>
          <p:nvPr/>
        </p:nvSpPr>
        <p:spPr>
          <a:xfrm>
            <a:off x="1232789" y="237744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앱카드 로그인 선택</a:t>
            </a:r>
            <a:endParaRPr lang="ko-KR" sz="1000" dirty="0"/>
          </a:p>
        </p:txBody>
      </p:sp>
      <p:sp>
        <p:nvSpPr>
          <p:cNvPr id="39" name="Shape 36"/>
          <p:cNvSpPr/>
          <p:nvPr/>
        </p:nvSpPr>
        <p:spPr>
          <a:xfrm>
            <a:off x="2550238" y="280492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0" name="송수신"/>
          <p:cNvSpPr txBox="1"/>
          <p:nvPr/>
        </p:nvSpPr>
        <p:spPr>
          <a:xfrm>
            <a:off x="2595958" y="259461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브릿지 페이지 열기</a:t>
            </a:r>
            <a:endParaRPr lang="ko-KR" sz="1000" dirty="0"/>
          </a:p>
        </p:txBody>
      </p:sp>
      <p:sp>
        <p:nvSpPr>
          <p:cNvPr id="41" name="Shape 38"/>
          <p:cNvSpPr/>
          <p:nvPr/>
        </p:nvSpPr>
        <p:spPr>
          <a:xfrm>
            <a:off x="3913406" y="3022092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2" name="송수신"/>
          <p:cNvSpPr txBox="1"/>
          <p:nvPr/>
        </p:nvSpPr>
        <p:spPr>
          <a:xfrm>
            <a:off x="3959126" y="2811780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인증 시작 요청</a:t>
            </a:r>
            <a:endParaRPr lang="ko-KR" sz="1000" dirty="0"/>
          </a:p>
        </p:txBody>
      </p:sp>
      <p:sp>
        <p:nvSpPr>
          <p:cNvPr id="43" name="Shape 40"/>
          <p:cNvSpPr/>
          <p:nvPr/>
        </p:nvSpPr>
        <p:spPr>
          <a:xfrm>
            <a:off x="8002912" y="3239262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4" name="송수신"/>
          <p:cNvSpPr txBox="1"/>
          <p:nvPr/>
        </p:nvSpPr>
        <p:spPr>
          <a:xfrm>
            <a:off x="8048632" y="3028950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인증 거래번호 발급 ①(reqTransNo.mv)</a:t>
            </a:r>
            <a:endParaRPr lang="ko-KR" sz="1000" dirty="0"/>
          </a:p>
        </p:txBody>
      </p:sp>
      <p:sp>
        <p:nvSpPr>
          <p:cNvPr id="45" name="Shape 42"/>
          <p:cNvSpPr/>
          <p:nvPr/>
        </p:nvSpPr>
        <p:spPr>
          <a:xfrm flipH="1">
            <a:off x="8002912" y="3456432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46" name="송수신"/>
          <p:cNvSpPr txBox="1"/>
          <p:nvPr/>
        </p:nvSpPr>
        <p:spPr>
          <a:xfrm>
            <a:off x="8048632" y="3246120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transNo · token</a:t>
            </a:r>
            <a:endParaRPr lang="ko-KR" sz="1000" dirty="0"/>
          </a:p>
        </p:txBody>
      </p:sp>
      <p:sp>
        <p:nvSpPr>
          <p:cNvPr id="47" name="Shape 44"/>
          <p:cNvSpPr/>
          <p:nvPr/>
        </p:nvSpPr>
        <p:spPr>
          <a:xfrm flipH="1">
            <a:off x="3913406" y="3673602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48" name="송수신"/>
          <p:cNvSpPr txBox="1"/>
          <p:nvPr/>
        </p:nvSpPr>
        <p:spPr>
          <a:xfrm>
            <a:off x="3959126" y="3463290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transNo만 전달</a:t>
            </a:r>
            <a:endParaRPr lang="ko-KR" sz="1000" dirty="0"/>
          </a:p>
        </p:txBody>
      </p:sp>
      <p:sp>
        <p:nvSpPr>
          <p:cNvPr id="49" name="Shape 46"/>
          <p:cNvSpPr/>
          <p:nvPr/>
        </p:nvSpPr>
        <p:spPr>
          <a:xfrm>
            <a:off x="3913406" y="389077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0" name="송수신"/>
          <p:cNvSpPr txBox="1"/>
          <p:nvPr/>
        </p:nvSpPr>
        <p:spPr>
          <a:xfrm>
            <a:off x="3959126" y="368046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인증 모듈 호출</a:t>
            </a:r>
            <a:endParaRPr lang="ko-KR" sz="1000" dirty="0"/>
          </a:p>
        </p:txBody>
      </p:sp>
      <p:sp>
        <p:nvSpPr>
          <p:cNvPr id="51" name="Shape 48"/>
          <p:cNvSpPr/>
          <p:nvPr/>
        </p:nvSpPr>
        <p:spPr>
          <a:xfrm>
            <a:off x="5276575" y="410794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2" name="송수신"/>
          <p:cNvSpPr txBox="1"/>
          <p:nvPr/>
        </p:nvSpPr>
        <p:spPr>
          <a:xfrm>
            <a:off x="5322295" y="389763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카드사 앱 인증</a:t>
            </a:r>
            <a:endParaRPr lang="ko-KR" sz="1000" dirty="0"/>
          </a:p>
        </p:txBody>
      </p:sp>
      <p:sp>
        <p:nvSpPr>
          <p:cNvPr id="53" name="Shape 50"/>
          <p:cNvSpPr/>
          <p:nvPr/>
        </p:nvSpPr>
        <p:spPr>
          <a:xfrm flipH="1">
            <a:off x="5276575" y="432511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54" name="송수신"/>
          <p:cNvSpPr txBox="1"/>
          <p:nvPr/>
        </p:nvSpPr>
        <p:spPr>
          <a:xfrm>
            <a:off x="5322295" y="411480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인증 후 복귀</a:t>
            </a:r>
            <a:endParaRPr lang="ko-KR" sz="1000" dirty="0"/>
          </a:p>
        </p:txBody>
      </p:sp>
      <p:sp>
        <p:nvSpPr>
          <p:cNvPr id="55" name="Shape 52"/>
          <p:cNvSpPr/>
          <p:nvPr/>
        </p:nvSpPr>
        <p:spPr>
          <a:xfrm flipH="1">
            <a:off x="3913406" y="454228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56" name="송수신"/>
          <p:cNvSpPr txBox="1"/>
          <p:nvPr/>
        </p:nvSpPr>
        <p:spPr>
          <a:xfrm>
            <a:off x="3959126" y="433197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결과 코드</a:t>
            </a:r>
            <a:endParaRPr lang="ko-KR" sz="1000" dirty="0"/>
          </a:p>
        </p:txBody>
      </p:sp>
      <p:sp>
        <p:nvSpPr>
          <p:cNvPr id="57" name="Shape 54"/>
          <p:cNvSpPr/>
          <p:nvPr/>
        </p:nvSpPr>
        <p:spPr>
          <a:xfrm>
            <a:off x="3913406" y="4759452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8" name="송수신"/>
          <p:cNvSpPr txBox="1"/>
          <p:nvPr/>
        </p:nvSpPr>
        <p:spPr>
          <a:xfrm>
            <a:off x="3959126" y="4549140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 0000 수신 알림</a:t>
            </a:r>
            <a:endParaRPr lang="ko-KR" sz="1000" dirty="0"/>
          </a:p>
        </p:txBody>
      </p:sp>
      <p:sp>
        <p:nvSpPr>
          <p:cNvPr id="59" name="Shape 56"/>
          <p:cNvSpPr/>
          <p:nvPr/>
        </p:nvSpPr>
        <p:spPr>
          <a:xfrm>
            <a:off x="8002912" y="4976622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0" name="송수신"/>
          <p:cNvSpPr txBox="1"/>
          <p:nvPr/>
        </p:nvSpPr>
        <p:spPr>
          <a:xfrm>
            <a:off x="8048632" y="4766310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 결과 조회 ②(reqAuthData.mv)</a:t>
            </a:r>
            <a:endParaRPr lang="ko-KR" sz="1000" dirty="0"/>
          </a:p>
        </p:txBody>
      </p:sp>
      <p:sp>
        <p:nvSpPr>
          <p:cNvPr id="61" name="Shape 58"/>
          <p:cNvSpPr/>
          <p:nvPr/>
        </p:nvSpPr>
        <p:spPr>
          <a:xfrm flipH="1">
            <a:off x="8002912" y="5193792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62" name="송수신"/>
          <p:cNvSpPr txBox="1"/>
          <p:nvPr/>
        </p:nvSpPr>
        <p:spPr>
          <a:xfrm>
            <a:off x="8048632" y="4983480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 ci · name · phoneNo 등</a:t>
            </a:r>
            <a:endParaRPr lang="ko-KR" sz="1000" dirty="0"/>
          </a:p>
        </p:txBody>
      </p:sp>
      <p:sp>
        <p:nvSpPr>
          <p:cNvPr id="63" name="Shape 60"/>
          <p:cNvSpPr/>
          <p:nvPr/>
        </p:nvSpPr>
        <p:spPr>
          <a:xfrm>
            <a:off x="7262248" y="5292090"/>
            <a:ext cx="1481328" cy="237744"/>
          </a:xfrm>
          <a:prstGeom prst="rect">
            <a:avLst/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64" name="서버 처리"/>
          <p:cNvSpPr txBox="1"/>
          <p:nvPr/>
        </p:nvSpPr>
        <p:spPr>
          <a:xfrm>
            <a:off x="7298824" y="5301234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14. CI로 계정 확인</a:t>
            </a:r>
            <a:endParaRPr lang="ko-KR" sz="1000" dirty="0"/>
          </a:p>
        </p:txBody>
      </p:sp>
      <p:sp>
        <p:nvSpPr>
          <p:cNvPr id="67" name="Shape 64"/>
          <p:cNvSpPr/>
          <p:nvPr/>
        </p:nvSpPr>
        <p:spPr>
          <a:xfrm flipH="1">
            <a:off x="3913406" y="5744718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68" name="송수신"/>
          <p:cNvSpPr txBox="1"/>
          <p:nvPr/>
        </p:nvSpPr>
        <p:spPr>
          <a:xfrm>
            <a:off x="3959126" y="5534406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15. 로그인 처리 결과</a:t>
            </a:r>
            <a:endParaRPr lang="ko-KR" sz="1000" dirty="0"/>
          </a:p>
        </p:txBody>
      </p:sp>
      <p:sp>
        <p:nvSpPr>
          <p:cNvPr id="69" name="Shape 66"/>
          <p:cNvSpPr/>
          <p:nvPr/>
        </p:nvSpPr>
        <p:spPr>
          <a:xfrm flipH="1">
            <a:off x="2550238" y="5961888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70" name="송수신"/>
          <p:cNvSpPr txBox="1"/>
          <p:nvPr/>
        </p:nvSpPr>
        <p:spPr>
          <a:xfrm>
            <a:off x="2595958" y="5751576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16. 토큰 전달 · 이동</a:t>
            </a:r>
            <a:endParaRPr lang="ko-KR" sz="1000" dirty="0"/>
          </a:p>
        </p:txBody>
      </p:sp>
      <p:sp>
        <p:nvSpPr>
          <p:cNvPr id="71" name="Text 68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18</a:t>
            </a:r>
            <a:endParaRPr lang="ko-KR" sz="900" dirty="0"/>
          </a:p>
        </p:txBody>
      </p:sp>
      <p:sp>
        <p:nvSpPr>
          <p:cNvPr id="72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· 송수신 항목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송수신 항목과 지켜야 할 규칙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송수신 다이어그램 번호 기준으로 호출명과 보내는 값, 규칙을 정리합니다.</a:t>
            </a:r>
            <a:endParaRPr lang="ko-KR" sz="1300" dirty="0"/>
          </a:p>
        </p:txBody>
      </p:sp>
      <p:graphicFrame>
        <p:nvGraphicFramePr>
          <p:cNvPr id="11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70706"/>
        </p:xfrm>
        <a:graphic>
          <a:graphicData uri="http://schemas.openxmlformats.org/drawingml/2006/table">
            <a:tbl>
              <a:tblPr/>
              <a:tblGrid>
                <a:gridCol w="777240"/>
                <a:gridCol w="2880360"/>
                <a:gridCol w="3291840"/>
                <a:gridCol w="4142232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보내는 쪽 → 받는 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내용(호출명)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 spc="-5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→ 핏콜라보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발급 ①(reqTransNo.mv)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호출은 메가MGC커피 서버만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storeId · transType(L) → transNo · token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6~7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 spc="-5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 → 인증 모듈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전달, 인증 모듈 호출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호출값 transNo · deviceType · nativeYN=N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token은 메가MGC커피 서버 보관(30분 · 1회용)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8~9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↔ 카드사 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인증 후 복귀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Android는 복귀 시 포커스 전달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iOS는 인증 모듈이 감지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→ Webview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- 0000 성공 · 0001 스토어 이동 · 0002 실패 · 0003 취소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- 1200 인증 거래번호(transNo) 만료, 기본 5분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11~12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 spc="-5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→ 핏콜라보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 ②(reqAuthData.mv)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· token, 3분 초과 1500 · 불일치 1402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28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 메가MGC커피 서버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정보(ci · name · phoneNo 등)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저장: ci · name · phoneNo · 생년 · nation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birthDate 8자리는 만 14세 판정에만 사용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gender · email · di 미저장 [확인필요(법무팀)]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12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CI로 같은 계정이 있으면 그 계정으로 로그인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없으면 가입 판정 뒤 가입(KCP 생략 · 약관 동의)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15~16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 → Native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처리 결과, 토큰 전달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홈 이동 또는 진행 중이던 주문 화면 복귀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18</a:t>
            </a:r>
            <a:endParaRPr lang="ko-KR" sz="900" dirty="0"/>
          </a:p>
        </p:txBody>
      </p:sp>
      <p:sp>
        <p:nvSpPr>
          <p:cNvPr id="12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B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E2D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주문하기 앱카드 결제, 결제 API ①~⑥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7A6A5D"/>
            </a:solidFill>
            <a:prstDash val="solid"/>
          </a:ln>
        </p:spPr>
        <p:txBody>
          <a:bodyPr/>
          <a:p/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   결제 거래번호 응답으로 원클릭과 인증 결제가 갈립니다</a:t>
            </a:r>
            <a:endParaRPr lang="ko-KR" sz="1300" dirty="0"/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   인증 결제일 때만 인증 모듈과 카드사 앱이 끼어듭니다</a:t>
            </a:r>
            <a:endParaRPr lang="ko-KR" sz="1300" dirty="0"/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   결제 송수신 항목과 지켜야 할 규칙</a:t>
            </a:r>
            <a:endParaRPr lang="ko-KR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18</a:t>
            </a:r>
            <a:endParaRPr lang="ko-KR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· 흐름도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거래번호 응답으로 원클릭과 인증 결제가 갈립니다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 주문하기에서 앱카드를 고른 뒤 주문 결과까지의 처리 순서입니다.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6181344" y="411480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7" name="범례"/>
          <p:cNvSpPr txBox="1"/>
          <p:nvPr/>
        </p:nvSpPr>
        <p:spPr>
          <a:xfrm>
            <a:off x="6528816" y="3840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· 끝</a:t>
            </a:r>
            <a:endParaRPr lang="ko-KR" sz="1000" dirty="0"/>
          </a:p>
        </p:txBody>
      </p:sp>
      <p:sp>
        <p:nvSpPr>
          <p:cNvPr id="8" name="Shape 5"/>
          <p:cNvSpPr/>
          <p:nvPr/>
        </p:nvSpPr>
        <p:spPr>
          <a:xfrm>
            <a:off x="7397496" y="411480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9" name="범례"/>
          <p:cNvSpPr txBox="1"/>
          <p:nvPr/>
        </p:nvSpPr>
        <p:spPr>
          <a:xfrm>
            <a:off x="7744968" y="38404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 · Webview · 서버 처리</a:t>
            </a:r>
            <a:endParaRPr lang="ko-KR" sz="1000" dirty="0"/>
          </a:p>
        </p:txBody>
      </p:sp>
      <p:sp>
        <p:nvSpPr>
          <p:cNvPr id="10" name="Shape 7"/>
          <p:cNvSpPr/>
          <p:nvPr/>
        </p:nvSpPr>
        <p:spPr>
          <a:xfrm>
            <a:off x="9710928" y="411480"/>
            <a:ext cx="274320" cy="16459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1" name="범례"/>
          <p:cNvSpPr txBox="1"/>
          <p:nvPr/>
        </p:nvSpPr>
        <p:spPr>
          <a:xfrm>
            <a:off x="10058400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ko-KR" sz="1000" dirty="0"/>
          </a:p>
        </p:txBody>
      </p:sp>
      <p:sp>
        <p:nvSpPr>
          <p:cNvPr id="12" name="Shape 9"/>
          <p:cNvSpPr/>
          <p:nvPr/>
        </p:nvSpPr>
        <p:spPr>
          <a:xfrm>
            <a:off x="10607040" y="411480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3" name="범례"/>
          <p:cNvSpPr txBox="1"/>
          <p:nvPr/>
        </p:nvSpPr>
        <p:spPr>
          <a:xfrm>
            <a:off x="10954512" y="3840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안내</a:t>
            </a:r>
            <a:endParaRPr lang="ko-KR" sz="1000" dirty="0"/>
          </a:p>
        </p:txBody>
      </p:sp>
      <p:sp>
        <p:nvSpPr>
          <p:cNvPr id="14" name="Shape 11"/>
          <p:cNvSpPr/>
          <p:nvPr/>
        </p:nvSpPr>
        <p:spPr>
          <a:xfrm>
            <a:off x="548640" y="1805940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5" name="흐름 end"/>
          <p:cNvSpPr txBox="1"/>
          <p:nvPr/>
        </p:nvSpPr>
        <p:spPr>
          <a:xfrm>
            <a:off x="621792" y="1833372"/>
            <a:ext cx="17739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주문하기(Webview)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목록 조회 ①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(getPayCardInfo.mv)</a:t>
            </a:r>
            <a:endParaRPr lang="ko-KR" sz="1100" dirty="0"/>
          </a:p>
        </p:txBody>
      </p:sp>
      <p:sp>
        <p:nvSpPr>
          <p:cNvPr id="16" name="Shape 13"/>
          <p:cNvSpPr/>
          <p:nvPr/>
        </p:nvSpPr>
        <p:spPr>
          <a:xfrm>
            <a:off x="2841498" y="1805940"/>
            <a:ext cx="1920240" cy="77724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17" name="흐름 proc"/>
          <p:cNvSpPr txBox="1"/>
          <p:nvPr/>
        </p:nvSpPr>
        <p:spPr>
          <a:xfrm>
            <a:off x="2914650" y="1833372"/>
            <a:ext cx="17739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거래번호 발급 ②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(requestTid.mv)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payType 0 기존 · 1 신규</a:t>
            </a:r>
            <a:endParaRPr lang="ko-KR" sz="1100" dirty="0"/>
          </a:p>
        </p:txBody>
      </p:sp>
      <p:sp>
        <p:nvSpPr>
          <p:cNvPr id="18" name="Shape 15"/>
          <p:cNvSpPr/>
          <p:nvPr/>
        </p:nvSpPr>
        <p:spPr>
          <a:xfrm>
            <a:off x="5134356" y="1805940"/>
            <a:ext cx="1920240" cy="77724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9" name="흐름 dec"/>
          <p:cNvSpPr txBox="1"/>
          <p:nvPr/>
        </p:nvSpPr>
        <p:spPr>
          <a:xfrm>
            <a:off x="5460797" y="1914754"/>
            <a:ext cx="1267358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필요?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(authYN=N)</a:t>
            </a:r>
            <a:endParaRPr lang="ko-KR" sz="1100" dirty="0"/>
          </a:p>
        </p:txBody>
      </p:sp>
      <p:sp>
        <p:nvSpPr>
          <p:cNvPr id="20" name="Shape 17"/>
          <p:cNvSpPr/>
          <p:nvPr/>
        </p:nvSpPr>
        <p:spPr>
          <a:xfrm>
            <a:off x="7427214" y="1805940"/>
            <a:ext cx="1920240" cy="77724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1" name="흐름 proc"/>
          <p:cNvSpPr txBox="1"/>
          <p:nvPr/>
        </p:nvSpPr>
        <p:spPr>
          <a:xfrm>
            <a:off x="7500366" y="1833372"/>
            <a:ext cx="17739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 · 카드사 앱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인증 결과 조회 ③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(reqAuthDataPay.mv)</a:t>
            </a:r>
            <a:endParaRPr lang="ko-KR" sz="1100" dirty="0"/>
          </a:p>
        </p:txBody>
      </p:sp>
      <p:sp>
        <p:nvSpPr>
          <p:cNvPr id="22" name="Shape 19"/>
          <p:cNvSpPr/>
          <p:nvPr/>
        </p:nvSpPr>
        <p:spPr>
          <a:xfrm>
            <a:off x="5134356" y="2944368"/>
            <a:ext cx="1920240" cy="603504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3" name="흐름 proc"/>
          <p:cNvSpPr txBox="1"/>
          <p:nvPr/>
        </p:nvSpPr>
        <p:spPr>
          <a:xfrm>
            <a:off x="5207508" y="29718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원클릭(authYN=Y)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화면 생략</a:t>
            </a:r>
            <a:endParaRPr lang="ko-KR" sz="1100" dirty="0"/>
          </a:p>
        </p:txBody>
      </p:sp>
      <p:sp>
        <p:nvSpPr>
          <p:cNvPr id="24" name="Shape 21"/>
          <p:cNvSpPr/>
          <p:nvPr/>
        </p:nvSpPr>
        <p:spPr>
          <a:xfrm>
            <a:off x="7427214" y="2857500"/>
            <a:ext cx="1920240" cy="77724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5" name="흐름 proc"/>
          <p:cNvSpPr txBox="1"/>
          <p:nvPr/>
        </p:nvSpPr>
        <p:spPr>
          <a:xfrm>
            <a:off x="7500366" y="2884932"/>
            <a:ext cx="17739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요청 ④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(appcardPayment.mv)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30초~1분 대기</a:t>
            </a:r>
            <a:endParaRPr lang="ko-KR" sz="1100" dirty="0"/>
          </a:p>
        </p:txBody>
      </p:sp>
      <p:sp>
        <p:nvSpPr>
          <p:cNvPr id="26" name="Shape 23"/>
          <p:cNvSpPr/>
          <p:nvPr/>
        </p:nvSpPr>
        <p:spPr>
          <a:xfrm>
            <a:off x="9720072" y="2857500"/>
            <a:ext cx="1920240" cy="77724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7" name="흐름 proc"/>
          <p:cNvSpPr txBox="1"/>
          <p:nvPr/>
        </p:nvSpPr>
        <p:spPr>
          <a:xfrm>
            <a:off x="9793224" y="2884932"/>
            <a:ext cx="17739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없으면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상태 조회 ⑥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(reqCondition.mv)</a:t>
            </a:r>
            <a:endParaRPr lang="ko-KR" sz="1100" dirty="0"/>
          </a:p>
        </p:txBody>
      </p:sp>
      <p:sp>
        <p:nvSpPr>
          <p:cNvPr id="28" name="Shape 25"/>
          <p:cNvSpPr/>
          <p:nvPr/>
        </p:nvSpPr>
        <p:spPr>
          <a:xfrm>
            <a:off x="9720072" y="3909060"/>
            <a:ext cx="1920240" cy="77724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29" name="흐름 dec"/>
          <p:cNvSpPr txBox="1"/>
          <p:nvPr/>
        </p:nvSpPr>
        <p:spPr>
          <a:xfrm>
            <a:off x="10046513" y="4017874"/>
            <a:ext cx="1267358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완료?</a:t>
            </a:r>
            <a:endParaRPr lang="ko-KR" sz="1100" dirty="0"/>
          </a:p>
        </p:txBody>
      </p:sp>
      <p:sp>
        <p:nvSpPr>
          <p:cNvPr id="30" name="Shape 27"/>
          <p:cNvSpPr/>
          <p:nvPr/>
        </p:nvSpPr>
        <p:spPr>
          <a:xfrm>
            <a:off x="7427214" y="3995928"/>
            <a:ext cx="1920240" cy="603504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31" name="흐름 proc"/>
          <p:cNvSpPr txBox="1"/>
          <p:nvPr/>
        </p:nvSpPr>
        <p:spPr>
          <a:xfrm>
            <a:off x="7500366" y="40233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생성</a:t>
            </a:r>
            <a:endParaRPr lang="ko-KR" sz="1100" dirty="0"/>
          </a:p>
        </p:txBody>
      </p:sp>
      <p:sp>
        <p:nvSpPr>
          <p:cNvPr id="32" name="Shape 29"/>
          <p:cNvSpPr/>
          <p:nvPr/>
        </p:nvSpPr>
        <p:spPr>
          <a:xfrm>
            <a:off x="5134356" y="3909060"/>
            <a:ext cx="1920240" cy="77724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33" name="흐름 dec"/>
          <p:cNvSpPr txBox="1"/>
          <p:nvPr/>
        </p:nvSpPr>
        <p:spPr>
          <a:xfrm>
            <a:off x="5460797" y="4017874"/>
            <a:ext cx="1267358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생성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성공?</a:t>
            </a:r>
            <a:endParaRPr lang="ko-KR" sz="1100" dirty="0"/>
          </a:p>
        </p:txBody>
      </p:sp>
      <p:sp>
        <p:nvSpPr>
          <p:cNvPr id="34" name="Shape 31"/>
          <p:cNvSpPr/>
          <p:nvPr/>
        </p:nvSpPr>
        <p:spPr>
          <a:xfrm>
            <a:off x="2841498" y="3995928"/>
            <a:ext cx="1920240" cy="603504"/>
          </a:xfrm>
          <a:prstGeom prst="roundRect">
            <a:avLst>
              <a:gd name="adj" fmla="val 18182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35" name="흐름 end"/>
          <p:cNvSpPr txBox="1"/>
          <p:nvPr/>
        </p:nvSpPr>
        <p:spPr>
          <a:xfrm>
            <a:off x="2914650" y="40233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결과(Webview)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ko-KR" sz="1100" dirty="0"/>
          </a:p>
        </p:txBody>
      </p:sp>
      <p:sp>
        <p:nvSpPr>
          <p:cNvPr id="36" name="Shape 33"/>
          <p:cNvSpPr/>
          <p:nvPr/>
        </p:nvSpPr>
        <p:spPr>
          <a:xfrm>
            <a:off x="5134356" y="5001768"/>
            <a:ext cx="1920240" cy="603504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37" name="흐름 proc"/>
          <p:cNvSpPr txBox="1"/>
          <p:nvPr/>
        </p:nvSpPr>
        <p:spPr>
          <a:xfrm>
            <a:off x="5207508" y="50292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취소 ⑤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(appcardCancel.mv)</a:t>
            </a:r>
            <a:endParaRPr lang="ko-KR" sz="1100" dirty="0"/>
          </a:p>
        </p:txBody>
      </p:sp>
      <p:sp>
        <p:nvSpPr>
          <p:cNvPr id="38" name="Shape 35"/>
          <p:cNvSpPr/>
          <p:nvPr/>
        </p:nvSpPr>
        <p:spPr>
          <a:xfrm>
            <a:off x="9720072" y="5001768"/>
            <a:ext cx="19202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9" name="흐름 scr"/>
          <p:cNvSpPr txBox="1"/>
          <p:nvPr/>
        </p:nvSpPr>
        <p:spPr>
          <a:xfrm>
            <a:off x="9793224" y="50292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실패 안내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(주문 결과 실패)</a:t>
            </a:r>
            <a:endParaRPr lang="ko-KR" sz="1100" dirty="0"/>
          </a:p>
        </p:txBody>
      </p:sp>
      <p:sp>
        <p:nvSpPr>
          <p:cNvPr id="40" name="Shape 37"/>
          <p:cNvSpPr/>
          <p:nvPr/>
        </p:nvSpPr>
        <p:spPr>
          <a:xfrm>
            <a:off x="2468880" y="219456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1" name="Shape 38"/>
          <p:cNvSpPr/>
          <p:nvPr/>
        </p:nvSpPr>
        <p:spPr>
          <a:xfrm>
            <a:off x="4761738" y="219456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2" name="Shape 39"/>
          <p:cNvSpPr/>
          <p:nvPr/>
        </p:nvSpPr>
        <p:spPr>
          <a:xfrm>
            <a:off x="7054596" y="219456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3" name="분기 이름"/>
          <p:cNvSpPr txBox="1"/>
          <p:nvPr/>
        </p:nvSpPr>
        <p:spPr>
          <a:xfrm>
            <a:off x="7100316" y="194767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endParaRPr lang="ko-KR" sz="1000" dirty="0"/>
          </a:p>
        </p:txBody>
      </p:sp>
      <p:sp>
        <p:nvSpPr>
          <p:cNvPr id="44" name="Shape 41"/>
          <p:cNvSpPr/>
          <p:nvPr/>
        </p:nvSpPr>
        <p:spPr>
          <a:xfrm>
            <a:off x="6094476" y="2583180"/>
            <a:ext cx="0" cy="361188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5" name="분기 이름"/>
          <p:cNvSpPr txBox="1"/>
          <p:nvPr/>
        </p:nvSpPr>
        <p:spPr>
          <a:xfrm>
            <a:off x="6158484" y="26014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endParaRPr lang="ko-KR" sz="1000" dirty="0"/>
          </a:p>
        </p:txBody>
      </p:sp>
      <p:sp>
        <p:nvSpPr>
          <p:cNvPr id="46" name="Shape 43"/>
          <p:cNvSpPr/>
          <p:nvPr/>
        </p:nvSpPr>
        <p:spPr>
          <a:xfrm>
            <a:off x="8387334" y="2583180"/>
            <a:ext cx="0" cy="27432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7" name="Shape 44"/>
          <p:cNvSpPr/>
          <p:nvPr/>
        </p:nvSpPr>
        <p:spPr>
          <a:xfrm>
            <a:off x="7054596" y="324612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8" name="Shape 45"/>
          <p:cNvSpPr/>
          <p:nvPr/>
        </p:nvSpPr>
        <p:spPr>
          <a:xfrm>
            <a:off x="9347454" y="324612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9" name="Shape 46"/>
          <p:cNvSpPr/>
          <p:nvPr/>
        </p:nvSpPr>
        <p:spPr>
          <a:xfrm>
            <a:off x="10680192" y="3634740"/>
            <a:ext cx="0" cy="27432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0" name="Shape 47"/>
          <p:cNvSpPr/>
          <p:nvPr/>
        </p:nvSpPr>
        <p:spPr>
          <a:xfrm flipH="1">
            <a:off x="9347454" y="429768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1" name="분기 이름"/>
          <p:cNvSpPr txBox="1"/>
          <p:nvPr/>
        </p:nvSpPr>
        <p:spPr>
          <a:xfrm>
            <a:off x="9400032" y="40507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endParaRPr lang="ko-KR" sz="1000" dirty="0"/>
          </a:p>
        </p:txBody>
      </p:sp>
      <p:sp>
        <p:nvSpPr>
          <p:cNvPr id="52" name="Shape 49"/>
          <p:cNvSpPr/>
          <p:nvPr/>
        </p:nvSpPr>
        <p:spPr>
          <a:xfrm>
            <a:off x="10680192" y="4686300"/>
            <a:ext cx="0" cy="315468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3" name="분기 이름"/>
          <p:cNvSpPr txBox="1"/>
          <p:nvPr/>
        </p:nvSpPr>
        <p:spPr>
          <a:xfrm>
            <a:off x="10744200" y="47045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endParaRPr lang="ko-KR" sz="1000" dirty="0"/>
          </a:p>
        </p:txBody>
      </p:sp>
      <p:sp>
        <p:nvSpPr>
          <p:cNvPr id="54" name="Shape 51"/>
          <p:cNvSpPr/>
          <p:nvPr/>
        </p:nvSpPr>
        <p:spPr>
          <a:xfrm flipH="1">
            <a:off x="7054596" y="429768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5" name="Shape 52"/>
          <p:cNvSpPr/>
          <p:nvPr/>
        </p:nvSpPr>
        <p:spPr>
          <a:xfrm flipH="1">
            <a:off x="4761738" y="429768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6" name="분기 이름"/>
          <p:cNvSpPr txBox="1"/>
          <p:nvPr/>
        </p:nvSpPr>
        <p:spPr>
          <a:xfrm>
            <a:off x="4814316" y="40507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endParaRPr lang="ko-KR" sz="1000" dirty="0"/>
          </a:p>
        </p:txBody>
      </p:sp>
      <p:sp>
        <p:nvSpPr>
          <p:cNvPr id="57" name="Shape 54"/>
          <p:cNvSpPr/>
          <p:nvPr/>
        </p:nvSpPr>
        <p:spPr>
          <a:xfrm>
            <a:off x="6094476" y="4686300"/>
            <a:ext cx="0" cy="315468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8" name="분기 이름"/>
          <p:cNvSpPr txBox="1"/>
          <p:nvPr/>
        </p:nvSpPr>
        <p:spPr>
          <a:xfrm>
            <a:off x="6158484" y="47045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endParaRPr lang="ko-KR" sz="1000" dirty="0"/>
          </a:p>
        </p:txBody>
      </p:sp>
      <p:sp>
        <p:nvSpPr>
          <p:cNvPr id="59" name="Shape 56"/>
          <p:cNvSpPr/>
          <p:nvPr/>
        </p:nvSpPr>
        <p:spPr>
          <a:xfrm>
            <a:off x="7054596" y="5303520"/>
            <a:ext cx="266547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0" name="보조 설명"/>
          <p:cNvSpPr txBox="1"/>
          <p:nvPr/>
        </p:nvSpPr>
        <p:spPr>
          <a:xfrm>
            <a:off x="548640" y="2880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새 카드(payType 1)는 authYN=N</a:t>
            </a:r>
            <a:endParaRPr lang="ko-KR" sz="1100" dirty="0"/>
          </a:p>
          <a:p>
            <a:pPr indent="0" marL="0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결제 거래번호(tid) 만료 시 1403</a:t>
            </a:r>
            <a:endParaRPr lang="ko-KR" sz="1100" dirty="0"/>
          </a:p>
          <a:p>
            <a:pPr indent="0" marL="0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승인 요청은 다시 호출하지 않음</a:t>
            </a:r>
            <a:endParaRPr lang="ko-KR" sz="1100" dirty="0"/>
          </a:p>
        </p:txBody>
      </p:sp>
      <p:sp>
        <p:nvSpPr>
          <p:cNvPr id="61" name="Shape 58"/>
          <p:cNvSpPr/>
          <p:nvPr/>
        </p:nvSpPr>
        <p:spPr>
          <a:xfrm>
            <a:off x="548640" y="5952744"/>
            <a:ext cx="45720" cy="237744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62" name="핵심 문장 요약"/>
          <p:cNvSpPr txBox="1"/>
          <p:nvPr/>
        </p:nvSpPr>
        <p:spPr>
          <a:xfrm>
            <a:off x="731520" y="58795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응답이 없으면 </a:t>
            </a:r>
            <a:pPr indent="0" marL="0">
              <a:buNone/>
            </a:pP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재호출 없이 거래 상태를 조회</a:t>
            </a:r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하고, 주문이 없으면 승인을 취소합니다</a:t>
            </a:r>
            <a:endParaRPr lang="ko-KR" sz="1500" dirty="0"/>
          </a:p>
        </p:txBody>
      </p:sp>
      <p:sp>
        <p:nvSpPr>
          <p:cNvPr id="63" name="Text 60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18</a:t>
            </a:r>
            <a:endParaRPr lang="ko-KR" sz="900" dirty="0"/>
          </a:p>
        </p:txBody>
      </p:sp>
      <p:sp>
        <p:nvSpPr>
          <p:cNvPr id="64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· 송수신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결제일 때만 인증 모듈과 카드사 앱이 끼어듭니다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점선 틀 안(7~14)은 결제 거래번호 응답이 authYN=N(새 카드 등)일 때만 일어납니다.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5952744" y="411480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7" name="범례"/>
          <p:cNvSpPr txBox="1"/>
          <p:nvPr/>
        </p:nvSpPr>
        <p:spPr>
          <a:xfrm>
            <a:off x="6300216" y="38404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· 요청자</a:t>
            </a:r>
            <a:endParaRPr lang="ko-KR" sz="1000" dirty="0"/>
          </a:p>
        </p:txBody>
      </p:sp>
      <p:sp>
        <p:nvSpPr>
          <p:cNvPr id="8" name="Shape 5"/>
          <p:cNvSpPr/>
          <p:nvPr/>
        </p:nvSpPr>
        <p:spPr>
          <a:xfrm>
            <a:off x="7351776" y="411480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9" name="범례"/>
          <p:cNvSpPr txBox="1"/>
          <p:nvPr/>
        </p:nvSpPr>
        <p:spPr>
          <a:xfrm>
            <a:off x="7699248" y="384048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측</a:t>
            </a:r>
            <a:endParaRPr lang="ko-KR" sz="1000" dirty="0"/>
          </a:p>
        </p:txBody>
      </p:sp>
      <p:sp>
        <p:nvSpPr>
          <p:cNvPr id="10" name="Shape 7"/>
          <p:cNvSpPr/>
          <p:nvPr/>
        </p:nvSpPr>
        <p:spPr>
          <a:xfrm>
            <a:off x="9134856" y="411480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1" name="범례"/>
          <p:cNvSpPr txBox="1"/>
          <p:nvPr/>
        </p:nvSpPr>
        <p:spPr>
          <a:xfrm>
            <a:off x="9482328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</a:t>
            </a:r>
            <a:endParaRPr lang="ko-KR" sz="1000" dirty="0"/>
          </a:p>
        </p:txBody>
      </p:sp>
      <p:sp>
        <p:nvSpPr>
          <p:cNvPr id="12" name="Shape 9"/>
          <p:cNvSpPr/>
          <p:nvPr/>
        </p:nvSpPr>
        <p:spPr>
          <a:xfrm>
            <a:off x="10030968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범례"/>
          <p:cNvSpPr txBox="1"/>
          <p:nvPr/>
        </p:nvSpPr>
        <p:spPr>
          <a:xfrm>
            <a:off x="10378440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</a:t>
            </a:r>
            <a:endParaRPr lang="ko-KR" sz="1000" dirty="0"/>
          </a:p>
        </p:txBody>
      </p:sp>
      <p:sp>
        <p:nvSpPr>
          <p:cNvPr id="14" name="Shape 11"/>
          <p:cNvSpPr/>
          <p:nvPr/>
        </p:nvSpPr>
        <p:spPr>
          <a:xfrm>
            <a:off x="10927080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15" name="범례"/>
          <p:cNvSpPr txBox="1"/>
          <p:nvPr/>
        </p:nvSpPr>
        <p:spPr>
          <a:xfrm>
            <a:off x="11274552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ko-KR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1783080"/>
            <a:ext cx="1276858" cy="457200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7" name="참여자"/>
          <p:cNvSpPr txBox="1"/>
          <p:nvPr/>
        </p:nvSpPr>
        <p:spPr>
          <a:xfrm>
            <a:off x="603504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</a:t>
            </a:r>
            <a:endParaRPr lang="ko-KR" sz="1050" dirty="0"/>
          </a:p>
        </p:txBody>
      </p:sp>
      <p:sp>
        <p:nvSpPr>
          <p:cNvPr id="18" name="Shape 15"/>
          <p:cNvSpPr/>
          <p:nvPr/>
        </p:nvSpPr>
        <p:spPr>
          <a:xfrm>
            <a:off x="1911809" y="1783080"/>
            <a:ext cx="1276858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19" name="참여자"/>
          <p:cNvSpPr txBox="1"/>
          <p:nvPr/>
        </p:nvSpPr>
        <p:spPr>
          <a:xfrm>
            <a:off x="1966673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(주문하기)</a:t>
            </a:r>
            <a:endParaRPr lang="ko-KR" sz="1050" dirty="0"/>
          </a:p>
        </p:txBody>
      </p:sp>
      <p:sp>
        <p:nvSpPr>
          <p:cNvPr id="20" name="Shape 17"/>
          <p:cNvSpPr/>
          <p:nvPr/>
        </p:nvSpPr>
        <p:spPr>
          <a:xfrm>
            <a:off x="3274977" y="1783080"/>
            <a:ext cx="127685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1" name="참여자"/>
          <p:cNvSpPr txBox="1"/>
          <p:nvPr/>
        </p:nvSpPr>
        <p:spPr>
          <a:xfrm>
            <a:off x="3329841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</a:t>
            </a:r>
            <a:endParaRPr lang="ko-KR" sz="1050" dirty="0"/>
          </a:p>
        </p:txBody>
      </p:sp>
      <p:sp>
        <p:nvSpPr>
          <p:cNvPr id="22" name="Shape 19"/>
          <p:cNvSpPr/>
          <p:nvPr/>
        </p:nvSpPr>
        <p:spPr>
          <a:xfrm>
            <a:off x="4638146" y="1783080"/>
            <a:ext cx="127685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3" name="참여자"/>
          <p:cNvSpPr txBox="1"/>
          <p:nvPr/>
        </p:nvSpPr>
        <p:spPr>
          <a:xfrm>
            <a:off x="4693010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앱</a:t>
            </a:r>
            <a:endParaRPr lang="ko-KR" sz="1050" dirty="0"/>
          </a:p>
        </p:txBody>
      </p:sp>
      <p:sp>
        <p:nvSpPr>
          <p:cNvPr id="24" name="Shape 21"/>
          <p:cNvSpPr/>
          <p:nvPr/>
        </p:nvSpPr>
        <p:spPr>
          <a:xfrm>
            <a:off x="6001314" y="1783080"/>
            <a:ext cx="1276858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5" name="참여자"/>
          <p:cNvSpPr txBox="1"/>
          <p:nvPr/>
        </p:nvSpPr>
        <p:spPr>
          <a:xfrm>
            <a:off x="6056178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</a:t>
            </a:r>
            <a:endParaRPr lang="ko-KR" sz="1050" dirty="0"/>
          </a:p>
        </p:txBody>
      </p:sp>
      <p:sp>
        <p:nvSpPr>
          <p:cNvPr id="26" name="Shape 23"/>
          <p:cNvSpPr/>
          <p:nvPr/>
        </p:nvSpPr>
        <p:spPr>
          <a:xfrm>
            <a:off x="9000285" y="1783080"/>
            <a:ext cx="127685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7" name="참여자"/>
          <p:cNvSpPr txBox="1"/>
          <p:nvPr/>
        </p:nvSpPr>
        <p:spPr>
          <a:xfrm>
            <a:off x="9055149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서버</a:t>
            </a:r>
            <a:endParaRPr lang="ko-KR" sz="1050" dirty="0"/>
          </a:p>
        </p:txBody>
      </p:sp>
      <p:sp>
        <p:nvSpPr>
          <p:cNvPr id="28" name="Shape 25"/>
          <p:cNvSpPr/>
          <p:nvPr/>
        </p:nvSpPr>
        <p:spPr>
          <a:xfrm>
            <a:off x="10363454" y="1783080"/>
            <a:ext cx="127685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9" name="참여자"/>
          <p:cNvSpPr txBox="1"/>
          <p:nvPr/>
        </p:nvSpPr>
        <p:spPr>
          <a:xfrm>
            <a:off x="10418318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</a:t>
            </a:r>
            <a:endParaRPr lang="ko-KR" sz="1050" dirty="0"/>
          </a:p>
        </p:txBody>
      </p:sp>
      <p:sp>
        <p:nvSpPr>
          <p:cNvPr id="30" name="Shape 27"/>
          <p:cNvSpPr/>
          <p:nvPr/>
        </p:nvSpPr>
        <p:spPr>
          <a:xfrm>
            <a:off x="1187069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2550238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3913406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5276575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6639743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9638714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11001883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1681558" y="3643615"/>
            <a:ext cx="8505797" cy="1708852"/>
          </a:xfrm>
          <a:prstGeom prst="rect">
            <a:avLst/>
          </a:prstGeom>
          <a:ln w="9525">
            <a:solidFill>
              <a:srgbClr val="7A6A5D"/>
            </a:solidFill>
            <a:prstDash val="dash"/>
          </a:ln>
        </p:spPr>
        <p:txBody>
          <a:bodyPr/>
          <a:p/>
        </p:txBody>
      </p:sp>
      <p:sp>
        <p:nvSpPr>
          <p:cNvPr id="38" name="조건 구간"/>
          <p:cNvSpPr txBox="1"/>
          <p:nvPr/>
        </p:nvSpPr>
        <p:spPr>
          <a:xfrm>
            <a:off x="1736422" y="3671047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필요 시</a:t>
            </a:r>
            <a:endParaRPr lang="ko-KR" sz="1000" dirty="0"/>
          </a:p>
        </p:txBody>
      </p:sp>
      <p:sp>
        <p:nvSpPr>
          <p:cNvPr id="39" name="Shape 36"/>
          <p:cNvSpPr/>
          <p:nvPr/>
        </p:nvSpPr>
        <p:spPr>
          <a:xfrm>
            <a:off x="2550238" y="2587752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0" name="송수신"/>
          <p:cNvSpPr txBox="1"/>
          <p:nvPr/>
        </p:nvSpPr>
        <p:spPr>
          <a:xfrm>
            <a:off x="2595958" y="2377440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결제수단 요청</a:t>
            </a:r>
            <a:endParaRPr lang="ko-KR" sz="1000" dirty="0"/>
          </a:p>
        </p:txBody>
      </p:sp>
      <p:sp>
        <p:nvSpPr>
          <p:cNvPr id="41" name="Shape 38"/>
          <p:cNvSpPr/>
          <p:nvPr/>
        </p:nvSpPr>
        <p:spPr>
          <a:xfrm>
            <a:off x="6639743" y="2783541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2" name="송수신"/>
          <p:cNvSpPr txBox="1"/>
          <p:nvPr/>
        </p:nvSpPr>
        <p:spPr>
          <a:xfrm>
            <a:off x="6685463" y="2573229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계정 목록 조회 ①(getPayCardInfo.mv)</a:t>
            </a:r>
            <a:endParaRPr lang="ko-KR" sz="1000" dirty="0"/>
          </a:p>
        </p:txBody>
      </p:sp>
      <p:sp>
        <p:nvSpPr>
          <p:cNvPr id="43" name="Shape 40"/>
          <p:cNvSpPr/>
          <p:nvPr/>
        </p:nvSpPr>
        <p:spPr>
          <a:xfrm>
            <a:off x="1187069" y="2979330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4" name="송수신"/>
          <p:cNvSpPr txBox="1"/>
          <p:nvPr/>
        </p:nvSpPr>
        <p:spPr>
          <a:xfrm>
            <a:off x="1232789" y="2769018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앱카드로 결제</a:t>
            </a:r>
            <a:endParaRPr lang="ko-KR" sz="1000" dirty="0"/>
          </a:p>
        </p:txBody>
      </p:sp>
      <p:sp>
        <p:nvSpPr>
          <p:cNvPr id="45" name="Shape 42"/>
          <p:cNvSpPr/>
          <p:nvPr/>
        </p:nvSpPr>
        <p:spPr>
          <a:xfrm>
            <a:off x="2550238" y="3175120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6" name="송수신"/>
          <p:cNvSpPr txBox="1"/>
          <p:nvPr/>
        </p:nvSpPr>
        <p:spPr>
          <a:xfrm>
            <a:off x="2595958" y="2964808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결제 요청</a:t>
            </a:r>
            <a:endParaRPr lang="ko-KR" sz="1000" dirty="0"/>
          </a:p>
        </p:txBody>
      </p:sp>
      <p:sp>
        <p:nvSpPr>
          <p:cNvPr id="47" name="Shape 44"/>
          <p:cNvSpPr/>
          <p:nvPr/>
        </p:nvSpPr>
        <p:spPr>
          <a:xfrm>
            <a:off x="6639743" y="3370909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8" name="송수신"/>
          <p:cNvSpPr txBox="1"/>
          <p:nvPr/>
        </p:nvSpPr>
        <p:spPr>
          <a:xfrm>
            <a:off x="6685463" y="3160597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결제 거래번호 발급 ②(requestTid.mv)</a:t>
            </a:r>
            <a:endParaRPr lang="ko-KR" sz="1000" dirty="0"/>
          </a:p>
        </p:txBody>
      </p:sp>
      <p:sp>
        <p:nvSpPr>
          <p:cNvPr id="49" name="Shape 46"/>
          <p:cNvSpPr/>
          <p:nvPr/>
        </p:nvSpPr>
        <p:spPr>
          <a:xfrm flipH="1">
            <a:off x="6639743" y="3566698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50" name="송수신"/>
          <p:cNvSpPr txBox="1"/>
          <p:nvPr/>
        </p:nvSpPr>
        <p:spPr>
          <a:xfrm>
            <a:off x="6685463" y="3356386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tid · authYN · reqToken</a:t>
            </a:r>
            <a:endParaRPr lang="ko-KR" sz="1000" dirty="0"/>
          </a:p>
        </p:txBody>
      </p:sp>
      <p:sp>
        <p:nvSpPr>
          <p:cNvPr id="51" name="Shape 48"/>
          <p:cNvSpPr/>
          <p:nvPr/>
        </p:nvSpPr>
        <p:spPr>
          <a:xfrm flipH="1">
            <a:off x="2550238" y="3890503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52" name="송수신"/>
          <p:cNvSpPr txBox="1"/>
          <p:nvPr/>
        </p:nvSpPr>
        <p:spPr>
          <a:xfrm>
            <a:off x="2595958" y="3680191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tid 전달</a:t>
            </a:r>
            <a:endParaRPr lang="ko-KR" sz="1000" dirty="0"/>
          </a:p>
        </p:txBody>
      </p:sp>
      <p:sp>
        <p:nvSpPr>
          <p:cNvPr id="53" name="Shape 50"/>
          <p:cNvSpPr/>
          <p:nvPr/>
        </p:nvSpPr>
        <p:spPr>
          <a:xfrm>
            <a:off x="2550238" y="408629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4" name="송수신"/>
          <p:cNvSpPr txBox="1"/>
          <p:nvPr/>
        </p:nvSpPr>
        <p:spPr>
          <a:xfrm>
            <a:off x="2595958" y="387598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인증 모듈 호출</a:t>
            </a:r>
            <a:endParaRPr lang="ko-KR" sz="1000" dirty="0"/>
          </a:p>
        </p:txBody>
      </p:sp>
      <p:sp>
        <p:nvSpPr>
          <p:cNvPr id="55" name="Shape 52"/>
          <p:cNvSpPr/>
          <p:nvPr/>
        </p:nvSpPr>
        <p:spPr>
          <a:xfrm>
            <a:off x="3913406" y="4282081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6" name="송수신"/>
          <p:cNvSpPr txBox="1"/>
          <p:nvPr/>
        </p:nvSpPr>
        <p:spPr>
          <a:xfrm>
            <a:off x="3959126" y="4071769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카드사 앱 인증</a:t>
            </a:r>
            <a:endParaRPr lang="ko-KR" sz="1000" dirty="0"/>
          </a:p>
        </p:txBody>
      </p:sp>
      <p:sp>
        <p:nvSpPr>
          <p:cNvPr id="57" name="Shape 54"/>
          <p:cNvSpPr/>
          <p:nvPr/>
        </p:nvSpPr>
        <p:spPr>
          <a:xfrm flipH="1">
            <a:off x="3913406" y="4477871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58" name="송수신"/>
          <p:cNvSpPr txBox="1"/>
          <p:nvPr/>
        </p:nvSpPr>
        <p:spPr>
          <a:xfrm>
            <a:off x="3959126" y="4267559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인증 후 복귀</a:t>
            </a:r>
            <a:endParaRPr lang="ko-KR" sz="1000" dirty="0"/>
          </a:p>
        </p:txBody>
      </p:sp>
      <p:sp>
        <p:nvSpPr>
          <p:cNvPr id="59" name="Shape 56"/>
          <p:cNvSpPr/>
          <p:nvPr/>
        </p:nvSpPr>
        <p:spPr>
          <a:xfrm flipH="1">
            <a:off x="2550238" y="4673660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60" name="송수신"/>
          <p:cNvSpPr txBox="1"/>
          <p:nvPr/>
        </p:nvSpPr>
        <p:spPr>
          <a:xfrm>
            <a:off x="2595958" y="4463348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 결과 코드</a:t>
            </a:r>
            <a:endParaRPr lang="ko-KR" sz="1000" dirty="0"/>
          </a:p>
        </p:txBody>
      </p:sp>
      <p:sp>
        <p:nvSpPr>
          <p:cNvPr id="61" name="Shape 58"/>
          <p:cNvSpPr/>
          <p:nvPr/>
        </p:nvSpPr>
        <p:spPr>
          <a:xfrm>
            <a:off x="2550238" y="4869449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2" name="송수신"/>
          <p:cNvSpPr txBox="1"/>
          <p:nvPr/>
        </p:nvSpPr>
        <p:spPr>
          <a:xfrm>
            <a:off x="2595958" y="4659137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 0000 수신 알림</a:t>
            </a:r>
            <a:endParaRPr lang="ko-KR" sz="1000" dirty="0"/>
          </a:p>
        </p:txBody>
      </p:sp>
      <p:sp>
        <p:nvSpPr>
          <p:cNvPr id="63" name="Shape 60"/>
          <p:cNvSpPr/>
          <p:nvPr/>
        </p:nvSpPr>
        <p:spPr>
          <a:xfrm>
            <a:off x="6639743" y="5065238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4" name="송수신"/>
          <p:cNvSpPr txBox="1"/>
          <p:nvPr/>
        </p:nvSpPr>
        <p:spPr>
          <a:xfrm>
            <a:off x="6685463" y="4854926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 인증 결과 조회 ③(reqAuthDataPay.mv)</a:t>
            </a:r>
            <a:endParaRPr lang="ko-KR" sz="1000" dirty="0"/>
          </a:p>
        </p:txBody>
      </p:sp>
      <p:sp>
        <p:nvSpPr>
          <p:cNvPr id="65" name="Shape 62"/>
          <p:cNvSpPr/>
          <p:nvPr/>
        </p:nvSpPr>
        <p:spPr>
          <a:xfrm flipH="1">
            <a:off x="6639743" y="5261027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66" name="송수신"/>
          <p:cNvSpPr txBox="1"/>
          <p:nvPr/>
        </p:nvSpPr>
        <p:spPr>
          <a:xfrm>
            <a:off x="6685463" y="5050715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14. acntId · userNo</a:t>
            </a:r>
            <a:endParaRPr lang="ko-KR" sz="1000" dirty="0"/>
          </a:p>
        </p:txBody>
      </p:sp>
      <p:sp>
        <p:nvSpPr>
          <p:cNvPr id="67" name="Shape 64"/>
          <p:cNvSpPr/>
          <p:nvPr/>
        </p:nvSpPr>
        <p:spPr>
          <a:xfrm>
            <a:off x="6639743" y="5584832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8" name="송수신"/>
          <p:cNvSpPr txBox="1"/>
          <p:nvPr/>
        </p:nvSpPr>
        <p:spPr>
          <a:xfrm>
            <a:off x="6685463" y="5374520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15. 승인 ④(appcardPayment.mv)</a:t>
            </a:r>
            <a:endParaRPr lang="ko-KR" sz="1000" dirty="0"/>
          </a:p>
        </p:txBody>
      </p:sp>
      <p:sp>
        <p:nvSpPr>
          <p:cNvPr id="69" name="Shape 66"/>
          <p:cNvSpPr/>
          <p:nvPr/>
        </p:nvSpPr>
        <p:spPr>
          <a:xfrm>
            <a:off x="9638714" y="578062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0" name="송수신"/>
          <p:cNvSpPr txBox="1"/>
          <p:nvPr/>
        </p:nvSpPr>
        <p:spPr>
          <a:xfrm>
            <a:off x="9684434" y="557031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16. 승인 등록</a:t>
            </a:r>
            <a:endParaRPr lang="ko-KR" sz="1000" dirty="0"/>
          </a:p>
        </p:txBody>
      </p:sp>
      <p:sp>
        <p:nvSpPr>
          <p:cNvPr id="71" name="Shape 68"/>
          <p:cNvSpPr/>
          <p:nvPr/>
        </p:nvSpPr>
        <p:spPr>
          <a:xfrm flipH="1">
            <a:off x="6639743" y="5976411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72" name="송수신"/>
          <p:cNvSpPr txBox="1"/>
          <p:nvPr/>
        </p:nvSpPr>
        <p:spPr>
          <a:xfrm>
            <a:off x="6685463" y="5766099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17. approvalNo · pgTno</a:t>
            </a:r>
            <a:endParaRPr lang="ko-KR" sz="1000" dirty="0"/>
          </a:p>
        </p:txBody>
      </p:sp>
      <p:sp>
        <p:nvSpPr>
          <p:cNvPr id="73" name="Shape 70"/>
          <p:cNvSpPr/>
          <p:nvPr/>
        </p:nvSpPr>
        <p:spPr>
          <a:xfrm flipH="1">
            <a:off x="2550238" y="6172200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74" name="송수신"/>
          <p:cNvSpPr txBox="1"/>
          <p:nvPr/>
        </p:nvSpPr>
        <p:spPr>
          <a:xfrm>
            <a:off x="2595958" y="5961888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18. 주문 생성 후 주문 결과</a:t>
            </a:r>
            <a:endParaRPr lang="ko-KR" sz="1000" dirty="0"/>
          </a:p>
        </p:txBody>
      </p:sp>
      <p:sp>
        <p:nvSpPr>
          <p:cNvPr id="75" name="Text 72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18</a:t>
            </a:r>
            <a:endParaRPr lang="ko-KR" sz="900" dirty="0"/>
          </a:p>
        </p:txBody>
      </p:sp>
      <p:sp>
        <p:nvSpPr>
          <p:cNvPr id="76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· 송수신 항목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송수신 항목과 지켜야 할 규칙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송수신 다이어그램 번호 기준으로 호출명과 보내는 값, 규칙을 정리합니다.</a:t>
            </a:r>
            <a:endParaRPr lang="ko-KR" sz="1300" dirty="0"/>
          </a:p>
        </p:txBody>
      </p:sp>
      <p:graphicFrame>
        <p:nvGraphicFramePr>
          <p:cNvPr id="1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669538"/>
        </p:xfrm>
        <a:graphic>
          <a:graphicData uri="http://schemas.openxmlformats.org/drawingml/2006/table">
            <a:tbl>
              <a:tblPr/>
              <a:tblGrid>
                <a:gridCol w="777240"/>
                <a:gridCol w="3108960"/>
                <a:gridCol w="3337560"/>
                <a:gridCol w="386791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보내는 쪽 → 받는 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내용(호출명)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1~2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 spc="-5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→ 핏콜라보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 ①(getPayCardInfo.mv)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userType 1(CI) · ci → acntId · userNo 목록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일시불만, 카드사 목록은 앱 고정 목록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28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↔ 핏콜라보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 ②(requestTid.mv)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payType 0 기존(acntId · userNo) · 1 신규, ci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전달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storeUserNo · userName은 보내지 않음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7~11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spc="-40" kern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spc="-40" kern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 인증 모듈 ↔ 카드사 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호출값 tid · amount · orderNo · payType · termYN=N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거래번호(tid)가 만료되면 1403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12~14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↔ 핏콜라보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 ③(reqAuthDataPay.mv)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 · orderNo · reqToken → acntId · userNo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12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15~16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핏콜라보 → 결제대행사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④(appcardPayment.mv), 승인 등록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응답 30초~1분 대기, 재호출 금지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pgType에 CJ ONS 추가 [확인필요(핏콜라보)]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 메가MGC커피 서버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결과(approvalNo · pgTno)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approvalNo 저장(취소에 필수)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응답이 없으면 거래 상태 조회 ⑥(reqCondition.mv)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생성 후 주문 결과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승인됐는데 주문이 없으면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 취소 ⑤(appcardCancel.mv)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52744"/>
            <a:ext cx="45720" cy="237744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8" name="핵심 문장 요약"/>
          <p:cNvSpPr txBox="1"/>
          <p:nvPr/>
        </p:nvSpPr>
        <p:spPr>
          <a:xfrm>
            <a:off x="731520" y="58795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핏콜라보는 결과를 따로 알리지 않으므로 </a:t>
            </a:r>
            <a:pPr indent="0" marL="0">
              <a:buNone/>
            </a:pP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조회해 확정</a:t>
            </a:r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18</a:t>
            </a:r>
            <a:endParaRPr lang="ko-KR" sz="900" dirty="0"/>
          </a:p>
        </p:txBody>
      </p:sp>
      <p:sp>
        <p:nvSpPr>
          <p:cNvPr id="16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B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· 카드 관리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E2D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취소, 결과 미확인 거래 정리, 등록 카드 관리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7A6A5D"/>
            </a:solidFill>
            <a:prstDash val="solid"/>
          </a:ln>
        </p:spPr>
        <p:txBody>
          <a:bodyPr/>
          <a:p/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   취소 요청과 주기 작업 모두 승인 취소 ⑤로 정리합니다</a:t>
            </a:r>
            <a:endParaRPr lang="ko-KR" sz="1300" dirty="0"/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   취소 결과도 핏콜라보 응답으로만 확정합니다</a:t>
            </a:r>
            <a:endParaRPr lang="ko-KR" sz="1300" dirty="0"/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   카드 조회 · 등록 · 삭제는 핏콜라보 카드관리 페이지가 맡습니다</a:t>
            </a:r>
            <a:endParaRPr lang="ko-KR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18</a:t>
            </a:r>
            <a:endParaRPr lang="ko-KR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· 흐름도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요청과 주기 작업 모두 승인 취소 ⑤로 정리합니다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위는 고객 · 매장 · 에이전트 자동 · 상담원 · 선물 결제 취소, 아래는 메가MGC커피 서버의 미확인 거래 정리입니다.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6181344" y="411480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7" name="범례"/>
          <p:cNvSpPr txBox="1"/>
          <p:nvPr/>
        </p:nvSpPr>
        <p:spPr>
          <a:xfrm>
            <a:off x="6528816" y="3840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· 끝</a:t>
            </a:r>
            <a:endParaRPr lang="ko-KR" sz="1000" dirty="0"/>
          </a:p>
        </p:txBody>
      </p:sp>
      <p:sp>
        <p:nvSpPr>
          <p:cNvPr id="8" name="Shape 5"/>
          <p:cNvSpPr/>
          <p:nvPr/>
        </p:nvSpPr>
        <p:spPr>
          <a:xfrm>
            <a:off x="7397496" y="411480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9" name="범례"/>
          <p:cNvSpPr txBox="1"/>
          <p:nvPr/>
        </p:nvSpPr>
        <p:spPr>
          <a:xfrm>
            <a:off x="7744968" y="38404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 · Webview · 서버 처리</a:t>
            </a:r>
            <a:endParaRPr lang="ko-KR" sz="1000" dirty="0"/>
          </a:p>
        </p:txBody>
      </p:sp>
      <p:sp>
        <p:nvSpPr>
          <p:cNvPr id="10" name="Shape 7"/>
          <p:cNvSpPr/>
          <p:nvPr/>
        </p:nvSpPr>
        <p:spPr>
          <a:xfrm>
            <a:off x="9710928" y="411480"/>
            <a:ext cx="274320" cy="16459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1" name="범례"/>
          <p:cNvSpPr txBox="1"/>
          <p:nvPr/>
        </p:nvSpPr>
        <p:spPr>
          <a:xfrm>
            <a:off x="10058400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ko-KR" sz="1000" dirty="0"/>
          </a:p>
        </p:txBody>
      </p:sp>
      <p:sp>
        <p:nvSpPr>
          <p:cNvPr id="12" name="Shape 9"/>
          <p:cNvSpPr/>
          <p:nvPr/>
        </p:nvSpPr>
        <p:spPr>
          <a:xfrm>
            <a:off x="10607040" y="411480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3" name="범례"/>
          <p:cNvSpPr txBox="1"/>
          <p:nvPr/>
        </p:nvSpPr>
        <p:spPr>
          <a:xfrm>
            <a:off x="10954512" y="3840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안내</a:t>
            </a:r>
            <a:endParaRPr lang="ko-KR" sz="1000" dirty="0"/>
          </a:p>
        </p:txBody>
      </p:sp>
      <p:sp>
        <p:nvSpPr>
          <p:cNvPr id="14" name="구역 이름"/>
          <p:cNvSpPr txBox="1"/>
          <p:nvPr/>
        </p:nvSpPr>
        <p:spPr>
          <a:xfrm>
            <a:off x="548640" y="1737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요청</a:t>
            </a:r>
            <a:endParaRPr lang="ko-KR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2075688"/>
            <a:ext cx="1920240" cy="603504"/>
          </a:xfrm>
          <a:prstGeom prst="roundRect">
            <a:avLst>
              <a:gd name="adj" fmla="val 18182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6" name="흐름 end"/>
          <p:cNvSpPr txBox="1"/>
          <p:nvPr/>
        </p:nvSpPr>
        <p:spPr>
          <a:xfrm>
            <a:off x="621792" y="210312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요청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(고객 · 매장 · 자동 등)</a:t>
            </a:r>
            <a:endParaRPr lang="ko-KR" sz="1100" dirty="0"/>
          </a:p>
        </p:txBody>
      </p:sp>
      <p:sp>
        <p:nvSpPr>
          <p:cNvPr id="19" name="Shape 16"/>
          <p:cNvSpPr/>
          <p:nvPr/>
        </p:nvSpPr>
        <p:spPr>
          <a:xfrm>
            <a:off x="5134356" y="2075688"/>
            <a:ext cx="1920240" cy="603504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0" name="흐름 proc"/>
          <p:cNvSpPr txBox="1"/>
          <p:nvPr/>
        </p:nvSpPr>
        <p:spPr>
          <a:xfrm>
            <a:off x="5207508" y="210312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취소 ⑤(전체 취소)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(appcardCancel.mv)</a:t>
            </a:r>
            <a:endParaRPr lang="ko-KR" sz="1100" dirty="0"/>
          </a:p>
        </p:txBody>
      </p:sp>
      <p:sp>
        <p:nvSpPr>
          <p:cNvPr id="21" name="Shape 18"/>
          <p:cNvSpPr/>
          <p:nvPr/>
        </p:nvSpPr>
        <p:spPr>
          <a:xfrm>
            <a:off x="7427214" y="2075688"/>
            <a:ext cx="1920240" cy="603504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2" name="흐름 proc"/>
          <p:cNvSpPr txBox="1"/>
          <p:nvPr/>
        </p:nvSpPr>
        <p:spPr>
          <a:xfrm>
            <a:off x="7500366" y="210312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핏콜라보가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결제대행사에 취소</a:t>
            </a:r>
            <a:endParaRPr lang="ko-KR" sz="1100" dirty="0"/>
          </a:p>
        </p:txBody>
      </p:sp>
      <p:sp>
        <p:nvSpPr>
          <p:cNvPr id="23" name="Shape 20"/>
          <p:cNvSpPr/>
          <p:nvPr/>
        </p:nvSpPr>
        <p:spPr>
          <a:xfrm>
            <a:off x="9720072" y="2075688"/>
            <a:ext cx="1920240" cy="603504"/>
          </a:xfrm>
          <a:prstGeom prst="roundRect">
            <a:avLst>
              <a:gd name="adj" fmla="val 18182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24" name="흐름 end"/>
          <p:cNvSpPr txBox="1"/>
          <p:nvPr/>
        </p:nvSpPr>
        <p:spPr>
          <a:xfrm>
            <a:off x="9793224" y="210312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상태 취소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안내</a:t>
            </a:r>
            <a:endParaRPr lang="ko-KR" sz="1100" dirty="0"/>
          </a:p>
        </p:txBody>
      </p:sp>
      <p:sp>
        <p:nvSpPr>
          <p:cNvPr id="27" name="Shape 24"/>
          <p:cNvSpPr/>
          <p:nvPr/>
        </p:nvSpPr>
        <p:spPr>
          <a:xfrm>
            <a:off x="2468880" y="2377440"/>
            <a:ext cx="267004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7054596" y="237744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347454" y="237744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6" name="보조 설명"/>
          <p:cNvSpPr txBox="1"/>
          <p:nvPr/>
        </p:nvSpPr>
        <p:spPr>
          <a:xfrm>
            <a:off x="8732520" y="2971800"/>
            <a:ext cx="2907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approvalNo 필수(없으면 ⑥ 먼저)</a:t>
            </a:r>
            <a:endParaRPr lang="ko-KR" sz="1100" dirty="0"/>
          </a:p>
          <a:p>
            <a:pPr indent="0" marL="0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- 9001이면 cancelState 확인 후 처리</a:t>
            </a:r>
            <a:endParaRPr lang="ko-KR" sz="1100" dirty="0"/>
          </a:p>
          <a:p>
            <a:pPr indent="0" marL="0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승인 취소는 다시 호출해도 됨</a:t>
            </a:r>
            <a:endParaRPr lang="ko-KR" sz="1100" dirty="0"/>
          </a:p>
        </p:txBody>
      </p:sp>
      <p:sp>
        <p:nvSpPr>
          <p:cNvPr id="37" name="Shape 34"/>
          <p:cNvSpPr/>
          <p:nvPr/>
        </p:nvSpPr>
        <p:spPr>
          <a:xfrm>
            <a:off x="548640" y="3840480"/>
            <a:ext cx="11091672" cy="0"/>
          </a:xfrm>
          <a:prstGeom prst="line">
            <a:avLst/>
          </a:prstGeom>
          <a:noFill/>
          <a:ln w="9525">
            <a:solidFill>
              <a:srgbClr val="E6DDD4"/>
            </a:solidFill>
            <a:prstDash val="solid"/>
          </a:ln>
        </p:spPr>
        <p:txBody>
          <a:bodyPr/>
          <a:p/>
        </p:txBody>
      </p:sp>
      <p:sp>
        <p:nvSpPr>
          <p:cNvPr id="38" name="구역 이름"/>
          <p:cNvSpPr txBox="1"/>
          <p:nvPr/>
        </p:nvSpPr>
        <p:spPr>
          <a:xfrm>
            <a:off x="548640" y="39044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미확인 거래 정리(주기 작업)</a:t>
            </a:r>
            <a:endParaRPr lang="ko-KR" sz="1100" dirty="0"/>
          </a:p>
        </p:txBody>
      </p:sp>
      <p:sp>
        <p:nvSpPr>
          <p:cNvPr id="39" name="Shape 36"/>
          <p:cNvSpPr/>
          <p:nvPr/>
        </p:nvSpPr>
        <p:spPr>
          <a:xfrm>
            <a:off x="548640" y="4224528"/>
            <a:ext cx="1920240" cy="603504"/>
          </a:xfrm>
          <a:prstGeom prst="roundRect">
            <a:avLst>
              <a:gd name="adj" fmla="val 18182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0" name="흐름 end"/>
          <p:cNvSpPr txBox="1"/>
          <p:nvPr/>
        </p:nvSpPr>
        <p:spPr>
          <a:xfrm>
            <a:off x="621792" y="42519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 spc="-5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 주기 작업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 spc="-5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(결과 미확인 거래)</a:t>
            </a:r>
            <a:endParaRPr lang="ko-KR" sz="1100" dirty="0"/>
          </a:p>
        </p:txBody>
      </p:sp>
      <p:sp>
        <p:nvSpPr>
          <p:cNvPr id="41" name="Shape 38"/>
          <p:cNvSpPr/>
          <p:nvPr/>
        </p:nvSpPr>
        <p:spPr>
          <a:xfrm>
            <a:off x="2841498" y="4224528"/>
            <a:ext cx="1920240" cy="603504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42" name="흐름 proc"/>
          <p:cNvSpPr txBox="1"/>
          <p:nvPr/>
        </p:nvSpPr>
        <p:spPr>
          <a:xfrm>
            <a:off x="2914650" y="42519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상태 조회 ⑥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(reqCondition.mv)</a:t>
            </a:r>
            <a:endParaRPr lang="ko-KR" sz="1100" dirty="0"/>
          </a:p>
        </p:txBody>
      </p:sp>
      <p:sp>
        <p:nvSpPr>
          <p:cNvPr id="43" name="Shape 40"/>
          <p:cNvSpPr/>
          <p:nvPr/>
        </p:nvSpPr>
        <p:spPr>
          <a:xfrm>
            <a:off x="5134356" y="4137660"/>
            <a:ext cx="1920240" cy="77724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4" name="흐름 dec"/>
          <p:cNvSpPr txBox="1"/>
          <p:nvPr/>
        </p:nvSpPr>
        <p:spPr>
          <a:xfrm>
            <a:off x="5460797" y="4246474"/>
            <a:ext cx="1267358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완료?</a:t>
            </a:r>
            <a:endParaRPr lang="ko-KR" sz="1100" dirty="0"/>
          </a:p>
        </p:txBody>
      </p:sp>
      <p:sp>
        <p:nvSpPr>
          <p:cNvPr id="45" name="Shape 42"/>
          <p:cNvSpPr/>
          <p:nvPr/>
        </p:nvSpPr>
        <p:spPr>
          <a:xfrm>
            <a:off x="7427214" y="4137660"/>
            <a:ext cx="1920240" cy="77724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6" name="흐름 dec"/>
          <p:cNvSpPr txBox="1"/>
          <p:nvPr/>
        </p:nvSpPr>
        <p:spPr>
          <a:xfrm>
            <a:off x="7753655" y="4246474"/>
            <a:ext cx="1267358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있음?</a:t>
            </a:r>
            <a:endParaRPr lang="ko-KR" sz="1100" dirty="0"/>
          </a:p>
        </p:txBody>
      </p:sp>
      <p:sp>
        <p:nvSpPr>
          <p:cNvPr id="47" name="Shape 44"/>
          <p:cNvSpPr/>
          <p:nvPr/>
        </p:nvSpPr>
        <p:spPr>
          <a:xfrm>
            <a:off x="9720072" y="4224528"/>
            <a:ext cx="1920240" cy="603504"/>
          </a:xfrm>
          <a:prstGeom prst="roundRect">
            <a:avLst>
              <a:gd name="adj" fmla="val 18182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8" name="흐름 end"/>
          <p:cNvSpPr txBox="1"/>
          <p:nvPr/>
        </p:nvSpPr>
        <p:spPr>
          <a:xfrm>
            <a:off x="9793224" y="42519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거래로 종료</a:t>
            </a:r>
            <a:endParaRPr lang="ko-KR" sz="1100" dirty="0"/>
          </a:p>
        </p:txBody>
      </p:sp>
      <p:sp>
        <p:nvSpPr>
          <p:cNvPr id="49" name="Shape 46"/>
          <p:cNvSpPr/>
          <p:nvPr/>
        </p:nvSpPr>
        <p:spPr>
          <a:xfrm>
            <a:off x="5134356" y="5138928"/>
            <a:ext cx="1920240" cy="603504"/>
          </a:xfrm>
          <a:prstGeom prst="roundRect">
            <a:avLst>
              <a:gd name="adj" fmla="val 18182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50" name="흐름 end"/>
          <p:cNvSpPr txBox="1"/>
          <p:nvPr/>
        </p:nvSpPr>
        <p:spPr>
          <a:xfrm>
            <a:off x="5207508" y="51663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거래로 종료</a:t>
            </a:r>
            <a:endParaRPr lang="ko-KR" sz="1100" dirty="0"/>
          </a:p>
        </p:txBody>
      </p:sp>
      <p:sp>
        <p:nvSpPr>
          <p:cNvPr id="51" name="Shape 48"/>
          <p:cNvSpPr/>
          <p:nvPr/>
        </p:nvSpPr>
        <p:spPr>
          <a:xfrm>
            <a:off x="7427214" y="5138928"/>
            <a:ext cx="1920240" cy="603504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52" name="흐름 proc"/>
          <p:cNvSpPr txBox="1"/>
          <p:nvPr/>
        </p:nvSpPr>
        <p:spPr>
          <a:xfrm>
            <a:off x="7500366" y="51663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취소 ⑤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(appcardCancel.mv)</a:t>
            </a:r>
            <a:endParaRPr lang="ko-KR" sz="1100" dirty="0"/>
          </a:p>
        </p:txBody>
      </p:sp>
      <p:sp>
        <p:nvSpPr>
          <p:cNvPr id="53" name="Shape 50"/>
          <p:cNvSpPr/>
          <p:nvPr/>
        </p:nvSpPr>
        <p:spPr>
          <a:xfrm>
            <a:off x="2468880" y="452628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4" name="Shape 51"/>
          <p:cNvSpPr/>
          <p:nvPr/>
        </p:nvSpPr>
        <p:spPr>
          <a:xfrm>
            <a:off x="4761738" y="452628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5" name="Shape 52"/>
          <p:cNvSpPr/>
          <p:nvPr/>
        </p:nvSpPr>
        <p:spPr>
          <a:xfrm>
            <a:off x="7054596" y="452628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6" name="분기 이름"/>
          <p:cNvSpPr txBox="1"/>
          <p:nvPr/>
        </p:nvSpPr>
        <p:spPr>
          <a:xfrm>
            <a:off x="7100316" y="42793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endParaRPr lang="ko-KR" sz="1000" dirty="0"/>
          </a:p>
        </p:txBody>
      </p:sp>
      <p:sp>
        <p:nvSpPr>
          <p:cNvPr id="57" name="Shape 54"/>
          <p:cNvSpPr/>
          <p:nvPr/>
        </p:nvSpPr>
        <p:spPr>
          <a:xfrm>
            <a:off x="6094476" y="4914900"/>
            <a:ext cx="0" cy="224028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8" name="분기 이름"/>
          <p:cNvSpPr txBox="1"/>
          <p:nvPr/>
        </p:nvSpPr>
        <p:spPr>
          <a:xfrm>
            <a:off x="6158484" y="49331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endParaRPr lang="ko-KR" sz="1000" dirty="0"/>
          </a:p>
        </p:txBody>
      </p:sp>
      <p:sp>
        <p:nvSpPr>
          <p:cNvPr id="59" name="Shape 56"/>
          <p:cNvSpPr/>
          <p:nvPr/>
        </p:nvSpPr>
        <p:spPr>
          <a:xfrm>
            <a:off x="9347454" y="452628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0" name="분기 이름"/>
          <p:cNvSpPr txBox="1"/>
          <p:nvPr/>
        </p:nvSpPr>
        <p:spPr>
          <a:xfrm>
            <a:off x="9393174" y="42793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endParaRPr lang="ko-KR" sz="1000" dirty="0"/>
          </a:p>
        </p:txBody>
      </p:sp>
      <p:sp>
        <p:nvSpPr>
          <p:cNvPr id="61" name="Shape 58"/>
          <p:cNvSpPr/>
          <p:nvPr/>
        </p:nvSpPr>
        <p:spPr>
          <a:xfrm>
            <a:off x="8387334" y="4914900"/>
            <a:ext cx="0" cy="224028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2" name="분기 이름"/>
          <p:cNvSpPr txBox="1"/>
          <p:nvPr/>
        </p:nvSpPr>
        <p:spPr>
          <a:xfrm>
            <a:off x="8451342" y="49331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endParaRPr lang="ko-KR" sz="1000" dirty="0"/>
          </a:p>
        </p:txBody>
      </p:sp>
      <p:sp>
        <p:nvSpPr>
          <p:cNvPr id="63" name="Shape 60"/>
          <p:cNvSpPr/>
          <p:nvPr/>
        </p:nvSpPr>
        <p:spPr>
          <a:xfrm>
            <a:off x="548640" y="5952744"/>
            <a:ext cx="45720" cy="237744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64" name="핵심 문장 요약"/>
          <p:cNvSpPr txBox="1"/>
          <p:nvPr/>
        </p:nvSpPr>
        <p:spPr>
          <a:xfrm>
            <a:off x="731520" y="58795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취소는 기간 제한 없이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취소로만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처리하고, 승인번호가 없으면 거래 상태부터 조회합니다</a:t>
            </a:r>
            <a:endParaRPr lang="ko-KR" sz="1500" dirty="0"/>
          </a:p>
        </p:txBody>
      </p:sp>
      <p:sp>
        <p:nvSpPr>
          <p:cNvPr id="65" name="Text 62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18</a:t>
            </a:r>
            <a:endParaRPr lang="ko-KR" sz="900" dirty="0"/>
          </a:p>
        </p:txBody>
      </p:sp>
      <p:sp>
        <p:nvSpPr>
          <p:cNvPr id="66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· 송수신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결과도 핏콜라보 응답으로만 확정합니다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점선 틀 안(7~11)은 메가MGC커피 서버 주기 작업이며, 고객 요청 없이 실행됩니다.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5952744" y="411480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7" name="범례"/>
          <p:cNvSpPr txBox="1"/>
          <p:nvPr/>
        </p:nvSpPr>
        <p:spPr>
          <a:xfrm>
            <a:off x="6300216" y="38404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· 요청자</a:t>
            </a:r>
            <a:endParaRPr lang="ko-KR" sz="1000" dirty="0"/>
          </a:p>
        </p:txBody>
      </p:sp>
      <p:sp>
        <p:nvSpPr>
          <p:cNvPr id="8" name="Shape 5"/>
          <p:cNvSpPr/>
          <p:nvPr/>
        </p:nvSpPr>
        <p:spPr>
          <a:xfrm>
            <a:off x="7351776" y="411480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9" name="범례"/>
          <p:cNvSpPr txBox="1"/>
          <p:nvPr/>
        </p:nvSpPr>
        <p:spPr>
          <a:xfrm>
            <a:off x="7699248" y="384048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측</a:t>
            </a:r>
            <a:endParaRPr lang="ko-KR" sz="1000" dirty="0"/>
          </a:p>
        </p:txBody>
      </p:sp>
      <p:sp>
        <p:nvSpPr>
          <p:cNvPr id="10" name="Shape 7"/>
          <p:cNvSpPr/>
          <p:nvPr/>
        </p:nvSpPr>
        <p:spPr>
          <a:xfrm>
            <a:off x="9134856" y="411480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1" name="범례"/>
          <p:cNvSpPr txBox="1"/>
          <p:nvPr/>
        </p:nvSpPr>
        <p:spPr>
          <a:xfrm>
            <a:off x="9482328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</a:t>
            </a:r>
            <a:endParaRPr lang="ko-KR" sz="1000" dirty="0"/>
          </a:p>
        </p:txBody>
      </p:sp>
      <p:sp>
        <p:nvSpPr>
          <p:cNvPr id="12" name="Shape 9"/>
          <p:cNvSpPr/>
          <p:nvPr/>
        </p:nvSpPr>
        <p:spPr>
          <a:xfrm>
            <a:off x="10030968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범례"/>
          <p:cNvSpPr txBox="1"/>
          <p:nvPr/>
        </p:nvSpPr>
        <p:spPr>
          <a:xfrm>
            <a:off x="10378440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</a:t>
            </a:r>
            <a:endParaRPr lang="ko-KR" sz="1000" dirty="0"/>
          </a:p>
        </p:txBody>
      </p:sp>
      <p:sp>
        <p:nvSpPr>
          <p:cNvPr id="14" name="Shape 11"/>
          <p:cNvSpPr/>
          <p:nvPr/>
        </p:nvSpPr>
        <p:spPr>
          <a:xfrm>
            <a:off x="10927080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15" name="범례"/>
          <p:cNvSpPr txBox="1"/>
          <p:nvPr/>
        </p:nvSpPr>
        <p:spPr>
          <a:xfrm>
            <a:off x="11274552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ko-KR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178308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7" name="참여자"/>
          <p:cNvSpPr txBox="1"/>
          <p:nvPr/>
        </p:nvSpPr>
        <p:spPr>
          <a:xfrm>
            <a:off x="603504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· 매장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상담원</a:t>
            </a:r>
            <a:endParaRPr lang="ko-KR" sz="1050" dirty="0"/>
          </a:p>
        </p:txBody>
      </p:sp>
      <p:sp>
        <p:nvSpPr>
          <p:cNvPr id="18" name="Shape 15"/>
          <p:cNvSpPr/>
          <p:nvPr/>
        </p:nvSpPr>
        <p:spPr>
          <a:xfrm>
            <a:off x="2616740" y="1783080"/>
            <a:ext cx="1371600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19" name="참여자"/>
          <p:cNvSpPr txBox="1"/>
          <p:nvPr/>
        </p:nvSpPr>
        <p:spPr>
          <a:xfrm>
            <a:off x="2671604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 · Webview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B.O 화면</a:t>
            </a:r>
            <a:endParaRPr lang="ko-KR" sz="1050" dirty="0"/>
          </a:p>
        </p:txBody>
      </p:sp>
      <p:sp>
        <p:nvSpPr>
          <p:cNvPr id="20" name="Shape 17"/>
          <p:cNvSpPr/>
          <p:nvPr/>
        </p:nvSpPr>
        <p:spPr>
          <a:xfrm>
            <a:off x="4684841" y="1783080"/>
            <a:ext cx="1371600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1" name="참여자"/>
          <p:cNvSpPr txBox="1"/>
          <p:nvPr/>
        </p:nvSpPr>
        <p:spPr>
          <a:xfrm>
            <a:off x="4739705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</a:t>
            </a:r>
            <a:endParaRPr lang="ko-KR" sz="1050" dirty="0"/>
          </a:p>
        </p:txBody>
      </p:sp>
      <p:sp>
        <p:nvSpPr>
          <p:cNvPr id="22" name="Shape 19"/>
          <p:cNvSpPr/>
          <p:nvPr/>
        </p:nvSpPr>
        <p:spPr>
          <a:xfrm>
            <a:off x="8200612" y="178308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3" name="참여자"/>
          <p:cNvSpPr txBox="1"/>
          <p:nvPr/>
        </p:nvSpPr>
        <p:spPr>
          <a:xfrm>
            <a:off x="8255476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서버</a:t>
            </a:r>
            <a:endParaRPr lang="ko-KR" sz="1050" dirty="0"/>
          </a:p>
        </p:txBody>
      </p:sp>
      <p:sp>
        <p:nvSpPr>
          <p:cNvPr id="24" name="Shape 21"/>
          <p:cNvSpPr/>
          <p:nvPr/>
        </p:nvSpPr>
        <p:spPr>
          <a:xfrm>
            <a:off x="10268712" y="178308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5" name="참여자"/>
          <p:cNvSpPr txBox="1"/>
          <p:nvPr/>
        </p:nvSpPr>
        <p:spPr>
          <a:xfrm>
            <a:off x="10323576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</a:t>
            </a:r>
            <a:endParaRPr lang="ko-KR" sz="1050" dirty="0"/>
          </a:p>
        </p:txBody>
      </p:sp>
      <p:sp>
        <p:nvSpPr>
          <p:cNvPr id="26" name="Shape 23"/>
          <p:cNvSpPr/>
          <p:nvPr/>
        </p:nvSpPr>
        <p:spPr>
          <a:xfrm>
            <a:off x="1234440" y="2240280"/>
            <a:ext cx="0" cy="39044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3302540" y="2240280"/>
            <a:ext cx="0" cy="39044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5370641" y="2240280"/>
            <a:ext cx="0" cy="39044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8886412" y="2240280"/>
            <a:ext cx="0" cy="39044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10954512" y="2240280"/>
            <a:ext cx="0" cy="39044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2845340" y="4482389"/>
            <a:ext cx="8749252" cy="1644091"/>
          </a:xfrm>
          <a:prstGeom prst="rect">
            <a:avLst/>
          </a:prstGeom>
          <a:ln w="9525">
            <a:solidFill>
              <a:srgbClr val="7A6A5D"/>
            </a:solidFill>
            <a:prstDash val="dash"/>
          </a:ln>
        </p:spPr>
        <p:txBody>
          <a:bodyPr/>
          <a:p/>
        </p:txBody>
      </p:sp>
      <p:sp>
        <p:nvSpPr>
          <p:cNvPr id="32" name="조건 구간"/>
          <p:cNvSpPr txBox="1"/>
          <p:nvPr/>
        </p:nvSpPr>
        <p:spPr>
          <a:xfrm>
            <a:off x="2900204" y="4509821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 작업</a:t>
            </a:r>
            <a:endParaRPr lang="ko-KR" sz="1000" dirty="0"/>
          </a:p>
        </p:txBody>
      </p:sp>
      <p:sp>
        <p:nvSpPr>
          <p:cNvPr id="33" name="Shape 30"/>
          <p:cNvSpPr/>
          <p:nvPr/>
        </p:nvSpPr>
        <p:spPr>
          <a:xfrm>
            <a:off x="1234440" y="2587752"/>
            <a:ext cx="206810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4" name="송수신"/>
          <p:cNvSpPr txBox="1"/>
          <p:nvPr/>
        </p:nvSpPr>
        <p:spPr>
          <a:xfrm>
            <a:off x="1280160" y="2377440"/>
            <a:ext cx="19766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취소 요청(앱 · 매장 · 상담)</a:t>
            </a:r>
            <a:endParaRPr lang="ko-KR" sz="1000" dirty="0"/>
          </a:p>
        </p:txBody>
      </p:sp>
      <p:sp>
        <p:nvSpPr>
          <p:cNvPr id="35" name="Shape 32"/>
          <p:cNvSpPr/>
          <p:nvPr/>
        </p:nvSpPr>
        <p:spPr>
          <a:xfrm>
            <a:off x="3302540" y="2914193"/>
            <a:ext cx="206810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6" name="송수신"/>
          <p:cNvSpPr txBox="1"/>
          <p:nvPr/>
        </p:nvSpPr>
        <p:spPr>
          <a:xfrm>
            <a:off x="3348260" y="2703881"/>
            <a:ext cx="19766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취소 요청 전달</a:t>
            </a:r>
            <a:endParaRPr lang="ko-KR" sz="1000" dirty="0"/>
          </a:p>
        </p:txBody>
      </p:sp>
      <p:sp>
        <p:nvSpPr>
          <p:cNvPr id="37" name="Shape 34"/>
          <p:cNvSpPr/>
          <p:nvPr/>
        </p:nvSpPr>
        <p:spPr>
          <a:xfrm>
            <a:off x="5370641" y="3240634"/>
            <a:ext cx="35157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8" name="송수신"/>
          <p:cNvSpPr txBox="1"/>
          <p:nvPr/>
        </p:nvSpPr>
        <p:spPr>
          <a:xfrm>
            <a:off x="5416361" y="3030322"/>
            <a:ext cx="34243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승인 취소 ⑤(appcardCancel.mv) · approvalNo</a:t>
            </a:r>
            <a:endParaRPr lang="ko-KR" sz="1000" dirty="0"/>
          </a:p>
        </p:txBody>
      </p:sp>
      <p:sp>
        <p:nvSpPr>
          <p:cNvPr id="39" name="Shape 36"/>
          <p:cNvSpPr/>
          <p:nvPr/>
        </p:nvSpPr>
        <p:spPr>
          <a:xfrm>
            <a:off x="8886412" y="3567074"/>
            <a:ext cx="206810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0" name="송수신"/>
          <p:cNvSpPr txBox="1"/>
          <p:nvPr/>
        </p:nvSpPr>
        <p:spPr>
          <a:xfrm>
            <a:off x="8932132" y="3356762"/>
            <a:ext cx="19766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취소 요청(중계)</a:t>
            </a:r>
            <a:endParaRPr lang="ko-KR" sz="1000" dirty="0"/>
          </a:p>
        </p:txBody>
      </p:sp>
      <p:sp>
        <p:nvSpPr>
          <p:cNvPr id="41" name="Shape 38"/>
          <p:cNvSpPr/>
          <p:nvPr/>
        </p:nvSpPr>
        <p:spPr>
          <a:xfrm flipH="1">
            <a:off x="5370641" y="3893515"/>
            <a:ext cx="35157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42" name="송수신"/>
          <p:cNvSpPr txBox="1"/>
          <p:nvPr/>
        </p:nvSpPr>
        <p:spPr>
          <a:xfrm>
            <a:off x="5416361" y="3683203"/>
            <a:ext cx="34243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cancelTid · cancelPgTno</a:t>
            </a:r>
            <a:endParaRPr lang="ko-KR" sz="1000" dirty="0"/>
          </a:p>
        </p:txBody>
      </p:sp>
      <p:sp>
        <p:nvSpPr>
          <p:cNvPr id="43" name="Shape 40"/>
          <p:cNvSpPr/>
          <p:nvPr/>
        </p:nvSpPr>
        <p:spPr>
          <a:xfrm flipH="1">
            <a:off x="3302540" y="4219956"/>
            <a:ext cx="206810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44" name="송수신"/>
          <p:cNvSpPr txBox="1"/>
          <p:nvPr/>
        </p:nvSpPr>
        <p:spPr>
          <a:xfrm>
            <a:off x="3348260" y="4009644"/>
            <a:ext cx="19766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주문 상태 취소 · 안내</a:t>
            </a:r>
            <a:endParaRPr lang="ko-KR" sz="1000" dirty="0"/>
          </a:p>
        </p:txBody>
      </p:sp>
      <p:sp>
        <p:nvSpPr>
          <p:cNvPr id="45" name="Shape 42"/>
          <p:cNvSpPr/>
          <p:nvPr/>
        </p:nvSpPr>
        <p:spPr>
          <a:xfrm>
            <a:off x="4319081" y="4610405"/>
            <a:ext cx="2103120" cy="237744"/>
          </a:xfrm>
          <a:prstGeom prst="rect">
            <a:avLst/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6" name="서버 처리"/>
          <p:cNvSpPr txBox="1"/>
          <p:nvPr/>
        </p:nvSpPr>
        <p:spPr>
          <a:xfrm>
            <a:off x="4355657" y="4619549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결과 미확인 거래 선별</a:t>
            </a:r>
            <a:endParaRPr lang="ko-KR" sz="1000" dirty="0"/>
          </a:p>
        </p:txBody>
      </p:sp>
      <p:sp>
        <p:nvSpPr>
          <p:cNvPr id="47" name="Shape 44"/>
          <p:cNvSpPr/>
          <p:nvPr/>
        </p:nvSpPr>
        <p:spPr>
          <a:xfrm>
            <a:off x="5370641" y="5055718"/>
            <a:ext cx="35157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8" name="송수신"/>
          <p:cNvSpPr txBox="1"/>
          <p:nvPr/>
        </p:nvSpPr>
        <p:spPr>
          <a:xfrm>
            <a:off x="5416361" y="4845406"/>
            <a:ext cx="34243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거래 상태 조회 ⑥(reqCondition.mv)</a:t>
            </a:r>
            <a:endParaRPr lang="ko-KR" sz="1000" dirty="0"/>
          </a:p>
        </p:txBody>
      </p:sp>
      <p:sp>
        <p:nvSpPr>
          <p:cNvPr id="49" name="Shape 46"/>
          <p:cNvSpPr/>
          <p:nvPr/>
        </p:nvSpPr>
        <p:spPr>
          <a:xfrm flipH="1">
            <a:off x="5370641" y="5382158"/>
            <a:ext cx="35157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50" name="송수신"/>
          <p:cNvSpPr txBox="1"/>
          <p:nvPr/>
        </p:nvSpPr>
        <p:spPr>
          <a:xfrm>
            <a:off x="5416361" y="5171846"/>
            <a:ext cx="34243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state · approvalNo · cancelState</a:t>
            </a:r>
            <a:endParaRPr lang="ko-KR" sz="1000" dirty="0"/>
          </a:p>
        </p:txBody>
      </p:sp>
      <p:sp>
        <p:nvSpPr>
          <p:cNvPr id="51" name="Shape 48"/>
          <p:cNvSpPr/>
          <p:nvPr/>
        </p:nvSpPr>
        <p:spPr>
          <a:xfrm>
            <a:off x="5370641" y="5708599"/>
            <a:ext cx="35157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2" name="송수신"/>
          <p:cNvSpPr txBox="1"/>
          <p:nvPr/>
        </p:nvSpPr>
        <p:spPr>
          <a:xfrm>
            <a:off x="5416361" y="5498287"/>
            <a:ext cx="34243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승인 취소 ⑤(조회한 approvalNo)</a:t>
            </a:r>
            <a:endParaRPr lang="ko-KR" sz="1000" dirty="0"/>
          </a:p>
        </p:txBody>
      </p:sp>
      <p:sp>
        <p:nvSpPr>
          <p:cNvPr id="53" name="Shape 50"/>
          <p:cNvSpPr/>
          <p:nvPr/>
        </p:nvSpPr>
        <p:spPr>
          <a:xfrm>
            <a:off x="8886412" y="6035040"/>
            <a:ext cx="206810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4" name="송수신"/>
          <p:cNvSpPr txBox="1"/>
          <p:nvPr/>
        </p:nvSpPr>
        <p:spPr>
          <a:xfrm>
            <a:off x="8932132" y="5824728"/>
            <a:ext cx="19766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 취소 요청(중계)</a:t>
            </a:r>
            <a:endParaRPr lang="ko-KR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18</a:t>
            </a:r>
            <a:endParaRPr lang="ko-KR" sz="900" dirty="0"/>
          </a:p>
        </p:txBody>
      </p:sp>
      <p:sp>
        <p:nvSpPr>
          <p:cNvPr id="56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관리 · 송수신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조회 · 등록 · 삭제는 핏콜라보 카드관리 페이지가 맡습니다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데이터 적재 API로 sessionKey를 받아 카드관리 페이지를 열고, 닫으면 메가퀵결제로 돌아옵니다.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5952744" y="411480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7" name="범례"/>
          <p:cNvSpPr txBox="1"/>
          <p:nvPr/>
        </p:nvSpPr>
        <p:spPr>
          <a:xfrm>
            <a:off x="6300216" y="38404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· 요청자</a:t>
            </a:r>
            <a:endParaRPr lang="ko-KR" sz="1000" dirty="0"/>
          </a:p>
        </p:txBody>
      </p:sp>
      <p:sp>
        <p:nvSpPr>
          <p:cNvPr id="8" name="Shape 5"/>
          <p:cNvSpPr/>
          <p:nvPr/>
        </p:nvSpPr>
        <p:spPr>
          <a:xfrm>
            <a:off x="7351776" y="411480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9" name="범례"/>
          <p:cNvSpPr txBox="1"/>
          <p:nvPr/>
        </p:nvSpPr>
        <p:spPr>
          <a:xfrm>
            <a:off x="7699248" y="384048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측</a:t>
            </a:r>
            <a:endParaRPr lang="ko-KR" sz="1000" dirty="0"/>
          </a:p>
        </p:txBody>
      </p:sp>
      <p:sp>
        <p:nvSpPr>
          <p:cNvPr id="10" name="Shape 7"/>
          <p:cNvSpPr/>
          <p:nvPr/>
        </p:nvSpPr>
        <p:spPr>
          <a:xfrm>
            <a:off x="9134856" y="411480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1" name="범례"/>
          <p:cNvSpPr txBox="1"/>
          <p:nvPr/>
        </p:nvSpPr>
        <p:spPr>
          <a:xfrm>
            <a:off x="9482328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</a:t>
            </a:r>
            <a:endParaRPr lang="ko-KR" sz="1000" dirty="0"/>
          </a:p>
        </p:txBody>
      </p:sp>
      <p:sp>
        <p:nvSpPr>
          <p:cNvPr id="12" name="Shape 9"/>
          <p:cNvSpPr/>
          <p:nvPr/>
        </p:nvSpPr>
        <p:spPr>
          <a:xfrm>
            <a:off x="10030968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범례"/>
          <p:cNvSpPr txBox="1"/>
          <p:nvPr/>
        </p:nvSpPr>
        <p:spPr>
          <a:xfrm>
            <a:off x="10378440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</a:t>
            </a:r>
            <a:endParaRPr lang="ko-KR" sz="1000" dirty="0"/>
          </a:p>
        </p:txBody>
      </p:sp>
      <p:sp>
        <p:nvSpPr>
          <p:cNvPr id="14" name="Shape 11"/>
          <p:cNvSpPr/>
          <p:nvPr/>
        </p:nvSpPr>
        <p:spPr>
          <a:xfrm>
            <a:off x="10927080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15" name="범례"/>
          <p:cNvSpPr txBox="1"/>
          <p:nvPr/>
        </p:nvSpPr>
        <p:spPr>
          <a:xfrm>
            <a:off x="11274552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ko-KR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178308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7" name="참여자"/>
          <p:cNvSpPr txBox="1"/>
          <p:nvPr/>
        </p:nvSpPr>
        <p:spPr>
          <a:xfrm>
            <a:off x="603504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</a:t>
            </a:r>
            <a:endParaRPr lang="ko-KR" sz="1050" dirty="0"/>
          </a:p>
        </p:txBody>
      </p:sp>
      <p:sp>
        <p:nvSpPr>
          <p:cNvPr id="18" name="Shape 15"/>
          <p:cNvSpPr/>
          <p:nvPr/>
        </p:nvSpPr>
        <p:spPr>
          <a:xfrm>
            <a:off x="2284367" y="1783080"/>
            <a:ext cx="1371600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19" name="참여자"/>
          <p:cNvSpPr txBox="1"/>
          <p:nvPr/>
        </p:nvSpPr>
        <p:spPr>
          <a:xfrm>
            <a:off x="2339231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(전체메뉴)</a:t>
            </a:r>
            <a:endParaRPr lang="ko-KR" sz="1050" dirty="0"/>
          </a:p>
        </p:txBody>
      </p:sp>
      <p:sp>
        <p:nvSpPr>
          <p:cNvPr id="20" name="Shape 17"/>
          <p:cNvSpPr/>
          <p:nvPr/>
        </p:nvSpPr>
        <p:spPr>
          <a:xfrm>
            <a:off x="4020094" y="1783080"/>
            <a:ext cx="1371600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1" name="참여자"/>
          <p:cNvSpPr txBox="1"/>
          <p:nvPr/>
        </p:nvSpPr>
        <p:spPr>
          <a:xfrm>
            <a:off x="4074958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(메가퀵결제)</a:t>
            </a:r>
            <a:endParaRPr lang="ko-KR" sz="1050" dirty="0"/>
          </a:p>
        </p:txBody>
      </p:sp>
      <p:sp>
        <p:nvSpPr>
          <p:cNvPr id="22" name="Shape 19"/>
          <p:cNvSpPr/>
          <p:nvPr/>
        </p:nvSpPr>
        <p:spPr>
          <a:xfrm>
            <a:off x="5755821" y="178308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3" name="참여자"/>
          <p:cNvSpPr txBox="1"/>
          <p:nvPr/>
        </p:nvSpPr>
        <p:spPr>
          <a:xfrm>
            <a:off x="5810685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카드관리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(Webview)</a:t>
            </a:r>
            <a:endParaRPr lang="ko-KR" sz="1050" dirty="0"/>
          </a:p>
        </p:txBody>
      </p:sp>
      <p:sp>
        <p:nvSpPr>
          <p:cNvPr id="24" name="Shape 21"/>
          <p:cNvSpPr/>
          <p:nvPr/>
        </p:nvSpPr>
        <p:spPr>
          <a:xfrm>
            <a:off x="7491549" y="1783080"/>
            <a:ext cx="1371600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5" name="참여자"/>
          <p:cNvSpPr txBox="1"/>
          <p:nvPr/>
        </p:nvSpPr>
        <p:spPr>
          <a:xfrm>
            <a:off x="7546413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</a:t>
            </a:r>
            <a:endParaRPr lang="ko-KR" sz="1050" dirty="0"/>
          </a:p>
        </p:txBody>
      </p:sp>
      <p:sp>
        <p:nvSpPr>
          <p:cNvPr id="26" name="Shape 23"/>
          <p:cNvSpPr/>
          <p:nvPr/>
        </p:nvSpPr>
        <p:spPr>
          <a:xfrm>
            <a:off x="10268712" y="178308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7" name="참여자"/>
          <p:cNvSpPr txBox="1"/>
          <p:nvPr/>
        </p:nvSpPr>
        <p:spPr>
          <a:xfrm>
            <a:off x="10323576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서버</a:t>
            </a:r>
            <a:endParaRPr lang="ko-KR" sz="1050" dirty="0"/>
          </a:p>
        </p:txBody>
      </p:sp>
      <p:sp>
        <p:nvSpPr>
          <p:cNvPr id="28" name="Shape 25"/>
          <p:cNvSpPr/>
          <p:nvPr/>
        </p:nvSpPr>
        <p:spPr>
          <a:xfrm>
            <a:off x="1234440" y="2240280"/>
            <a:ext cx="0" cy="23042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2970167" y="2240280"/>
            <a:ext cx="0" cy="23042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4705894" y="2240280"/>
            <a:ext cx="0" cy="23042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6441621" y="2240280"/>
            <a:ext cx="0" cy="23042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8177349" y="2240280"/>
            <a:ext cx="0" cy="23042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10954512" y="2240280"/>
            <a:ext cx="0" cy="23042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1234440" y="2587752"/>
            <a:ext cx="1735727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5" name="송수신"/>
          <p:cNvSpPr txBox="1"/>
          <p:nvPr/>
        </p:nvSpPr>
        <p:spPr>
          <a:xfrm>
            <a:off x="1280160" y="2377440"/>
            <a:ext cx="1644287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전체메뉴 &gt; 결제</a:t>
            </a:r>
            <a:endParaRPr lang="ko-KR" sz="1000" dirty="0"/>
          </a:p>
        </p:txBody>
      </p:sp>
      <p:sp>
        <p:nvSpPr>
          <p:cNvPr id="36" name="Shape 33"/>
          <p:cNvSpPr/>
          <p:nvPr/>
        </p:nvSpPr>
        <p:spPr>
          <a:xfrm>
            <a:off x="2970167" y="2818638"/>
            <a:ext cx="1735727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7" name="송수신"/>
          <p:cNvSpPr txBox="1"/>
          <p:nvPr/>
        </p:nvSpPr>
        <p:spPr>
          <a:xfrm>
            <a:off x="3015887" y="2608326"/>
            <a:ext cx="1644287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메가퀵결제 열기</a:t>
            </a:r>
            <a:endParaRPr lang="ko-KR" sz="1000" dirty="0"/>
          </a:p>
        </p:txBody>
      </p:sp>
      <p:sp>
        <p:nvSpPr>
          <p:cNvPr id="38" name="Shape 35"/>
          <p:cNvSpPr/>
          <p:nvPr/>
        </p:nvSpPr>
        <p:spPr>
          <a:xfrm>
            <a:off x="4705894" y="3049524"/>
            <a:ext cx="3471454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9" name="송수신"/>
          <p:cNvSpPr txBox="1"/>
          <p:nvPr/>
        </p:nvSpPr>
        <p:spPr>
          <a:xfrm>
            <a:off x="4751614" y="2839212"/>
            <a:ext cx="338001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앱카드 관리 진입 요청</a:t>
            </a:r>
            <a:endParaRPr lang="ko-KR" sz="1000" dirty="0"/>
          </a:p>
        </p:txBody>
      </p:sp>
      <p:sp>
        <p:nvSpPr>
          <p:cNvPr id="40" name="Shape 37"/>
          <p:cNvSpPr/>
          <p:nvPr/>
        </p:nvSpPr>
        <p:spPr>
          <a:xfrm>
            <a:off x="8177349" y="3280410"/>
            <a:ext cx="2777163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1" name="송수신"/>
          <p:cNvSpPr txBox="1"/>
          <p:nvPr/>
        </p:nvSpPr>
        <p:spPr>
          <a:xfrm>
            <a:off x="8223069" y="3070098"/>
            <a:ext cx="268572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데이터 적재 ①(insSessionData.mv)</a:t>
            </a:r>
            <a:endParaRPr lang="ko-KR" sz="1000" dirty="0"/>
          </a:p>
        </p:txBody>
      </p:sp>
      <p:sp>
        <p:nvSpPr>
          <p:cNvPr id="42" name="Shape 39"/>
          <p:cNvSpPr/>
          <p:nvPr/>
        </p:nvSpPr>
        <p:spPr>
          <a:xfrm flipH="1">
            <a:off x="8177349" y="3511296"/>
            <a:ext cx="2777163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43" name="송수신"/>
          <p:cNvSpPr txBox="1"/>
          <p:nvPr/>
        </p:nvSpPr>
        <p:spPr>
          <a:xfrm>
            <a:off x="8223069" y="3300984"/>
            <a:ext cx="268572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sessionKey · token</a:t>
            </a:r>
            <a:endParaRPr lang="ko-KR" sz="1000" dirty="0"/>
          </a:p>
        </p:txBody>
      </p:sp>
      <p:sp>
        <p:nvSpPr>
          <p:cNvPr id="44" name="Shape 41"/>
          <p:cNvSpPr/>
          <p:nvPr/>
        </p:nvSpPr>
        <p:spPr>
          <a:xfrm flipH="1">
            <a:off x="4705894" y="3742182"/>
            <a:ext cx="3471454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45" name="송수신"/>
          <p:cNvSpPr txBox="1"/>
          <p:nvPr/>
        </p:nvSpPr>
        <p:spPr>
          <a:xfrm>
            <a:off x="4751614" y="3531870"/>
            <a:ext cx="338001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sessionKey · token 전달</a:t>
            </a:r>
            <a:endParaRPr lang="ko-KR" sz="1000" dirty="0"/>
          </a:p>
        </p:txBody>
      </p:sp>
      <p:sp>
        <p:nvSpPr>
          <p:cNvPr id="46" name="Shape 43"/>
          <p:cNvSpPr/>
          <p:nvPr/>
        </p:nvSpPr>
        <p:spPr>
          <a:xfrm>
            <a:off x="4705894" y="3973068"/>
            <a:ext cx="1735727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7" name="송수신"/>
          <p:cNvSpPr txBox="1"/>
          <p:nvPr/>
        </p:nvSpPr>
        <p:spPr>
          <a:xfrm>
            <a:off x="4751614" y="3762756"/>
            <a:ext cx="1644287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페이지 이동</a:t>
            </a:r>
            <a:endParaRPr lang="ko-KR" sz="1000" dirty="0"/>
          </a:p>
        </p:txBody>
      </p:sp>
      <p:sp>
        <p:nvSpPr>
          <p:cNvPr id="48" name="Shape 45"/>
          <p:cNvSpPr/>
          <p:nvPr/>
        </p:nvSpPr>
        <p:spPr>
          <a:xfrm>
            <a:off x="1234440" y="4203954"/>
            <a:ext cx="520718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9" name="송수신"/>
          <p:cNvSpPr txBox="1"/>
          <p:nvPr/>
        </p:nvSpPr>
        <p:spPr>
          <a:xfrm>
            <a:off x="1280160" y="3993642"/>
            <a:ext cx="511574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카드 조회 · 등록 · 삭제</a:t>
            </a:r>
            <a:endParaRPr lang="ko-KR" sz="1000" dirty="0"/>
          </a:p>
        </p:txBody>
      </p:sp>
      <p:sp>
        <p:nvSpPr>
          <p:cNvPr id="50" name="Shape 47"/>
          <p:cNvSpPr/>
          <p:nvPr/>
        </p:nvSpPr>
        <p:spPr>
          <a:xfrm flipH="1">
            <a:off x="4705894" y="4434840"/>
            <a:ext cx="1735727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51" name="송수신"/>
          <p:cNvSpPr txBox="1"/>
          <p:nvPr/>
        </p:nvSpPr>
        <p:spPr>
          <a:xfrm>
            <a:off x="4751614" y="4224528"/>
            <a:ext cx="1644287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닫기 → redirectUrl</a:t>
            </a:r>
            <a:endParaRPr lang="ko-KR" sz="1000" dirty="0"/>
          </a:p>
        </p:txBody>
      </p:sp>
      <p:graphicFrame>
        <p:nvGraphicFramePr>
          <p:cNvPr id="1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17720"/>
          <a:ext cx="11091672" cy="1645920"/>
        </p:xfrm>
        <a:graphic>
          <a:graphicData uri="http://schemas.openxmlformats.org/drawingml/2006/table">
            <a:tbl>
              <a:tblPr/>
              <a:tblGrid>
                <a:gridCol w="2011680"/>
                <a:gridCol w="907999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추가 경로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카드관리 페이지에서 등록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로그인 인증 때 자동 등록(reqAuthData.mv 이후)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중 새 카드 인증(reqAuthDataPay.mv 이후)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적재 보내는 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storeId · deviceType · userType 0(CI) · ci · redirectUrl(메가퀵결제)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제공하지 않는 기능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이름 변경 · 대표 카드 · 약관 재표시 · 해지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필요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인증만으로 결제 계정이 등록되는 점의 고객 동의 범위 [확인필요(핏콜라보 · 법무팀)]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3" name="Text 49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/ 18</a:t>
            </a:r>
            <a:endParaRPr lang="ko-KR" sz="900" dirty="0"/>
          </a:p>
        </p:txBody>
      </p:sp>
      <p:sp>
        <p:nvSpPr>
          <p:cNvPr id="54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메가MGC커피 앱카드 API 연동 흐름 정의서 v0.2</dc:title>
  <dc:subject>PptxGenJS Presentation</dc:subject>
  <dc:creator>PptxGenJS</dc:creator>
  <cp:lastModifiedBy>PptxGenJS</cp:lastModifiedBy>
  <cp:revision>1</cp:revision>
  <dcterms:created xsi:type="dcterms:W3CDTF">2026-10-21T01:27:57Z</dcterms:created>
  <dcterms:modified xsi:type="dcterms:W3CDTF">2026-10-21T01:27:57Z</dcterms:modified>
</cp:coreProperties>
</file>