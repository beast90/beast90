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340" r:id="rId92"/>
    <p:sldId id="341" r:id="rId93"/>
    <p:sldId id="268" r:id="rId13"/>
    <p:sldId id="269" r:id="rId14"/>
    <p:sldId id="270" r:id="rId15"/>
    <p:sldId id="342" r:id="rId94"/>
    <p:sldId id="271" r:id="rId16"/>
    <p:sldId id="272" r:id="rId17"/>
    <p:sldId id="273" r:id="rId18"/>
    <p:sldId id="335" r:id="rId19"/>
    <p:sldId id="336" r:id="rId20"/>
    <p:sldId id="274" r:id="rId21"/>
    <p:sldId id="275" r:id="rId22"/>
    <p:sldId id="276" r:id="rId23"/>
    <p:sldId id="277" r:id="rId24"/>
    <p:sldId id="278" r:id="rId25"/>
    <p:sldId id="279" r:id="rId26"/>
    <p:sldId id="343" r:id="rId95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337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8" r:id="rId83"/>
    <p:sldId id="339" r:id="rId8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31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74853C-7B98-4819-9651-3B28C2B7C273}" v="2" dt="2026-10-21T05:16:26.047"/>
    <p1510:client id="{75A5A900-D0AD-4353-9BD9-7E429D63DE80}" v="18" dt="2026-10-21T04:41:47.9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9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slide" Target="slides/slide25.xml"/><Relationship Id="rId25" Type="http://schemas.openxmlformats.org/officeDocument/2006/relationships/slide" Target="slides/slide26.xml"/><Relationship Id="rId26" Type="http://schemas.openxmlformats.org/officeDocument/2006/relationships/slide" Target="slides/slide27.xml"/><Relationship Id="rId27" Type="http://schemas.openxmlformats.org/officeDocument/2006/relationships/slide" Target="slides/slide28.xml"/><Relationship Id="rId28" Type="http://schemas.openxmlformats.org/officeDocument/2006/relationships/slide" Target="slides/slide29.xml"/><Relationship Id="rId29" Type="http://schemas.openxmlformats.org/officeDocument/2006/relationships/slide" Target="slides/slide30.xml"/><Relationship Id="rId30" Type="http://schemas.openxmlformats.org/officeDocument/2006/relationships/slide" Target="slides/slide31.xml"/><Relationship Id="rId31" Type="http://schemas.openxmlformats.org/officeDocument/2006/relationships/slide" Target="slides/slide32.xml"/><Relationship Id="rId32" Type="http://schemas.openxmlformats.org/officeDocument/2006/relationships/slide" Target="slides/slide33.xml"/><Relationship Id="rId33" Type="http://schemas.openxmlformats.org/officeDocument/2006/relationships/slide" Target="slides/slide34.xml"/><Relationship Id="rId34" Type="http://schemas.openxmlformats.org/officeDocument/2006/relationships/slide" Target="slides/slide35.xml"/><Relationship Id="rId35" Type="http://schemas.openxmlformats.org/officeDocument/2006/relationships/slide" Target="slides/slide36.xml"/><Relationship Id="rId36" Type="http://schemas.openxmlformats.org/officeDocument/2006/relationships/slide" Target="slides/slide37.xml"/><Relationship Id="rId37" Type="http://schemas.openxmlformats.org/officeDocument/2006/relationships/slide" Target="slides/slide38.xml"/><Relationship Id="rId38" Type="http://schemas.openxmlformats.org/officeDocument/2006/relationships/slide" Target="slides/slide39.xml"/><Relationship Id="rId39" Type="http://schemas.openxmlformats.org/officeDocument/2006/relationships/slide" Target="slides/slide40.xml"/><Relationship Id="rId40" Type="http://schemas.openxmlformats.org/officeDocument/2006/relationships/slide" Target="slides/slide41.xml"/><Relationship Id="rId41" Type="http://schemas.openxmlformats.org/officeDocument/2006/relationships/slide" Target="slides/slide42.xml"/><Relationship Id="rId42" Type="http://schemas.openxmlformats.org/officeDocument/2006/relationships/slide" Target="slides/slide43.xml"/><Relationship Id="rId43" Type="http://schemas.openxmlformats.org/officeDocument/2006/relationships/slide" Target="slides/slide44.xml"/><Relationship Id="rId44" Type="http://schemas.openxmlformats.org/officeDocument/2006/relationships/slide" Target="slides/slide45.xml"/><Relationship Id="rId45" Type="http://schemas.openxmlformats.org/officeDocument/2006/relationships/slide" Target="slides/slide46.xml"/><Relationship Id="rId46" Type="http://schemas.openxmlformats.org/officeDocument/2006/relationships/slide" Target="slides/slide47.xml"/><Relationship Id="rId47" Type="http://schemas.openxmlformats.org/officeDocument/2006/relationships/slide" Target="slides/slide48.xml"/><Relationship Id="rId48" Type="http://schemas.openxmlformats.org/officeDocument/2006/relationships/slide" Target="slides/slide49.xml"/><Relationship Id="rId49" Type="http://schemas.openxmlformats.org/officeDocument/2006/relationships/slide" Target="slides/slide50.xml"/><Relationship Id="rId50" Type="http://schemas.openxmlformats.org/officeDocument/2006/relationships/slide" Target="slides/slide51.xml"/><Relationship Id="rId51" Type="http://schemas.openxmlformats.org/officeDocument/2006/relationships/slide" Target="slides/slide52.xml"/><Relationship Id="rId52" Type="http://schemas.openxmlformats.org/officeDocument/2006/relationships/slide" Target="slides/slide53.xml"/><Relationship Id="rId53" Type="http://schemas.openxmlformats.org/officeDocument/2006/relationships/slide" Target="slides/slide54.xml"/><Relationship Id="rId54" Type="http://schemas.openxmlformats.org/officeDocument/2006/relationships/slide" Target="slides/slide55.xml"/><Relationship Id="rId55" Type="http://schemas.openxmlformats.org/officeDocument/2006/relationships/slide" Target="slides/slide56.xml"/><Relationship Id="rId56" Type="http://schemas.openxmlformats.org/officeDocument/2006/relationships/slide" Target="slides/slide57.xml"/><Relationship Id="rId57" Type="http://schemas.openxmlformats.org/officeDocument/2006/relationships/slide" Target="slides/slide58.xml"/><Relationship Id="rId58" Type="http://schemas.openxmlformats.org/officeDocument/2006/relationships/slide" Target="slides/slide59.xml"/><Relationship Id="rId59" Type="http://schemas.openxmlformats.org/officeDocument/2006/relationships/slide" Target="slides/slide60.xml"/><Relationship Id="rId60" Type="http://schemas.openxmlformats.org/officeDocument/2006/relationships/slide" Target="slides/slide61.xml"/><Relationship Id="rId61" Type="http://schemas.openxmlformats.org/officeDocument/2006/relationships/slide" Target="slides/slide62.xml"/><Relationship Id="rId62" Type="http://schemas.openxmlformats.org/officeDocument/2006/relationships/slide" Target="slides/slide63.xml"/><Relationship Id="rId63" Type="http://schemas.openxmlformats.org/officeDocument/2006/relationships/slide" Target="slides/slide64.xml"/><Relationship Id="rId64" Type="http://schemas.openxmlformats.org/officeDocument/2006/relationships/slide" Target="slides/slide65.xml"/><Relationship Id="rId65" Type="http://schemas.openxmlformats.org/officeDocument/2006/relationships/slide" Target="slides/slide66.xml"/><Relationship Id="rId66" Type="http://schemas.openxmlformats.org/officeDocument/2006/relationships/slide" Target="slides/slide67.xml"/><Relationship Id="rId67" Type="http://schemas.openxmlformats.org/officeDocument/2006/relationships/slide" Target="slides/slide68.xml"/><Relationship Id="rId68" Type="http://schemas.openxmlformats.org/officeDocument/2006/relationships/slide" Target="slides/slide69.xml"/><Relationship Id="rId69" Type="http://schemas.openxmlformats.org/officeDocument/2006/relationships/slide" Target="slides/slide70.xml"/><Relationship Id="rId70" Type="http://schemas.openxmlformats.org/officeDocument/2006/relationships/slide" Target="slides/slide71.xml"/><Relationship Id="rId71" Type="http://schemas.openxmlformats.org/officeDocument/2006/relationships/slide" Target="slides/slide72.xml"/><Relationship Id="rId72" Type="http://schemas.openxmlformats.org/officeDocument/2006/relationships/slide" Target="slides/slide73.xml"/><Relationship Id="rId73" Type="http://schemas.openxmlformats.org/officeDocument/2006/relationships/slide" Target="slides/slide74.xml"/><Relationship Id="rId74" Type="http://schemas.openxmlformats.org/officeDocument/2006/relationships/slide" Target="slides/slide75.xml"/><Relationship Id="rId75" Type="http://schemas.openxmlformats.org/officeDocument/2006/relationships/slide" Target="slides/slide76.xml"/><Relationship Id="rId76" Type="http://schemas.openxmlformats.org/officeDocument/2006/relationships/slide" Target="slides/slide77.xml"/><Relationship Id="rId77" Type="http://schemas.openxmlformats.org/officeDocument/2006/relationships/slide" Target="slides/slide78.xml"/><Relationship Id="rId78" Type="http://schemas.openxmlformats.org/officeDocument/2006/relationships/slide" Target="slides/slide79.xml"/><Relationship Id="rId79" Type="http://schemas.openxmlformats.org/officeDocument/2006/relationships/slide" Target="slides/slide80.xml"/><Relationship Id="rId80" Type="http://schemas.openxmlformats.org/officeDocument/2006/relationships/slide" Target="slides/slide81.xml"/><Relationship Id="rId81" Type="http://schemas.openxmlformats.org/officeDocument/2006/relationships/slide" Target="slides/slide82.xml"/><Relationship Id="rId82" Type="http://schemas.openxmlformats.org/officeDocument/2006/relationships/slide" Target="slides/slide83.xml"/><Relationship Id="rId83" Type="http://schemas.openxmlformats.org/officeDocument/2006/relationships/slide" Target="slides/slide84.xml"/><Relationship Id="rId84" Type="http://schemas.openxmlformats.org/officeDocument/2006/relationships/slide" Target="slides/slide85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Relationship Id="rId90" Type="http://schemas.microsoft.com/office/2016/11/relationships/changesInfo" Target="changesInfos/changesInfo1.xml"/><Relationship Id="rId91" Type="http://schemas.microsoft.com/office/2015/10/relationships/revisionInfo" Target="revisionInfo.xml"/><Relationship Id="rId92" Type="http://schemas.openxmlformats.org/officeDocument/2006/relationships/slide" Target="slides/slide12.xml"/><Relationship Id="rId93" Type="http://schemas.openxmlformats.org/officeDocument/2006/relationships/slide" Target="slides/slide13.xml"/><Relationship Id="rId94" Type="http://schemas.openxmlformats.org/officeDocument/2006/relationships/slide" Target="slides/slide86.xml"/><Relationship Id="rId95" Type="http://schemas.openxmlformats.org/officeDocument/2006/relationships/slide" Target="slides/slide8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문 진승" userId="4d4d7787-e10c-42c5-ab64-b0d0e0438d64" providerId="ADAL" clId="{DB4B0D55-DDE0-40F6-B946-69DBCD43A701}"/>
    <pc:docChg chg="undo redo custSel modSld">
      <pc:chgData name="문 진승" userId="4d4d7787-e10c-42c5-ab64-b0d0e0438d64" providerId="ADAL" clId="{DB4B0D55-DDE0-40F6-B946-69DBCD43A701}" dt="2026-10-21T05:45:43.677" v="140" actId="207"/>
      <pc:docMkLst>
        <pc:docMk/>
      </pc:docMkLst>
      <pc:sldChg chg="addSp delSp modSp mod setBg">
        <pc:chgData name="문 진승" userId="4d4d7787-e10c-42c5-ab64-b0d0e0438d64" providerId="ADAL" clId="{DB4B0D55-DDE0-40F6-B946-69DBCD43A701}" dt="2026-10-21T04:29:51.820" v="11"/>
        <pc:sldMkLst>
          <pc:docMk/>
          <pc:sldMk cId="0" sldId="256"/>
        </pc:sldMkLst>
        <pc:spChg chg="add del mod">
          <ac:chgData name="문 진승" userId="4d4d7787-e10c-42c5-ab64-b0d0e0438d64" providerId="ADAL" clId="{DB4B0D55-DDE0-40F6-B946-69DBCD43A701}" dt="2026-10-21T04:29:01.339" v="2"/>
          <ac:spMkLst>
            <pc:docMk/>
            <pc:sldMk cId="0" sldId="256"/>
            <ac:spMk id="6" creationId="{AF86A4D1-E180-8CE8-189A-7C68B91F3264}"/>
          </ac:spMkLst>
        </pc:spChg>
      </pc:sldChg>
      <pc:sldChg chg="modSp mod setBg">
        <pc:chgData name="문 진승" userId="4d4d7787-e10c-42c5-ab64-b0d0e0438d64" providerId="ADAL" clId="{DB4B0D55-DDE0-40F6-B946-69DBCD43A701}" dt="2026-10-21T04:30:14.145" v="17" actId="207"/>
        <pc:sldMkLst>
          <pc:docMk/>
          <pc:sldMk cId="0" sldId="258"/>
        </pc:sldMkLst>
        <pc:spChg chg="mod">
          <ac:chgData name="문 진승" userId="4d4d7787-e10c-42c5-ab64-b0d0e0438d64" providerId="ADAL" clId="{DB4B0D55-DDE0-40F6-B946-69DBCD43A701}" dt="2026-10-21T04:30:14.145" v="17" actId="207"/>
          <ac:spMkLst>
            <pc:docMk/>
            <pc:sldMk cId="0" sldId="258"/>
            <ac:spMk id="3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5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6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7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8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9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10.798" v="16" actId="207"/>
          <ac:spMkLst>
            <pc:docMk/>
            <pc:sldMk cId="0" sldId="258"/>
            <ac:spMk id="11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4:35:41.164" v="24" actId="14734"/>
        <pc:sldMkLst>
          <pc:docMk/>
          <pc:sldMk cId="0" sldId="259"/>
        </pc:sldMkLst>
        <pc:graphicFrameChg chg="mod modGraphic">
          <ac:chgData name="문 진승" userId="4d4d7787-e10c-42c5-ab64-b0d0e0438d64" providerId="ADAL" clId="{DB4B0D55-DDE0-40F6-B946-69DBCD43A701}" dt="2026-10-21T04:35:41.164" v="24" actId="14734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">
        <pc:chgData name="문 진승" userId="4d4d7787-e10c-42c5-ab64-b0d0e0438d64" providerId="ADAL" clId="{DB4B0D55-DDE0-40F6-B946-69DBCD43A701}" dt="2026-10-21T04:41:47.988" v="25" actId="21"/>
        <pc:sldMkLst>
          <pc:docMk/>
          <pc:sldMk cId="0" sldId="260"/>
        </pc:sldMkLst>
        <pc:graphicFrameChg chg="mod">
          <ac:chgData name="문 진승" userId="4d4d7787-e10c-42c5-ab64-b0d0e0438d64" providerId="ADAL" clId="{DB4B0D55-DDE0-40F6-B946-69DBCD43A701}" dt="2026-10-21T04:41:47.988" v="25" actId="21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4:43:28.224" v="47" actId="20577"/>
        <pc:sldMkLst>
          <pc:docMk/>
          <pc:sldMk cId="0" sldId="262"/>
        </pc:sldMkLst>
        <pc:spChg chg="mod">
          <ac:chgData name="문 진승" userId="4d4d7787-e10c-42c5-ab64-b0d0e0438d64" providerId="ADAL" clId="{DB4B0D55-DDE0-40F6-B946-69DBCD43A701}" dt="2026-10-21T04:43:28.224" v="47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5:10.339" v="19" actId="1076"/>
          <ac:spMkLst>
            <pc:docMk/>
            <pc:sldMk cId="0" sldId="262"/>
            <ac:spMk id="8" creationId="{00000000-0000-0000-0000-000000000000}"/>
          </ac:spMkLst>
        </pc:spChg>
      </pc:sldChg>
      <pc:sldChg chg="addSp delSp modSp mod">
        <pc:chgData name="문 진승" userId="4d4d7787-e10c-42c5-ab64-b0d0e0438d64" providerId="ADAL" clId="{DB4B0D55-DDE0-40F6-B946-69DBCD43A701}" dt="2026-10-21T05:16:44.707" v="102" actId="122"/>
        <pc:sldMkLst>
          <pc:docMk/>
          <pc:sldMk cId="0" sldId="263"/>
        </pc:sldMkLst>
        <pc:spChg chg="add del mod">
          <ac:chgData name="문 진승" userId="4d4d7787-e10c-42c5-ab64-b0d0e0438d64" providerId="ADAL" clId="{DB4B0D55-DDE0-40F6-B946-69DBCD43A701}" dt="2026-10-21T05:16:28.173" v="100"/>
          <ac:spMkLst>
            <pc:docMk/>
            <pc:sldMk cId="0" sldId="263"/>
            <ac:spMk id="5" creationId="{7D24D1F3-1F82-E4A8-667E-07BE37D4F76C}"/>
          </ac:spMkLst>
        </pc:spChg>
        <pc:graphicFrameChg chg="mod modGraphic">
          <ac:chgData name="문 진승" userId="4d4d7787-e10c-42c5-ab64-b0d0e0438d64" providerId="ADAL" clId="{DB4B0D55-DDE0-40F6-B946-69DBCD43A701}" dt="2026-10-21T05:16:44.707" v="102" actId="122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17:00.245" v="103" actId="108"/>
        <pc:sldMkLst>
          <pc:docMk/>
          <pc:sldMk cId="0" sldId="264"/>
        </pc:sldMkLst>
        <pc:spChg chg="mod">
          <ac:chgData name="문 진승" userId="4d4d7787-e10c-42c5-ab64-b0d0e0438d64" providerId="ADAL" clId="{DB4B0D55-DDE0-40F6-B946-69DBCD43A701}" dt="2026-10-21T05:14:06.139" v="79" actId="207"/>
          <ac:spMkLst>
            <pc:docMk/>
            <pc:sldMk cId="0" sldId="264"/>
            <ac:spMk id="3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5:17:00.245" v="103" actId="108"/>
          <ac:spMkLst>
            <pc:docMk/>
            <pc:sldMk cId="0" sldId="264"/>
            <ac:spMk id="4" creationId="{00000000-0000-0000-0000-000000000000}"/>
          </ac:spMkLst>
        </pc:spChg>
        <pc:graphicFrameChg chg="modGraphic">
          <ac:chgData name="문 진승" userId="4d4d7787-e10c-42c5-ab64-b0d0e0438d64" providerId="ADAL" clId="{DB4B0D55-DDE0-40F6-B946-69DBCD43A701}" dt="2026-10-21T05:16:39.458" v="101" actId="122"/>
          <ac:graphicFrameMkLst>
            <pc:docMk/>
            <pc:sldMk cId="0" sldId="264"/>
            <ac:graphicFrameMk id="10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20:33.990" v="136" actId="113"/>
        <pc:sldMkLst>
          <pc:docMk/>
          <pc:sldMk cId="0" sldId="267"/>
        </pc:sldMkLst>
        <pc:spChg chg="mod">
          <ac:chgData name="문 진승" userId="4d4d7787-e10c-42c5-ab64-b0d0e0438d64" providerId="ADAL" clId="{DB4B0D55-DDE0-40F6-B946-69DBCD43A701}" dt="2026-10-21T05:15:10.065" v="85" actId="108"/>
          <ac:spMkLst>
            <pc:docMk/>
            <pc:sldMk cId="0" sldId="267"/>
            <ac:spMk id="3" creationId="{00000000-0000-0000-0000-000000000000}"/>
          </ac:spMkLst>
        </pc:spChg>
        <pc:graphicFrameChg chg="modGraphic">
          <ac:chgData name="문 진승" userId="4d4d7787-e10c-42c5-ab64-b0d0e0438d64" providerId="ADAL" clId="{DB4B0D55-DDE0-40F6-B946-69DBCD43A701}" dt="2026-10-21T05:20:33.990" v="136" actId="113"/>
          <ac:graphicFrameMkLst>
            <pc:docMk/>
            <pc:sldMk cId="0" sldId="267"/>
            <ac:graphicFrameMk id="13" creationId="{00000000-0000-0000-0000-000000000000}"/>
          </ac:graphicFrameMkLst>
        </pc:graphicFrameChg>
        <pc:picChg chg="mod">
          <ac:chgData name="문 진승" userId="4d4d7787-e10c-42c5-ab64-b0d0e0438d64" providerId="ADAL" clId="{DB4B0D55-DDE0-40F6-B946-69DBCD43A701}" dt="2026-10-21T05:11:44.503" v="64" actId="14100"/>
          <ac:picMkLst>
            <pc:docMk/>
            <pc:sldMk cId="0" sldId="267"/>
            <ac:picMk id="6" creationId="{00000000-0000-0000-0000-000000000000}"/>
          </ac:picMkLst>
        </pc:picChg>
      </pc:sldChg>
      <pc:sldChg chg="modSp mod">
        <pc:chgData name="문 진승" userId="4d4d7787-e10c-42c5-ab64-b0d0e0438d64" providerId="ADAL" clId="{DB4B0D55-DDE0-40F6-B946-69DBCD43A701}" dt="2026-10-21T05:21:28.519" v="137" actId="207"/>
        <pc:sldMkLst>
          <pc:docMk/>
          <pc:sldMk cId="0" sldId="268"/>
        </pc:sldMkLst>
        <pc:graphicFrameChg chg="modGraphic">
          <ac:chgData name="문 진승" userId="4d4d7787-e10c-42c5-ab64-b0d0e0438d64" providerId="ADAL" clId="{DB4B0D55-DDE0-40F6-B946-69DBCD43A701}" dt="2026-10-21T05:21:28.519" v="137" actId="207"/>
          <ac:graphicFrameMkLst>
            <pc:docMk/>
            <pc:sldMk cId="0" sldId="268"/>
            <ac:graphicFrameMk id="14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44:59.569" v="138" actId="207"/>
        <pc:sldMkLst>
          <pc:docMk/>
          <pc:sldMk cId="0" sldId="270"/>
        </pc:sldMkLst>
        <pc:spChg chg="mod">
          <ac:chgData name="문 진승" userId="4d4d7787-e10c-42c5-ab64-b0d0e0438d64" providerId="ADAL" clId="{DB4B0D55-DDE0-40F6-B946-69DBCD43A701}" dt="2026-10-21T05:44:59.569" v="138" actId="207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5:45:12.209" v="139" actId="207"/>
        <pc:sldMkLst>
          <pc:docMk/>
          <pc:sldMk cId="0" sldId="272"/>
        </pc:sldMkLst>
        <pc:spChg chg="mod">
          <ac:chgData name="문 진승" userId="4d4d7787-e10c-42c5-ab64-b0d0e0438d64" providerId="ADAL" clId="{DB4B0D55-DDE0-40F6-B946-69DBCD43A701}" dt="2026-10-21T05:45:12.209" v="139" actId="207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5:45:43.677" v="140" actId="207"/>
        <pc:sldMkLst>
          <pc:docMk/>
          <pc:sldMk cId="0" sldId="282"/>
        </pc:sldMkLst>
        <pc:spChg chg="mod">
          <ac:chgData name="문 진승" userId="4d4d7787-e10c-42c5-ab64-b0d0e0438d64" providerId="ADAL" clId="{DB4B0D55-DDE0-40F6-B946-69DBCD43A701}" dt="2026-10-21T05:45:43.677" v="140" actId="207"/>
          <ac:spMkLst>
            <pc:docMk/>
            <pc:sldMk cId="0" sldId="282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5508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연동 통합본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· 앱 현행 구조 안내 20261012.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연동 통합본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1-1.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연동 통합본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연동 통합본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5장.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회원 정책 기준(2026-10-21) · 앱 현행 구조 안내 2-4. 현행 앱에는 CI 미보유 기존 회원이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연동 요약서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1-2 · 연동 가이드 3장.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3-4 · 회신 요청 답변 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6장 · 연동 가이드 3-1.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회신 요청 답변 4장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계약 별표2(2026-09-21) · 로그인 6.3 · 간편결제 6.2 · 6.4 · 6.7 · 인증 모듈 4.2 · 핏콜라보 회신(storeUserNo · userName 선택, 카드 관리 storeUserNo 삭제).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근거: 앱 현행 구조 안내 반출검토본(20261012) 1-3a · 2-2a · 2-2b · 2-4a(내부 전용). 테이블 · 요청 이름은 메가 내부 개발 기준이며 외부 반출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근거: 앱 현행 구조 안내 반출검토본(20261012) 2-4a · 3-1a · 3-4a · 3-5a(내부 전용). 금액 대조는 현행 결제대행사 검증값 역할을 대신하는 기준 [추정].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UI Flipbook(2026-09-30) 화면 1_1 · 연동 요약서 1-1 · 화면설계서_회원가입/로그인 V1.0 MGC_COM_011.</a:t>
            </a:r>
          </a:p>
          <a:p>
            <a:r>
              <a:t>- iOS는 Apple 버튼을 다른 로그인 버튼과 같은 크기로 노출한다(App Store 심사 지침 4.8).</a:t>
            </a:r>
          </a:p>
          <a:p>
            <a:r>
              <a:t>- 최근 로그인 수단 표시에 앱카드를 포함한다.</a:t>
            </a:r>
          </a:p>
          <a:p>
            <a:r>
              <a:t>- 휴대폰 번호 버튼은 흰 바탕 테두리로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2 · 연동 요약서 1-2.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2 · 연동 가이드 3-1 · 5-5.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3 · 연동 요약서 1-3.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화면설계서_메가오더 화면설계 V0.92 MGC_ORD_025 · 159 · 45 · 홀케이크 · MD 예약 MGC_ORD_132 · 133 · 선물 주문하기 MGC_ORD_112 · 113 · 카드 구매하기.</a:t>
            </a:r>
          </a:p>
          <a:p>
            <a:r>
              <a:t>- 샌드위치 등 픽업 예약은 메가오더 주문하기의 픽업일시 선택(MGC_ORD_159)으로 처리한다(화면설계서 사전예약 정책).</a:t>
            </a:r>
          </a:p>
          <a:p>
            <a:r>
              <a:t>- 메가크루결제는 앱카드와 함께 쓰지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1-2 · 인증 모듈 2.1.2 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4.2 · 핏콜라보 회신(storeUserNo 선택).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4.3 · 7장 · 연동 가이드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1-3 · 인증 모듈 2.1.2 5.1.4 · 5.2.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6장.
메가는 카드사 목록 조회 · 할부 정보 조회 · 카드 목록 · 삭제 API를 쓰지 않는다. 결제대행사 중계 5종은 핏콜라보가 결제대행사로 보낸다.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규격 1.2.8 6.1 · 6.3~6.5.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1.3.6 6.2~6.12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6.1.3 · 간편결제 6.4.3 · 7장.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4장 · 3.2 · 연동 가이드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8장.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9장.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10장.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2-2 · 앱 현행 구조 안내 2-6.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13장.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14장.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3-2 · 3-3.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3-3 · 3-4.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16장.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17장 · 연동 가이드 3-4 ·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18장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3장 · 연동 가이드 2-1 ·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3장 · 연동 가이드 3-2 · 3-4.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4-5 · 연동 가이드 5-5.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3-2.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간편결제 6.7 · 6.8.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1.3.6 · 결제대행사 중계 규격(2025-11-25).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4-1 · 연동 요약서 2장 · 앱 현행 구조 안내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4-1 · 연동 요약서 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1-6.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1-4 · 연동 요약서 1-5 · 인증 모듈 2.1.2 7장.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5-1 · 연동 요약서 4-1.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업무 기준 2026-10-21 · 연동 가이드 4-2.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산출물 재검토 2026-10-20 · 앱 현행 구조 안내 3-7.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1-6 · 산출물 재검토 2026-10-20.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산출물 재검토 2026-10-20.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규격서 4종 · 핏콜라보 회신 산출물 2026-10-08.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규격서 4종 · 앱 현행 구조 안내 20261012 · UI Flipbook · 화면설계서_회원가입/로그인 V1.0(2025-06-10).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연동 통합본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연동 통합본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화면설계서_회원가입/로그인 V1.0(2025-06-10) 휴대폰번호로 시작하기 TO-BE 플로우 · Case 1~9 · 기타 체크 알럿 · 로그인 규격 1.2.8 6.3(인증 결과 조회 응답).</a:t>
            </a:r>
          </a:p>
          <a:p>
            <a:r>
              <a:t>- 판정 1이 같은 CI 기존 계정 로그인이고, 2~6은 신규 가입 판정이다.</a:t>
            </a:r>
          </a:p>
          <a:p>
            <a:r>
              <a:t>- 같은 CI 복수 계정 존재 여부 [확인필요(CJ ONS)].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화면설계서_회원가입/로그인 V1.0 MGC_COM_019(만 14세 미만 가입 시 약관동의 + 보호자 동의) · 정책(1) 회원체계 및 수집정보 · 개인정보 보호법 제22조의2.</a:t>
            </a:r>
          </a:p>
          <a:p>
            <a:r>
              <a:t>- 보호자 본인인증 화면 · 보호자 동의 영역은 현행 화면을 쓰고, 버튼 활성 순서만 맞춘다.</a:t>
            </a:r>
          </a:p>
          <a:p>
            <a:r>
              <a:t>- 보호자 동의 약관 원문 [확인필요(법무팀)].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화면설계서_메가오더 정책 V0.91 · 분할_FO_01_01 메가오더 · 퀵오더(일회용 컵 보증금)(현금영수증 · 메가선불카드 · 주문 상태값 · 취소 정책) · 메가오더 화면설계 V0.92 결제하기 · 홀케이크 · MD 예약 · 선물 주문하기.</a:t>
            </a:r>
          </a:p>
          <a:p>
            <a:r>
              <a:t>- 선불카드 구매에 신용 앱카드를 쓸 때 카드사의 상품권 구매 제한 [확인필요(핏콜라보)].</a:t>
            </a:r>
          </a:p>
          <a:p>
            <a:r>
              <a:t>- 메가선불카드 금액 충전 화면의 앱카드 적용 여부 [확인필요(마케팅1팀)].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 메가오더 「결제하기 버튼 선택 시 체크 로직」 · 함께오더 MGC_ORD_025 V0.4 · 홀케이크 · MD 예약 MGC_ORD_132 · 133 · 선물 주문하기 MGC_ORD_112 · 113 · 카드 구매하기.</a:t>
            </a:r>
          </a:p>
          <a:p>
            <a:r>
              <a:t>- 인증 모듈은 현행 결제 모듈 팝업이 뜨던 자리(주문하기 위)에 띄운다.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FD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 통합본 v0.18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앱카드(핏콜라보) 연동</a:t>
            </a:r>
            <a:endParaRPr lang="ko-KR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결제 · 카드 관리 — 기획 · 개발 · 결제대행사 공통 기준</a:t>
            </a:r>
            <a:endParaRPr lang="ko-K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2026-10-22 · 마케팅1팀 서비스기획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영역마다 정책 → 화면 → API → 흐름 → 예외 순서로 읽습니다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신규 가입 수단(같은 CI면 기존 계정으로 로그인)과 거래번호 2종(인증 transNo · 결제 tid)을 기준으로 동작합니다.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80555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담은 내용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볼 것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3~9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연동이 무엇을 바꾸고 누가 무엇을 만드는지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구조, 구성 요소, 개발 주체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정책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10~22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· 거래번호 · 결제 · 카드 · 개인정보 · 현행 시스템 연결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규칙과 처리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명세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23~30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Flipbook(2026-09-30) 화면 1_1 · 1_2 · 2 · 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요소별 동작과 연동 API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 · API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31~43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연동 방식, 호출값, 결과 코드, API 9종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주체, 파라미터, 키값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5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흐름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44~56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취소 · 카드 관리의 흐름도와 송수신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다이어그램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 순서와 주고받는 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0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57~62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· 만료 · 무응답 · 취소 실패의 처리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코드별 처리, 재호출 기준, 구현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포인트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· 정산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63~66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승인 대행과 결제대행사(OnePG) 등록 · 정산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역할, 거래 식별값, 연동 리스크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범위 · 운영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67~75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매트릭스 · 착수 전 확인 · B.O · 테스트 · 오픈 · 심사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무엇을 만들고 무엇을 확인하나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미결 · 확인 필요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76~80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기준 · 핏콜라보 회신 · CJ ONS 확인 · 법무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언제까지 무엇을 정하나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81~87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간 불일치, 용어, 통합 플로우 · 프로세스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기준과 용어 뜻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87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연동이 무엇을 바꾸고 누가 무엇을 만드는지</a:t>
            </a:r>
            <a:endParaRPr lang="ko-KR" sz="15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  결론과 핵심 수치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  독자별 먼저 볼 장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8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  앱 구조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   화면별 구분과 연동 관계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   구성 요소와 개발 주체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   유스케이스 6개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87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결론과 핵심 수치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API를 부르고, Webview는 거래번호만 다룹니다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 구조는 확정됐고, 착수 전에는 pgType의 CJ ONS 추가와 응답 개인정보 처리를 확인해야 합니다.</a:t>
            </a:r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핵심 수치"/>
          <p:cNvSpPr txBox="1"/>
          <p:nvPr/>
        </p:nvSpPr>
        <p:spPr>
          <a:xfrm>
            <a:off x="777240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9종</a:t>
            </a:r>
            <a:endParaRPr lang="ko-KR" sz="2800" dirty="0"/>
          </a:p>
        </p:txBody>
      </p:sp>
      <p:sp>
        <p:nvSpPr>
          <p:cNvPr id="8" name="수치 설명"/>
          <p:cNvSpPr txBox="1"/>
          <p:nvPr/>
        </p:nvSpPr>
        <p:spPr>
          <a:xfrm>
            <a:off x="777240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메가MGC커피가 부르는 API</a:t>
            </a:r>
          </a:p>
        </p:txBody>
      </p:sp>
      <p:sp>
        <p:nvSpPr>
          <p:cNvPr id="9" name="Shape 6"/>
          <p:cNvSpPr/>
          <p:nvPr/>
        </p:nvSpPr>
        <p:spPr>
          <a:xfrm>
            <a:off x="3367278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핵심 수치"/>
          <p:cNvSpPr txBox="1"/>
          <p:nvPr/>
        </p:nvSpPr>
        <p:spPr>
          <a:xfrm>
            <a:off x="3595878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9곳</a:t>
            </a:r>
            <a:endParaRPr lang="ko-KR" sz="2800" dirty="0"/>
          </a:p>
        </p:txBody>
      </p:sp>
      <p:sp>
        <p:nvSpPr>
          <p:cNvPr id="11" name="수치 설명"/>
          <p:cNvSpPr txBox="1"/>
          <p:nvPr/>
        </p:nvSpPr>
        <p:spPr>
          <a:xfrm>
            <a:off x="3595878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등록하는 카드사 앱</a:t>
            </a:r>
            <a:endParaRPr lang="ko-KR" sz="1200" dirty="0"/>
          </a:p>
        </p:txBody>
      </p:sp>
      <p:sp>
        <p:nvSpPr>
          <p:cNvPr id="12" name="Shape 9"/>
          <p:cNvSpPr/>
          <p:nvPr/>
        </p:nvSpPr>
        <p:spPr>
          <a:xfrm>
            <a:off x="6185916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핵심 수치"/>
          <p:cNvSpPr txBox="1"/>
          <p:nvPr/>
        </p:nvSpPr>
        <p:spPr>
          <a:xfrm>
            <a:off x="6414516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4종</a:t>
            </a:r>
            <a:endParaRPr lang="ko-KR" sz="2800" dirty="0"/>
          </a:p>
        </p:txBody>
      </p:sp>
      <p:sp>
        <p:nvSpPr>
          <p:cNvPr id="14" name="수치 설명"/>
          <p:cNvSpPr txBox="1"/>
          <p:nvPr/>
        </p:nvSpPr>
        <p:spPr>
          <a:xfrm>
            <a:off x="6414516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kern="0" spc="-4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앱카드를 더하는 주문 화면</a:t>
            </a:r>
          </a:p>
        </p:txBody>
      </p:sp>
      <p:sp>
        <p:nvSpPr>
          <p:cNvPr id="15" name="Shape 12"/>
          <p:cNvSpPr/>
          <p:nvPr/>
        </p:nvSpPr>
        <p:spPr>
          <a:xfrm>
            <a:off x="9004554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핵심 수치"/>
          <p:cNvSpPr txBox="1"/>
          <p:nvPr/>
        </p:nvSpPr>
        <p:spPr>
          <a:xfrm>
            <a:off x="9233154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CI만</a:t>
            </a:r>
          </a:p>
        </p:txBody>
      </p:sp>
      <p:sp>
        <p:nvSpPr>
          <p:cNvPr id="17" name="수치 설명"/>
          <p:cNvSpPr txBox="1"/>
          <p:nvPr/>
        </p:nvSpPr>
        <p:spPr>
          <a:xfrm>
            <a:off x="9233154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핏콜라보로 보내는 개인정보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592408"/>
              </p:ext>
            </p:extLst>
          </p:nvPr>
        </p:nvGraphicFramePr>
        <p:xfrm>
          <a:off x="548640" y="3154680"/>
          <a:ext cx="11091672" cy="16459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핏콜라보 API를 호출하고, Webview는 거래번호만 인증 모듈에 넘깁니다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2종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거래번호(transNo)는 로그인 인증, 결제 거래번호(tid)는 결제 승인에 쓰는 별개 값입니다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범위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메가MGC커피는 로그인 버튼 · 결제수단 화면을 만들고, 핏콜라보는 인증 모듈 · 카드관리 페이지를 제공합니다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64207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 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결제대행사 구분값(pgType)에 CJ ONS를 추가해야 승인 등록이 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 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응답의 gender · email · di(계약 제외 항목)는 저장하지 않습니다</a:t>
                      </a:r>
                      <a:endParaRPr lang="en-US" sz="1400" dirty="0">
                        <a:solidFill>
                          <a:srgbClr val="2E241D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87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83480"/>
            <a:ext cx="1109167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983480"/>
            <a:ext cx="11091672" cy="310896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요약 연동 구조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Native → Webview → 메가MGC커피 서버 → 핏콜라보 서버 → 결제대행사 순으로 거래번호와 승인 정보가 오갑니다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1691640" cy="54864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Native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 버튼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5623560"/>
            <a:ext cx="1691640" cy="54864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브릿지 · 인증 모듈 표시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0368" y="5623560"/>
            <a:ext cx="1691640" cy="548640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토큰 보관 · CI로 계정 확인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88936" y="5623560"/>
            <a:ext cx="1691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 서버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 발급 · 승인 대행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47504" y="5623560"/>
            <a:ext cx="1691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 · 정산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367528"/>
            <a:ext cx="6208776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5367528"/>
            <a:ext cx="169164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5367528"/>
            <a:ext cx="169164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41448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359152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열기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700016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617720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958584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76288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API 9종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17151" y="5897880"/>
            <a:ext cx="493777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34855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독자별 먼저 볼 장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개발 3개 영역 · 결제대행사마다 먼저 볼 장이 다릅니다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기획은 정책 · 미결을, 개발은 연동 구조 · 처리 흐름을, 결제대행사는 승인 등록 방식을 먼저 봅니다.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651262"/>
              </p:ext>
            </p:extLst>
          </p:nvPr>
        </p:nvGraphicFramePr>
        <p:xfrm>
          <a:off x="548640" y="1783080"/>
          <a:ext cx="11091672" cy="402894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먼저 볼 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것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기획(마케팅1팀)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정책(10~22) · 화면(23~30)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미결(76~80)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정책 기준 5가지와 화면 요소별 동작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회신 대기 · CJ ONS 확인 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— Native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구조(31~43)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흐름(44~56)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버튼 · 브릿지 페이지 열기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 9곳 등록 · 주소 가로채기 · Android 복귀 포커스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— Webview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화면(23~30)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구조(31~43) ·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예외(57~62)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 · 브릿지 페이지 · 결과 코드 출처 검증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· 본인인증 화면 앱카드 선택, 결제 버튼 잠금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— 메가MGC커피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정책(10~22) · API(31~43)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흐름(44~56) ·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예외(57~62)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API 9종 호출, token(인증 토큰) · reqToken(결제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토큰) 보관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가입(KCP 없이 CI) · 같은 CI 계정 로그인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무응답 · 주문 실패 승인 취소 · 미확인 거래 정리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결제대행사(OnePG)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· 정산(63~66)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예외(57~62)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CJ ONS 추가 뒤 승인 등록을 받는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거래 식별값 연결, 취소 · 정산 경로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 메가MGC커피 서버 담당은 31~62장(API · 처리 흐름 · 예외)을 먼저 봅니다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앱 구조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앱은 Native 화면 3개를 빼면 모두 Webview로 동작합니다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앱은 하이브리드 앱이라 로그인 수단 선택 · 전체메뉴 · 홈만 Native이고, 인증 · 결제 · 카드 관리는 Webview입니다.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2531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5216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인증 모듈은 Webview 위에 뜨고,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 호출은 메가MGC커피 서버만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329184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10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고객 휴대폰 · 메가MGC커피 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783080"/>
            <a:ext cx="20116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10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783080"/>
            <a:ext cx="448056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1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 연동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194560"/>
            <a:ext cx="3291840" cy="9601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</a:t>
            </a:r>
          </a:p>
          <a:p>
            <a:pPr algn="ctr"/>
            <a:r>
              <a:rPr sz="10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홈 · 전체메뉴 · 로그인 수단 선택</a:t>
            </a:r>
          </a:p>
          <a:p>
            <a:pPr algn="ctr"/>
            <a:r>
              <a:rPr sz="10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매장 · 메뉴 선택 · 장바구니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886200"/>
            <a:ext cx="3291840" cy="105156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본인인증 · 약관 동의 · 주문하기 · 결제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주문 결과 · 등록 카드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45920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3310128"/>
            <a:ext cx="786384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Webview 열기</a:t>
            </a:r>
          </a:p>
          <a:p>
            <a:pPr algn="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포커스 전달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291840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46704" y="3401568"/>
            <a:ext cx="768096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앱 기능 요청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2194560"/>
            <a:ext cx="2011680" cy="2743200"/>
          </a:xfrm>
          <a:prstGeom prst="rect">
            <a:avLst/>
          </a:prstGeom>
          <a:solidFill>
            <a:srgbClr val="E6DDD4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회원 · 토큰 관리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주문 처리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요청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14800" y="2670048"/>
            <a:ext cx="50292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800" y="2395728"/>
            <a:ext cx="50292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서버 호출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0" y="4407408"/>
            <a:ext cx="50292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0" y="4133087"/>
            <a:ext cx="50292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서버 호출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8040" y="2194560"/>
            <a:ext cx="214884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현행 결제 승인 · 정산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3886200"/>
            <a:ext cx="214884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dirty="0" err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  <a:endParaRPr sz="1300" b="1" dirty="0">
              <a:solidFill>
                <a:srgbClr val="F53148"/>
              </a:solidFill>
              <a:latin typeface="Malgun Gothic"/>
              <a:ea typeface="Malgun Gothic"/>
              <a:cs typeface="Malgun Gothic"/>
            </a:endParaRPr>
          </a:p>
          <a:p>
            <a:pPr algn="ctr"/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</a:t>
            </a:r>
            <a:endParaRPr sz="1050" b="0" dirty="0">
              <a:solidFill>
                <a:srgbClr val="2E241D"/>
              </a:solidFill>
              <a:latin typeface="Malgun Gothic"/>
              <a:ea typeface="Malgun Gothic"/>
              <a:cs typeface="Malgun Gothic"/>
            </a:endParaRPr>
          </a:p>
          <a:p>
            <a:pPr algn="ctr"/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취소</a:t>
            </a:r>
            <a:endParaRPr sz="1050" b="0" dirty="0">
              <a:solidFill>
                <a:srgbClr val="2E241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921240" y="2194560"/>
            <a:ext cx="1691640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29400" y="2670048"/>
            <a:ext cx="5486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629400" y="2395728"/>
            <a:ext cx="54864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요청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629400" y="4407408"/>
            <a:ext cx="548640" cy="0"/>
          </a:xfrm>
          <a:prstGeom prst="line">
            <a:avLst/>
          </a:prstGeom>
          <a:ln w="15875">
            <a:solidFill>
              <a:srgbClr val="F531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629400" y="4133087"/>
            <a:ext cx="54864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API 호출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8247888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02752" y="3383280"/>
            <a:ext cx="15544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· 정산 정보 전달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26880" y="2670048"/>
            <a:ext cx="59436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326880" y="2395728"/>
            <a:ext cx="5943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26880" y="4407408"/>
            <a:ext cx="594360" cy="0"/>
          </a:xfrm>
          <a:prstGeom prst="line">
            <a:avLst/>
          </a:prstGeom>
          <a:ln w="15875">
            <a:solidFill>
              <a:srgbClr val="F531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326880" y="4133087"/>
            <a:ext cx="5943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인증 · 승인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468880" y="4937760"/>
            <a:ext cx="0" cy="384048"/>
          </a:xfrm>
          <a:prstGeom prst="line">
            <a:avLst/>
          </a:prstGeom>
          <a:ln w="15875">
            <a:solidFill>
              <a:srgbClr val="F531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68880" y="5321808"/>
            <a:ext cx="5779008" cy="0"/>
          </a:xfrm>
          <a:prstGeom prst="line">
            <a:avLst/>
          </a:prstGeom>
          <a:ln w="15875">
            <a:solidFill>
              <a:srgbClr val="F531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247888" y="4937760"/>
            <a:ext cx="0" cy="384048"/>
          </a:xfrm>
          <a:prstGeom prst="line">
            <a:avLst/>
          </a:prstGeom>
          <a:ln w="15875">
            <a:solidFill>
              <a:srgbClr val="F531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926080" y="5358384"/>
            <a:ext cx="49377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9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인증 모듈 호출(Webview → 핏콜라보)</a:t>
            </a:r>
          </a:p>
        </p:txBody>
      </p:sp>
      <p:sp>
        <p:nvSpPr>
          <p:cNvPr id="42" name="흐름 번호 1"/>
          <p:cNvSpPr/>
          <p:nvPr/>
        </p:nvSpPr>
        <p:spPr>
          <a:xfrm>
            <a:off x="1737360" y="340156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43" name="흐름 번호 2"/>
          <p:cNvSpPr/>
          <p:nvPr/>
        </p:nvSpPr>
        <p:spPr>
          <a:xfrm>
            <a:off x="424738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44" name="흐름 번호 3"/>
          <p:cNvSpPr/>
          <p:nvPr/>
        </p:nvSpPr>
        <p:spPr>
          <a:xfrm>
            <a:off x="678484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45" name="흐름 번호 4"/>
          <p:cNvSpPr/>
          <p:nvPr/>
        </p:nvSpPr>
        <p:spPr>
          <a:xfrm>
            <a:off x="3931920" y="536752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6" name="흐름 번호 5"/>
          <p:cNvSpPr/>
          <p:nvPr/>
        </p:nvSpPr>
        <p:spPr>
          <a:xfrm>
            <a:off x="950518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47" name="흐름 번호 6"/>
          <p:cNvSpPr/>
          <p:nvPr/>
        </p:nvSpPr>
        <p:spPr>
          <a:xfrm>
            <a:off x="7955279" y="340156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548640" y="5614416"/>
            <a:ext cx="11091672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※ 1~6은 앱카드 인증 · 결제의 데이터 흐름 순서이며, 번호 없는 선은 현행 결제 흐름입니다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화면별 구분과 연동 관계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버튼 1곳과 Webview 화면 8곳에 앱카드 연동이 들어갑니다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Native 로그인 버튼과 Webview 결제 · 카드 관리 화면에 들어가고,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전체메뉴에는 넣지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840683"/>
              </p:ext>
            </p:extLst>
          </p:nvPr>
        </p:nvGraphicFramePr>
        <p:xfrm>
          <a:off x="548640" y="1783080"/>
          <a:ext cx="11091672" cy="385648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4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1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792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05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연동이 더하는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버튼을 더하고, 버튼이 브릿지 페이지를 엽니다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로그인 수단 5종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· 약관 동의 · 가입 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수단에 앱카드 인증을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미가입 회원만 진입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주문하기(메가오더 · 함께오더)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함께오더 · 픽업 예약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주문하기(퀵오더)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 전용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주문하기(홀케이크 · MD 예약)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구매도 같은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·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결제일 때 이 화면 위에 인증 모듈이 뜹니다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· 등록 </a:t>
                      </a:r>
                      <a:r>
                        <a:rPr lang="en-US" sz="10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</a:t>
                      </a: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실패 · 취소 안내 문구를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 · 실패 · </a:t>
                      </a:r>
                      <a:r>
                        <a:rPr lang="en-US" sz="10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취소별</a:t>
                      </a: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카드 관리(메가퀵결제)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카드관리 페이지로 가는 진입을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전체메뉴 &gt; 결제 아래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연동은 현행 화면에 요소를 더하는 방식이며, 새로 만드는 화면은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브릿지 페이지뿐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구성 요소와 개발 주체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요소 9개 중 </a:t>
            </a:r>
            <a:r>
              <a:rPr lang="ko-KR" altLang="en-US" sz="2400" b="1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5개, </a:t>
            </a:r>
            <a:r>
              <a:rPr lang="ko-KR" altLang="en-US" sz="2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3개를 맡습니다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ONS는 Native · 메가MGC커피 서버를 고치고 브릿지 페이지 · 공통 웹 컴포넌트를 새로 만들며, 핏콜라보는 3개를 제공합니다.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189891"/>
              </p:ext>
            </p:extLst>
          </p:nvPr>
        </p:nvGraphicFramePr>
        <p:xfrm>
          <a:off x="548640" y="1783080"/>
          <a:ext cx="11091671" cy="449275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4276586891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 요소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흐름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주체 · 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선택에 앱카드 버튼을 두고 카드사 앱을 열며,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토큰을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로그인 버튼이 열며, 인증 모듈 호출을 준비합니다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거래번호로 인증 모듈을 띄우고, 결과 코드를 받아 출처를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카드사를 고르고 약관에 동의하면 카드사 앱 인증을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본인 카드를 인증한 뒤 메가MGC커피 앱으로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돌아옵니다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API 호출 · 토큰 보관 · CI 계정 확인 · 주문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처리를 맡습니다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발급 · 인증 결과 제공 · 승인 대행 · 결제대행사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등록을 맡습니다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앱카드를 조회 · 등록 · 삭제하고, 닫으면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메가퀵결제로 돌아옵니다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핏콜라보의 승인 등록을 받고 정산합니다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ONS(OnePG) · 범위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87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유스케이스 6개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기능은 고객용 4가지, 결제 취소 1가지, 서버 주기 작업 1가지입니다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· 로그인과 카드 관리는 핏콜라보 · 카드사 앱과, 결제 · 취소 · 미확인 거래 정리는 결제대행사까지 연결됩니다.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2531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5216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· 상담원의 결제 취소와 메가MGC커피 서버의 미확인 거래 정리도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 범위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55648"/>
            <a:ext cx="173736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누가</a:t>
            </a:r>
            <a:r>
              <a:rPr sz="1050" b="1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쓰나</a:t>
            </a:r>
            <a:endParaRPr sz="1050" b="1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3160" y="1755648"/>
            <a:ext cx="457200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5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기능(메가MGC커피 앱 · 메가MGC커피 서버)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755648"/>
            <a:ext cx="14173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쓰는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755648"/>
            <a:ext cx="9601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1755648"/>
            <a:ext cx="9601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1755648"/>
            <a:ext cx="987552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167127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  <a:endParaRPr sz="100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286000" y="2363724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423160" y="2103120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 가입 · 로그인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앱카드 CI로 가입하고, 같은 CI 계정이 있으면 그 계정으로 로그인합니다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103120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 ① · 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103120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103120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2103120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32320" y="2656332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48640" y="2752343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86000" y="2948939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423160" y="2688335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로그인 뒤 주문으로 복귀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비로그인 주문 중 로그인하면 주문 화면으로 돌아갑니다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688335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— (앱 안 이동)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688335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688335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2688335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32320" y="3241547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48640" y="3337559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286000" y="3534156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423160" y="3273551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 결제(원클릭 · 인증 결제)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등록 카드는 바로 승인, 새 카드는 카드사 앱 인증 뒤 승인합니다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3273551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①~④ · 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273551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3273551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52760" y="3273551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132320" y="3826763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48640" y="3922776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286000" y="4119372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2423160" y="3858768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등록 카드 조회 · 추가 · 삭제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메가퀵결제에서 핏콜라보 카드관리 페이지로 이동합니다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3858768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 관리 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858768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3858768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52760" y="3858768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132320" y="4411980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48640" y="4507992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 · 매장 · 상담원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286000" y="4704588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423160" y="4443983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취소(전체)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취소 요청을 승인 취소 API로 처리합니다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4443983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4443983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4443983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52760" y="4443983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132320" y="4997196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48640" y="5093207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286000" y="5289803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2423160" y="5029199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미확인 거래 정리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응답을 못 받은 거래를 상태 조회로 확정하거나 취소합니다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0" y="5029199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⑥ · 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5029199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2640" y="5029199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52760" y="5029199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5559552"/>
            <a:ext cx="2953512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r"/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●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기능이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연결되는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시스템</a:t>
            </a:r>
            <a:endParaRPr sz="900" b="0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본문"/>
          <p:cNvSpPr txBox="1"/>
          <p:nvPr/>
        </p:nvSpPr>
        <p:spPr>
          <a:xfrm>
            <a:off x="548640" y="5559552"/>
            <a:ext cx="804672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 · 호출 경로는 38장, 기능별 호출 순서는 45~56장(처리 흐름)에서 확인합니다</a:t>
            </a:r>
          </a:p>
        </p:txBody>
      </p:sp>
      <p:sp>
        <p:nvSpPr>
          <p:cNvPr id="6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수단 · 거래번호 · 결제 · 카드 관리 · 개인정보 기준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   앱카드 가입 수단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   앱카드 가입 판정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   만 14세 미만 가입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   거래번호 · 토큰 원칙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   결제 정책 — 판단 · 경로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   결제 정책 — 결과 · 정산 · 취소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   결제 정책 — 주문 화면별 기준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621792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   카드사 9곳 코드 · 앱 등록값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621792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   카드 관리 정책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   개인정보 별표2 대조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87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21792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   현행 시스템 연결 ① 회원 · 로그인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21792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   현행 시스템 연결 ② 주문 · 결제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앱카드 가입 수단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</a:rPr>
              <a:t>앱카드는 신규 가입 수단이며, 같은 CI면 기존 계정으로 로그인합니다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가입의 CI는 KCP 없이 앱카드 인증으로 받고, 같은 CI 계정이 있으면 그 계정으로 로그인합니다.</a:t>
            </a:r>
          </a:p>
        </p:txBody>
      </p:sp>
      <p:graphicFrame>
        <p:nvGraphicFramePr>
          <p:cNvPr id="1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265724"/>
              </p:ext>
            </p:extLst>
          </p:nvPr>
        </p:nvGraphicFramePr>
        <p:xfrm>
          <a:off x="548640" y="2606040"/>
          <a:ext cx="11091672" cy="3119247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구분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가입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계정이 없으면 앱카드 회원으로 가입시키고, KCP 본인인증 없이 앱카드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인증의 CI를 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수정(가입 수단에 앱카드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수단으로 가입한 계정이 있으면 그 계정으로 로그인시킵니다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 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회원이 다른 수단으로 들어와도 같은 CI면 그 계정으로 로그인시킵니다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 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1명(CI 1개)에 로그인 수단 여러 개를 연결하고, 1인 1계정은 CI로 지킵니다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(범위 · 공수 CJ ONS 확인)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수단으로 가입할 때 본인인증 화면에서 앱카드 인증을 고를 수 있게 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수정(인증 선택지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491494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 번호 가입과 같은 판정 순서로 신규 가입을 처리합니다(12장)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 err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수정(앱카드 인증 값 연결)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본인인증 · 동의를 마친 뒤 가입시킵니다(13장)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 err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보호자 동의 화면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b="1" dirty="0" err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755648"/>
            <a:ext cx="4480560" cy="713232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수단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휴대폰 번호 · 간편 로그인 4종 · </a:t>
            </a:r>
            <a:r>
              <a:rPr sz="10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앱카드(신규)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755648"/>
            <a:ext cx="457200" cy="71323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8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1755648"/>
            <a:ext cx="2468880" cy="713232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KCP 없이 앱카드 인증으로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1755648"/>
            <a:ext cx="457200" cy="71323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8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=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755648"/>
            <a:ext cx="3227832" cy="713232"/>
          </a:xfrm>
          <a:prstGeom prst="rect">
            <a:avLst/>
          </a:prstGeom>
          <a:solidFill>
            <a:srgbClr val="E6DDD4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회원 ID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CI 1개에 로그인 수단 여러 개 연결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8144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90829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 · 로그인은 KCP CI 인증을 거치지 않아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인증 수수료가 줄어듭니다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앱카드 가입 판정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가입도 휴대폰 번호 가입과 같은 판정 순서를 거칩니다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앱카드 인증 결과의 ci(연계정보) · phoneNo(휴대폰번호) · birthDate(생년월일)로 현행 가입 판정을 진행합니다.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91128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2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구분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계정이 있음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그 계정으로 로그인시키고, 로그인 수단에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앱카드를 연결합니다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2개 이상이면 계정 선택 화면을 띄웁니다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30일이 지나지 않은 CI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불가 알럿을 띄우고 로그인 수단 선택으로 돌려보냅니다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알럿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휴대폰번호로 적립한 오프라인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오프라인에서 적립한 스탬프를 매칭해 앱카드 회원으로 가입시킵니다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수정(앱카드 인증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 연결)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휴대폰번호가 다른 CI 계정에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번호에 기존 혜택이 있다는 고객센터 안내 알럿을 띄우고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가입시키지 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알럿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 · 만 14세 이상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약관 동의(KCP 본인인증 생략)를 받고 가입 완료 팝업을 띄웁니다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수정(가입 수단에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 · 만 14세 미만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본인인증 · 동의(13장)를 받은 뒤 가입시킵니다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보호자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화면 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인증의 휴대폰번호는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카드사에 등록된 현재 번호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이므로 KCP 인증 번호와 같은 기준으로 판정합니다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87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만 14세 미만 가입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14세 미만은 보호자 본인인증과 동의를 마쳐야 가입합니다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번호 · 간편 로그인 · 앱카드 어느 수단이든 신규 가입이 생기는 지점에서 같은 기준으로 판정합니다.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2" cy="3815842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2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·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나이 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생년월일 8자리로 가입일 기준 만 나이를 계산합니다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민법 제158조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경로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 번호 · 간편 로그인 4종 · 앱카드 · 오프라인 회원 전환의 신규 가입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19세 이상이며, 가입하는 아동과 CI가 달라야 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민법 제4조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인증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보호자는 KCP 휴대폰 본인인증으로 인증합니다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인증은 쓰지 않음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본인인증이 끝나야 </a:t>
                      </a:r>
                      <a:r>
                        <a:rPr lang="en-US" sz="11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동의 체크와 가입 버튼이 켜집니다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보호자 동의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보호자가 필수 약관 · 위치 기반 서비스 · 마케팅(선택)을 항목별로 동의합니다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개인정보 보호법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제22조의2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위치정보법 제25조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아동 정보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동의 전에는 저장하지 않고, 인증 취소 · 실패 때 즉시 파기합니다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정보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· 휴대폰번호 · 동의 일시 · 인증 거래번호만 저장합니다(CI 미저장)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도달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 14세가 되는 날 보호자 정보를 파기합니다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보호자의 동의 철회는 고객센터가 받아 탈퇴로 처리합니다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동의 전 아동 정보는 저장하지 않고, 보호자 본인인증이 끝나야 동의를 받습니다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거래번호 · 토큰 원칙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거래번호는 Webview에 넘기고, 토큰은 메가MGC커피 서버에만 둡니다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원칙은 거래번호는 Webview로, 토큰은 메가MGC커피 서버에만 두는 것이며, 토큰을 URL이나 앱 로그에 남기지 않습니다.</a:t>
            </a:r>
            <a:endParaRPr lang="ko-KR" sz="1300" dirty="0"/>
          </a:p>
        </p:txBody>
      </p:sp>
      <p:graphicFrame>
        <p:nvGraphicFramePr>
          <p:cNvPr id="1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995338"/>
              </p:ext>
            </p:extLst>
          </p:nvPr>
        </p:nvGraphicFramePr>
        <p:xfrm>
          <a:off x="548640" y="1783080"/>
          <a:ext cx="11091672" cy="412521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발급 · 보관하나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Webview에 넘기나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쓰나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(인증 거래번호, 16자)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로그인 ①로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넘깁니다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 모듈 호출, 인증 결과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(32자, 30분 · 1회용)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로그인 ① 응답으로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받아 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②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(결제 거래번호, 20자)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②로 발급받습니다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넘깁니다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모듈 호출, 결제 ③~⑥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reqToken(64자)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② 응답으로 받아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보관합니다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③, 승인 ④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로그인 인증 결과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조회로 받아 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①, 결제 거래번호 발급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②, 카드관리 데이터 적재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storeAuthKey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고정 IP를 쓸 수 없을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때 핏콜라보에서 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API 요청에 함께 보냅니다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3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브릿지 페이지 주소에는 메가MGC커피 내부 참조값(세션 등)만 붙이고, 앱 로그 · 분석 로그에는 토큰 원문을 남기지 않습니다.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87</a:t>
            </a:r>
          </a:p>
        </p:txBody>
      </p:sp>
      <p:sp>
        <p:nvSpPr>
          <p:cNvPr id="1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 — 판단 · 경로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 여부는 핏콜라보 응답 authYN이 최종 판단합니다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결제 거래번호 발급 요청을 받으면 등록 계정 · CI · 원클릭 여부를 확인해 authYN(인증 필요 여부)으로 알려 줍니다.</a:t>
            </a:r>
            <a:endParaRPr lang="ko-KR" sz="1300" dirty="0"/>
          </a:p>
        </p:txBody>
      </p:sp>
      <p:graphicFrame>
        <p:nvGraphicFramePr>
          <p:cNvPr id="1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8264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837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판단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 ②에 payType(카드 구분) · acntId(간편결제 계정 ID) ·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isOneclick(원클릭 여부) · CI를 보냅니다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그 계정의 원클릭 가능 여부를 판단해 authYN=Y(바로 승인) 또는 N(인증 뒤 승인)으로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돌려줍니다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판단 조건(CI 일치 외) [확인필요(핏콜라보)]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경로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 화면 4종(메가오더 · 함께오더 공용, 퀵오더, 홀케이크 · MD 예약, 선물 주문하기)은 결제 경로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1개를 씁니다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화면별 결제 전 체크를 통과한 뒤에만 결제 거래번호 발급 ②를 요청합니다(29장)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메가MGC커피는 일시불만 씁니다(Flipbook 기준)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호출값 installment(할부 개월)는 "00"입니다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목록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앱은 카드사 9곳을 고정 목록으로 보여 주고, 카드사 목록 조회 API는 쓰지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결제는 결제대행사에서 결제 키를 받아 결제 화면을 띄우고 승인합니다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앱카드는 결제 키 없이 핏콜라보 tid(결제 거래번호)로 인증 · 승인 · 취소 · 상태 조회를 모두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처리합니다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 여부는 화면 표시가 아니라 결제 거래번호 발급 응답의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정합니다</a:t>
            </a:r>
          </a:p>
        </p:txBody>
      </p:sp>
      <p:sp>
        <p:nvSpPr>
          <p:cNvPr id="1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 — 결과 · 정산 · 취소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결과를 따로 보내지 않고 메가MGC커피 서버가 조회해 확정합니다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묻고 응답으로 받는 단방향 구조라서, 메가MGC커피는 결과 수신 창구를 만들지 않습니다.</a:t>
            </a:r>
            <a:endParaRPr lang="ko-KR" sz="1300" dirty="0"/>
          </a:p>
        </p:txBody>
      </p:sp>
      <p:graphicFrame>
        <p:nvGraphicFramePr>
          <p:cNvPr id="1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007199"/>
              </p:ext>
            </p:extLst>
          </p:nvPr>
        </p:nvGraphicFramePr>
        <p:xfrm>
          <a:off x="548640" y="1783080"/>
          <a:ext cx="11091672" cy="29514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전달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승인 결과를 승인 요청의 응답에 담아 줍니다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메가MGC커피 서버로 결과를 따로 보내는 통지는 없습니다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승인을 대행한 뒤 결제대행사에 승인 · 정산 정보를 등록합니다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대금 정산은 현행 결제대행사 기준을 그대로 따릅니다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전체 취소만 요청하고, 부분 취소는 하지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취소 경로와 예약 미수령 폐기 기준은 17장을 따르며, 취소 기간 제한은 없습니다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결제의 확인 방식은 밀어서 결제로 통일합니다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 결제에도 생체인증 · 비밀번호를 걸지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자동 등록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앱카드로 로그인 인증을 하면 그 카드가 결제 계정으로 자동 등록돼 첫 결제부터 원클릭이 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이 자동 등록에 대한 고객 </a:t>
                      </a:r>
                      <a:r>
                        <a:rPr lang="en-US" sz="140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</a:t>
                      </a: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결과 수신 창구를 만들지 않고, 응답이 없으면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조회로 확정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카드사 9곳 코드 · 앱 등록값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Native는 카드사 9곳의 앱 이름을 미리 등록해야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코드는 결제 요청에 쓰고, 패키지명과 스킴은 Native가 카드사 앱을 찾아 열 때 씁니다.</a:t>
            </a:r>
            <a:endParaRPr lang="ko-KR" sz="1300" dirty="0"/>
          </a:p>
        </p:txBody>
      </p:sp>
      <p:graphicFrame>
        <p:nvGraphicFramePr>
          <p:cNvPr id="1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97827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코드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패키지명(queries)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스킴(LSApplicationQueriesSchemes)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NH농협카드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1011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nh.smart.nhallonepay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nhallonepayansimclick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KB국민카드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2004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com.kbcard.cxh.appcard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kb-simplepay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com.wooricard.smartapp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com.wooricard.wcard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BC카드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2050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kvp.jjy.MispAndroid320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ispmobile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롯데카드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2055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com.lcacApp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lotteappcard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삼성카드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2066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net.ib.android.smcard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monimo.simplepay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현대카드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2077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com.hyundaicard.appcard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hyundaicardappcard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2081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com.hanaskcard.paycla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cloudpay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신한카드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2088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com.shcard.smartpay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shinhan-sr-ansimclick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57881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로그인 규격 1.2.8 6.2.5의 목록은 이전 버전이므로 쓰지 않습니다.</a:t>
            </a:r>
            <a:endParaRPr lang="ko-KR" sz="1050" dirty="0"/>
          </a:p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카드사 코드 · 패키지명 · 스킴이 바뀌면 핏콜라보 공지를 받아 CJ ONS가 고정 목록과 Native 등록값을 고쳐 앱을 배포합니다 [확인필요(핏콜라보): 공지 방식].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87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카드 관리 정책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조회 · 등록 · 삭제는 </a:t>
            </a:r>
            <a:r>
              <a:rPr lang="ko-KR" altLang="en-US" sz="2400" b="1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카드관리 페이지가 맡습니다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메가퀵결제 화면의 진입과 데이터 적재 호출만 만들고, 앱카드 조회 · 등록 · 삭제 화면은 핏콜라보가 제공합니다.</a:t>
            </a:r>
            <a:endParaRPr lang="ko-KR" sz="1300" dirty="0"/>
          </a:p>
        </p:txBody>
      </p:sp>
      <p:graphicFrame>
        <p:nvGraphicFramePr>
          <p:cNvPr id="1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4342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2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카드관리 페이지가 하는 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개발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메가퀵결제 화면에서 앱카드 관리를 누르면, 메가MGC커피 서버가 데이터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적재(insSessionData.mv)로 sessionKey(세션 키)를 받고 Webview가 카드관리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페이지로 이동합니다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버튼, 데이터 적재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CI로 등록된 앱카드 계정 목록을 보여 줍니다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등록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카드사를 고르면 인증 모듈 → 카드사 앱 인증으로 등록합니다(앱카드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중 새 카드 인증 때도 자동 등록)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삭제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고른 앱카드 계정을 삭제합니다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닫기를 누르면 redirectUrl(복귀 주소)로 지정한 메가퀵결제 화면으로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돌아옵니다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redirectUrl 지정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복귀 포커스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앱에서 돌아올 때 nativeFocusHandler를 카드관리 페이지가 받아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결제와 같은 Native 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없는 기능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이름 변경 · 대표 카드 지정 · 약관 재표시 · 해지 [확인필요(법무팀): 해지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방법]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9109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91794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메가퀵결제 화면에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더하고, 카드 관리 화면은 개발하지 않습니다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개인정보 별표2 대조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개인정보는 CI만 위탁하고, 계약 외 응답 항목은 저장하지 않습니다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결제 API · 카드 관리 API에 회원번호 · 주문자 이름을 보내지 않고, 고객 식별은 CI로만 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413644"/>
              </p:ext>
            </p:extLst>
          </p:nvPr>
        </p:nvGraphicFramePr>
        <p:xfrm>
          <a:off x="548640" y="1783080"/>
          <a:ext cx="11091672" cy="285064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방향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 항목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적용 · 규격 응답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95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(처리위탁)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CI만 위탁합니다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CI를 저장하지 않고 즉시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파기합니다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API · 결제 인증 모듈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카드 관리 API에 회원번호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주문자 이름을 보내지 않습니다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식별은 ci로만 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계약과 같습니다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5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(제3자 </a:t>
                      </a:r>
                      <a:r>
                        <a:rPr lang="en-US" sz="13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</a:t>
                      </a: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 · 성명 · 휴대폰번호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생년(4자리) · 내외국인을 받습니다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성별 · 이메일 · 주소는 DX팀 합의로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뺐습니다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결과 조회 ② 응답에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gender(필수)와 email(선택)이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들어옵니다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birthDate(생년월일) 8자리는 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14세 판정에만 쓰고, 생년 4자리만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저장합니다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 · email · di를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저장하지 않습니다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610819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603504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응답의 gender · email 처리 기준은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 확인 뒤 확정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87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71466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871466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개인정보</a:t>
            </a:r>
            <a:r>
              <a:rPr sz="1100" b="1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1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흐름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메가MGC커피는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CI만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위탁하고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핏콜라보가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돌려주는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5항목만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저장합니다</a:t>
            </a:r>
            <a:endParaRPr sz="950" b="0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3232" y="5328666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회원 CI 보유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9368" y="5328666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CI로 인증 · 즉시 파기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5504" y="5328666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5항목 저장 · gender · email 미저장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40024" y="5630418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185160" y="5237226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위탁: CI만</a:t>
            </a:r>
          </a:p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회원번호 · 이름 미전달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76160" y="5630418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21296" y="5237226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제공: CI · 성명 · 휴대폰</a:t>
            </a:r>
          </a:p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생년 · 내외국인</a:t>
            </a:r>
          </a:p>
        </p:txBody>
      </p:sp>
      <p:sp>
        <p:nvSpPr>
          <p:cNvPr id="2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현행 시스템 연결 ① 회원 ·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로그인 요청 · 회원 테이블에 앱카드 값을 더해야 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신규 가입 수단이므로, 현행 로그인 요청과 회원 테이블에 앱카드 계정 유형을 더하고 같은 CI 계정 로그인을 허용합니다.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91128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메가MGC커피 시스템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 기준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요청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고유값 · 계정 유형을 로그인 요청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(/api/login/social)으로 보내고 3종 분기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유형에 앱카드 추가(계정 고유값은 CI)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있으면 그 계정으로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테이블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회원(APP_USER)마다 로그인유형코드 1개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와 CI(암호화)를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1명에 로그인 수단 여러 개 연결(구조 개선)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기존 회원의 로그인유형코드는 그대로 둠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 미보유 회원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 없는 기존 회원은 재로그인 때 1회 수집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(요구사항 FO_004 · 005)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앱에 CI 없는 기존 회원이 없어 중복 계정이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재가입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30일이 지나야 재가입(새 회원ID)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신규 가입도 CI로 같은 제한 적용(12장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2)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유지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토큰은 만료 없이 유지(FO_005),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갱신 요청 /api/common/alive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토큰으로 로그인 유지(핏콜라보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인증 API 미사용)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연결 기능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certificationComplete(토큰 전달)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closeWindow · reqHomeFromOrd · refreshApi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reqSendToken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브릿지 페이지 · 주문 결과에서 그대로 재사용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생체인증 requestAuth · hasBio는 안 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 유형 값과 로그인유형코드 처리는 CJ ONS가 현행 구조를 보고 확정합니다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87</a:t>
            </a:r>
          </a:p>
        </p:txBody>
      </p:sp>
      <p:sp>
        <p:nvSpPr>
          <p:cNvPr id="2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현행 시스템 연결 ② 주문 · 결제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주문 결제 데이터에 앱카드 거래값을 저장할 자리를 정해야 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결제는 현행 결제대행사 검증값이 없고 거래값이 늘어나므로, 저장 위치와 금액 대조 기준을 함께 정합니다.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28026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메가MGC커피 시스템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 기준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54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결제 데이터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결제(APP_ORD_DTL): 결제 유형 3종,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코드, 승인 · 취소 번호, 거래번호 1칸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유형 · 결제수단 코드에 앱카드 추가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 · approvalDate는 승인번호 · 일시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tid와 pgTno 두 값의 저장 위치 결정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결제 설정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그룹 A 메가퀵결제 · B 신용카드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간편결제, 다음 주문 결제수단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그룹 값 추가(CJ ONS 확인)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고른 앱카드 계정은 현행대로 다음 주문에 기억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설정 A 비밀번호 · B 생체인증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밀어서 결제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앱카드는 설정과 관계없이 밀어서 결제로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확인(생체인증 · 비밀번호 미적용)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검증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결제대행사는 검증값(가맹점 ID + 금액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주문번호 + 꼬리값)으로 위변조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앱카드는 검증값이 없어 결제 ② · 승인 ④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amount를 메가MGC커피 서버 주문 금액과 대조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[추정]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복합 결제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 · 교환권 · 금액권 · 선불카드 · 멤버십을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쓰고 결제수단 선택 순서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amount(결제 금액)는 차감 후 남은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금액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전체 취소 때 결제수단별 취소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(CJ ONS · 마케팅1팀)]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화면에서 받은 금액이 아니라 메가MGC커피 서버의 주문 금액으로 결제 · 승인 금액을 대조합니다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87</a:t>
            </a:r>
          </a:p>
        </p:txBody>
      </p:sp>
      <p:sp>
        <p:nvSpPr>
          <p:cNvPr id="2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Flipbook(2026-09-30) 화면 1_1 · 1_2 · 2 · 3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   화면 1_1 → 1_2 로그인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   화면 2 결제수단 목록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   화면 2 밀어서 결제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   화면 3 주문서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   주문 화면 4종 적용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   결제 전 체크 · 완료 이동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   주문 결과 상태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87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1_1 → 1_2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앱카드 버튼을 누르면 핏콜라보 인증 모듈이 뜹니다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화면 1_1의 버튼을 만들고, 화면 1_2 인증 모듈은 핏콜라보가 제공하므로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메가MGC커피가 개발하지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pic>
        <p:nvPicPr>
          <p:cNvPr id="6" name="Image 0" descr="로그인 수단 선택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762308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762308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128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1_1 로그인(메가MGC커피)</a:t>
            </a:r>
            <a:endParaRPr lang="ko-KR" sz="1200" dirty="0"/>
          </a:p>
        </p:txBody>
      </p:sp>
      <p:pic>
        <p:nvPicPr>
          <p:cNvPr id="9" name="Image 1" descr="앱카드 인증 모듈 카드사 선택 화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0988" y="1783080"/>
            <a:ext cx="3817951" cy="39319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630988" y="1783080"/>
            <a:ext cx="3817951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화면 캡션"/>
          <p:cNvSpPr txBox="1"/>
          <p:nvPr/>
        </p:nvSpPr>
        <p:spPr>
          <a:xfrm>
            <a:off x="2448108" y="5989319"/>
            <a:ext cx="4183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1_2 인증 모듈(핏콜라보)</a:t>
            </a:r>
            <a:endParaRPr lang="ko-KR" sz="1200" dirty="0"/>
          </a:p>
        </p:txBody>
      </p:sp>
      <p:graphicFrame>
        <p:nvGraphicFramePr>
          <p:cNvPr id="2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783080"/>
          <a:ext cx="4828032" cy="398439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63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1_1 · 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계속하기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버튼이 브릿지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페이지를 열고, 페이지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안의 공통 웹 컴포넌트가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띄웁니다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72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1_2 · 1, 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 영역 · 닫기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모듈이 0003(취소)을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보내면, 공통 웹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컴포넌트가 인증 모듈과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페이지를 닫고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선택으로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돌아갑니다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4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1_2 · 3~6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이용안내 · 카드사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 · 약관 동의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모듈이 처리하므로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개발은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9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이후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이동 ·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카드사 앱 주소를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가로채 열고, Android는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때 포커스를 전달합니다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/ 87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2 결제수단 목록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바텀시트는 앱카드 계정 → 카드사 선택 → 다른 결제수단 순서입니다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퀵오더 바텀시트는 고객의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계정을 먼저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보여 주고, 계정이 없으면 카드사 선택 칸부터 보여 줍니다.</a:t>
            </a:r>
            <a:endParaRPr lang="ko-KR" sz="1300" dirty="0"/>
          </a:p>
        </p:txBody>
      </p:sp>
      <p:pic>
        <p:nvPicPr>
          <p:cNvPr id="6" name="Image 0" descr="퀵오더 빠른결제 바텀시트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762308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762308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128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1200" dirty="0"/>
          </a:p>
        </p:txBody>
      </p:sp>
      <p:pic>
        <p:nvPicPr>
          <p:cNvPr id="9" name="Image 1" descr="내가 쓰는 앱카드 선택 드롭다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5268" y="1783080"/>
            <a:ext cx="1763912" cy="39319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585268" y="1783080"/>
            <a:ext cx="1763912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화면 캡션"/>
          <p:cNvSpPr txBox="1"/>
          <p:nvPr/>
        </p:nvSpPr>
        <p:spPr>
          <a:xfrm>
            <a:off x="2402388" y="5989319"/>
            <a:ext cx="2129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선택 드롭다운</a:t>
            </a:r>
            <a:endParaRPr lang="ko-KR" sz="1200" dirty="0"/>
          </a:p>
        </p:txBody>
      </p:sp>
      <p:graphicFrame>
        <p:nvGraphicFramePr>
          <p:cNvPr id="2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783080"/>
          <a:ext cx="6885432" cy="3816729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5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정의와 연동 처리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36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계정이 있으면 계정 목록 &gt; 카드사 선택 &gt; 변경하기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순서입니다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계정은 최근 사용 순이고, 처음 진입하면 첫 계정이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선택됩니다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진입 때 계정 목록 조회 ①을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부릅니다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빠른결제 계정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이미지 · 카드사명 · 카드명 · 마스킹 번호를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보여 주고, 계정이 없으면 숨깁니다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 · 1b-1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 선택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누르면 카드사 9곳 드롭다운이 위로 펼쳐집니다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드롭다운 밖을 누르면 닫힙니다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1b-2 · 1c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선택 · 선택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고른 카드사 코드로 결제하면 인증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결제(payType 1)가 됩니다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9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변경하기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누르면 화면 3 주문서로 이동합니다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/ 87</a:t>
            </a:r>
          </a:p>
        </p:txBody>
      </p:sp>
      <p:sp>
        <p:nvSpPr>
          <p:cNvPr id="2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2 밀어서 결제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밀어서 결제를 끝까지 밀면 메가MGC커피 서버가 결제 거래번호를 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버튼은 고객이 슬라이더를 끝(value 100)까지 밀었을 때만 결제를 시작하고, 결과가 나올 때까지 잠깁니다.</a:t>
            </a:r>
            <a:endParaRPr lang="ko-KR" sz="1300" dirty="0"/>
          </a:p>
        </p:txBody>
      </p:sp>
      <p:graphicFrame>
        <p:nvGraphicFramePr>
          <p:cNvPr id="2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1" cy="36515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보는 흐름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처리하는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드래그 완료 → 결제 진행 중 → 주문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②(requestTid.mv)를 부릅니다(payType 0)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authYN=Y이면 바로 승인 ④(appcardPayment.mv)를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부릅니다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드래그 완료 → 카드사 인증 → 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중 → 주문 완료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 ②를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부릅니다(payType 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인증 뒤 결제 인증 결과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③(reqAuthDataPay.mv) · 승인 ④로 이어집니다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상태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진행 중 문구를 보여 줍니다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 시점부터 인증 모듈 표시 또는 승인 응답까지 버튼을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잠급니다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input type="range" 슬라이더이며, thumb가 value 100에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닿으면 결제를 시작합니다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버튼을 잠그지 않으면 연속 실행으로 결제가 두 번 진행된 사례가 다른 가맹점에 있었습니다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/ 87</a:t>
            </a:r>
          </a:p>
        </p:txBody>
      </p:sp>
      <p:sp>
        <p:nvSpPr>
          <p:cNvPr id="24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3 주문서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주문서는 앱카드 계정을 메가퀵결제 계정보다 앞에 보여 줍니다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 결제수단은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메가퀵결제 계정, 카드사 선택, 메가퀵결제 등록 순서로 놓입니다.</a:t>
            </a:r>
            <a:endParaRPr lang="ko-KR" sz="1300" dirty="0"/>
          </a:p>
        </p:txBody>
      </p:sp>
      <p:pic>
        <p:nvPicPr>
          <p:cNvPr id="6" name="Image 0" descr="주문하기 화면 결제수단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672283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672283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0380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주문서</a:t>
            </a:r>
            <a:endParaRPr lang="ko-KR" sz="1200" dirty="0"/>
          </a:p>
        </p:txBody>
      </p:sp>
      <p:graphicFrame>
        <p:nvGraphicFramePr>
          <p:cNvPr id="2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0" y="1783080"/>
          <a:ext cx="8714232" cy="2887469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정의와 연동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30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목록(메가퀵결제)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가장 왼쪽 카드가 선택된 채로 진입하고, 드래그해도 선택이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유지됩니다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순서: 앱카드 계정 → 메가퀵결제 계정 → 카드사 선택 → 메가퀵결제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등록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2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빠른결제 계정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2와 같은 계정 목록 조회 결과를 함께 씁니다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2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계정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결제대행사로 등록한 기존 간편결제라 앱카드 연동 범위가 아닙니다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2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1c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2와 같지만, 버튼 아래 공간이 있어 드롭다운이 아래로 펼쳐집니다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2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결제하기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2 밀어서 결제와 같은 결제 요청을 보냅니다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본문"/>
          <p:cNvSpPr txBox="1"/>
          <p:nvPr/>
        </p:nvSpPr>
        <p:spPr>
          <a:xfrm>
            <a:off x="2926080" y="5440679"/>
            <a:ext cx="8714232" cy="383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결제수단을 바꿀 때 메가MGC커피는 바텀시트 또는 주문서 상태를 유지하고 결제수단만 바꿉니다.</a:t>
            </a:r>
            <a:endParaRPr lang="ko-KR" sz="1050" dirty="0"/>
          </a:p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화면 3 카드 표기는 앱카드 퀵결제, 화면 2 정의는 앱카드 빠른결제 계정이라 노출 명칭을 맞춰야 합니다 [확인필요(마케팅1팀)].</a:t>
            </a:r>
            <a:endParaRPr lang="ko-KR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/ 87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주문 화면 4종 적용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화면 4종은 결제수단 목록에 앱카드를 더합니다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주문 화면은 같은 결제 경로를 쓰고, 화면마다 결제수단 목록과 결제 확인 위치만 맞춥니다.</a:t>
            </a:r>
            <a:endParaRPr lang="ko-KR" sz="1300" dirty="0"/>
          </a:p>
        </p:txBody>
      </p:sp>
      <p:graphicFrame>
        <p:nvGraphicFramePr>
          <p:cNvPr id="2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048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유형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결제수단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팝업(MGC_ORD_025)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픽업 예약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주문(MGC_ORD_159)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· 신용카드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· 메가크루결제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앱카드를 더합니다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함께오더는 장바구니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위에 같은 팝업을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띄웁니다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바텀시트(MGC_ORD_45)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· 신용카드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· 메가크루결제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저장된 결제수단에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계정을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표시합니다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필수값입니다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홀케이크 · MD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주문하기(MGC_ORD_132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133)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· 신용카드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앱카드를 더합니다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전 개인정보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제3자 제공 동의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선물하기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구매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주문하기(MGC_ORD_112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113)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· 신용카드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앱카드를 더합니다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구매는 선물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주문하기를 그대로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씁니다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22427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15112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주문 화면 모두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밀어서 결제로 확인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결제 경로는 하나입니다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/ 87</a:t>
            </a:r>
          </a:p>
        </p:txBody>
      </p:sp>
      <p:sp>
        <p:nvSpPr>
          <p:cNvPr id="3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주문 결과 상태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화면은 앱카드 결제의 실패 · 취소 안내를 더 보여 줍니다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상태는 현행과 같고, 앱카드 결제에서는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· 취소 안내 문구와 승인 식별값 보관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더해집니다.</a:t>
            </a:r>
            <a:endParaRPr lang="ko-KR" sz="1300" dirty="0"/>
          </a:p>
        </p:txBody>
      </p:sp>
      <p:graphicFrame>
        <p:nvGraphicFramePr>
          <p:cNvPr id="2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489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 상태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앱카드에서 메가MGC커피가 처리하는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승인 뒤 매장에 주문이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전달됩니다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주문번호 · tid(결제 거래번호)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approvalNo(승인번호) · pgTno(결제대행사 거래번호)를 함께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실패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인증이나 승인이 실패했습니다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 화면이 실패 안내 문구를 보여 줍니다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· 매장 · 에이전트 자동 취소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 결제를 취소합니다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승인 취소 ⑤를 부르고, 주문 결과 화면이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안내를 보여 줍니다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중 ~ 픽업 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매장이 제조를 진행합니다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앱카드와 관계없이 현행 그대로입니다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71855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64540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상태는 늘지 않고, 실패 · 취소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 문구와 승인 식별값 보관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더해집니다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85564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4385564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결과 상태 흐름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앱카드 결제도 현행 상태를 그대로 쓰고, 취소는 승인 취소 ⑤로 처리합니다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842764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실패하면 결제 실패 안내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21024" y="4842764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주문번호 · tid · approvalNo 보관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28816" y="4842764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준비 중 ~ 픽업 완료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현행 그대로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36608" y="4842764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주문 취소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취소 ⑤ · 취소 안내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788920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696712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604504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49640" y="4934203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취소 요청 시</a:t>
            </a:r>
          </a:p>
        </p:txBody>
      </p:sp>
      <p:sp>
        <p:nvSpPr>
          <p:cNvPr id="3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연동 방식, 호출값, 결과 코드, API 9종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   인증 모듈 연동 방식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   공통 웹 컴포넌트 7단계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   로그인 인증 모듈 호출값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   결제 인증 모듈 호출값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7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   콜백과 결과 코드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   카드사 앱 이동 · 복귀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   핏콜라보 API 9종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21792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   로그인 API 키값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21792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   결제 API 키값 ①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217920" y="5093207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   transNo와 tid 구분</a:t>
            </a:r>
          </a:p>
        </p:txBody>
      </p:sp>
      <p:sp>
        <p:nvSpPr>
          <p:cNvPr id="15" name="간지 목록"/>
          <p:cNvSpPr txBox="1"/>
          <p:nvPr/>
        </p:nvSpPr>
        <p:spPr>
          <a:xfrm>
            <a:off x="621792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   통신 규칙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/ 87</a:t>
            </a:r>
          </a:p>
        </p:txBody>
      </p:sp>
      <p:sp>
        <p:nvSpPr>
          <p:cNvPr id="17" name="간지 목록"/>
          <p:cNvSpPr txBox="1"/>
          <p:nvPr/>
        </p:nvSpPr>
        <p:spPr>
          <a:xfrm>
            <a:off x="621792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   결제 API 키값 ②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인증 모듈 연동 방식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인증 모듈을 공통 웹 컴포넌트로 띄우는 방식을 씁니다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본인인증 · 로그인 모두 Webview에서 같은 공통 웹 컴포넌트로 인증 모듈을 띄우므로 Native 작업이 가장 적습니다.</a:t>
            </a:r>
            <a:endParaRPr lang="ko-KR" sz="1300" dirty="0"/>
          </a:p>
        </p:txBody>
      </p:sp>
      <p:graphicFrame>
        <p:nvGraphicFramePr>
          <p:cNvPr id="2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276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2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방식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요청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컴포넌트가 메가MGC커피 서버에 거래번호를 요청합니다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transNo(인증 거래번호) · tid(결제 거래번호)만 내려주고 토큰은 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표시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호출한 화면 위에 object/iframe으로 띄우고, 주소의 #/ 뒤에 호출값을 붙입니다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바텀시트 · 주문서는 그대로 남고, 같은 화면에 인증 모듈을 두 번 만들지 않습니다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수신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모듈이 postMessage로 resultCode(결과 코드)를 보냅니다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주소에서 온 결과만 처리하고, 리스너는 띄울 때 등록 · 닫을 때 해제합니다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확정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- 0000이면 메가MGC커피 서버가 인증 결과 조회 ② 또는 결제 인증 결과 조회 ③ · 승인 ④로 확정합니다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- 0002 · 0003이면 인증 모듈을 닫고 원래 화면으로 돌아갑니다(로그인은 로그인 수단 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Android: Native가 onResume에서 nativeFocusHandler(true)를 1회 부르면 컴포넌트가 인증 모듈에 전달합니다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iOS: 인증 모듈이 포커스 변화를 스스로 감지하므로 Native 처리가 없습니다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작업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버튼으로 브릿지 페이지 열기, 카드사 앱 주소 가로채기 · 실행(없으면 스토어)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 복귀 알림만 하고, 인증 처리 로직은 Native에 두지 않습니다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6860661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/ 87</a:t>
            </a:r>
          </a:p>
        </p:txBody>
      </p:sp>
      <p:sp>
        <p:nvSpPr>
          <p:cNvPr id="29" name="도식 제목"/>
          <p:cNvSpPr txBox="1"/>
          <p:nvPr/>
        </p:nvSpPr>
        <p:spPr>
          <a:xfrm>
            <a:off x="548640" y="5169408"/>
            <a:ext cx="54864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공통 웹 컴포넌트 처리 순서</a:t>
            </a:r>
          </a:p>
        </p:txBody>
      </p:sp>
      <p:sp>
        <p:nvSpPr>
          <p:cNvPr id="30" name="도식 상자"/>
          <p:cNvSpPr/>
          <p:nvPr/>
        </p:nvSpPr>
        <p:spPr>
          <a:xfrm>
            <a:off x="548640" y="5425440"/>
            <a:ext cx="1658112" cy="54864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인증이 필요한 화면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· 본인인증 · 로그인</a:t>
            </a:r>
          </a:p>
        </p:txBody>
      </p:sp>
      <p:cxnSp>
        <p:nvCxnSpPr>
          <p:cNvPr id="31" name="도식 화살표"/>
          <p:cNvCxnSpPr/>
          <p:nvPr/>
        </p:nvCxnSpPr>
        <p:spPr>
          <a:xfrm>
            <a:off x="2225040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도식 상자"/>
          <p:cNvSpPr/>
          <p:nvPr/>
        </p:nvSpPr>
        <p:spPr>
          <a:xfrm>
            <a:off x="2435352" y="5425440"/>
            <a:ext cx="1658112" cy="54864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거래번호 요청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메가MGC커피 서버 경유</a:t>
            </a:r>
          </a:p>
        </p:txBody>
      </p:sp>
      <p:cxnSp>
        <p:nvCxnSpPr>
          <p:cNvPr id="33" name="도식 화살표"/>
          <p:cNvCxnSpPr/>
          <p:nvPr/>
        </p:nvCxnSpPr>
        <p:spPr>
          <a:xfrm>
            <a:off x="4111751" y="5699760"/>
            <a:ext cx="192025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도식 상자"/>
          <p:cNvSpPr/>
          <p:nvPr/>
        </p:nvSpPr>
        <p:spPr>
          <a:xfrm>
            <a:off x="4322064" y="5425440"/>
            <a:ext cx="16581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#/ 뒤 호출값, 원래 화면 유지</a:t>
            </a:r>
          </a:p>
        </p:txBody>
      </p:sp>
      <p:cxnSp>
        <p:nvCxnSpPr>
          <p:cNvPr id="35" name="도식 화살표"/>
          <p:cNvCxnSpPr/>
          <p:nvPr/>
        </p:nvCxnSpPr>
        <p:spPr>
          <a:xfrm>
            <a:off x="5998464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도식 상자"/>
          <p:cNvSpPr/>
          <p:nvPr/>
        </p:nvSpPr>
        <p:spPr>
          <a:xfrm>
            <a:off x="6208776" y="5425440"/>
            <a:ext cx="16581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Android 포커스 · iOS 자동</a:t>
            </a:r>
          </a:p>
        </p:txBody>
      </p:sp>
      <p:cxnSp>
        <p:nvCxnSpPr>
          <p:cNvPr id="37" name="도식 화살표"/>
          <p:cNvCxnSpPr/>
          <p:nvPr/>
        </p:nvCxnSpPr>
        <p:spPr>
          <a:xfrm>
            <a:off x="7885176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도식 상자"/>
          <p:cNvSpPr/>
          <p:nvPr/>
        </p:nvSpPr>
        <p:spPr>
          <a:xfrm>
            <a:off x="8095488" y="5425440"/>
            <a:ext cx="16581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 수신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postMessage · 출처 검증</a:t>
            </a:r>
          </a:p>
        </p:txBody>
      </p:sp>
      <p:cxnSp>
        <p:nvCxnSpPr>
          <p:cNvPr id="39" name="도식 화살표"/>
          <p:cNvCxnSpPr/>
          <p:nvPr/>
        </p:nvCxnSpPr>
        <p:spPr>
          <a:xfrm>
            <a:off x="9771888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도식 상자"/>
          <p:cNvSpPr/>
          <p:nvPr/>
        </p:nvSpPr>
        <p:spPr>
          <a:xfrm>
            <a:off x="9982200" y="5425440"/>
            <a:ext cx="1658112" cy="54864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서버 확정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0000 → 조회 · 승인</a:t>
            </a:r>
          </a:p>
        </p:txBody>
      </p:sp>
      <p:sp>
        <p:nvSpPr>
          <p:cNvPr id="41" name="본문"/>
          <p:cNvSpPr txBox="1"/>
          <p:nvPr/>
        </p:nvSpPr>
        <p:spPr>
          <a:xfrm>
            <a:off x="548640" y="6028944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0002(실패) · 0003(취소)이면 인증 모듈을 닫고 원래 화면으로 돌아가며, 0000일 때만 메가MGC커피 서버가 확정합니다</a:t>
            </a:r>
          </a:p>
        </p:txBody>
      </p:sp>
      <p:sp>
        <p:nvSpPr>
          <p:cNvPr id="4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공통 웹 컴포넌트 7단계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7단계로 인증 모듈을 띄우고 결과를 넘깁니다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거래번호 요청부터 결과 전달까지 맡고,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확정은 언제나 메가MGC커피 서버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합니다.</a:t>
            </a:r>
            <a:endParaRPr lang="ko-KR" sz="1300" dirty="0"/>
          </a:p>
        </p:txBody>
      </p:sp>
      <p:graphicFrame>
        <p:nvGraphicFramePr>
          <p:cNvPr id="2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37119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주체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0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→ 메가MGC커피 서버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필요하면 거래번호를 요청하고, 메가MGC커피 서버는 transNo(로그인) 또는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tid(결제)를 발급받습니다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0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호출한 화면 위에 인증 모듈을 object/iframe으로 띄우고, 다른 페이지로 이동하지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않습니다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· 카드사 앱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카드사를 고르고 약관에 동의한 뒤 카드사 앱에서 인증합니다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0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→ 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앱은 카드사 앱에서 돌아오면 현재 Webview의 nativeFocusHandler를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부릅니다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코드를 받고, 메시지가 인증 모듈 주소에서 왔는지 검증합니다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66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→ 메가MGC커피 서버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- 0000이면 메가MGC커피 서버에 알리고, 메가MGC커피 서버가 인증 결과 조회 ·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승인을 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- 0002 · 0003이면 인증 모듈을 닫고 원래 화면을 유지합니다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로그인은 토큰을 받아 홈 또는 주문으로, 결제는 주문 결과로 이동합니다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3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인증 모듈 주소는 해시(#/) 방식이라 호출값을 반드시 #/ 뒤에 붙이고, 주소와 출처 검증 값은 설정값으로 관리해 운영 전환 때 함께 바꿉니다.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/ 87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로그인 인증 모듈 호출값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인증 모듈은 인증 거래번호와 기기 구분 값만 있으면 뜹니다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메가MGC커피 서버에서 받은 transNo(인증 거래번호)를 인증 모듈 주소 뒤에 붙여 로그인 인증을 시작합니다.</a:t>
            </a:r>
            <a:endParaRPr lang="ko-KR" sz="1300" dirty="0"/>
          </a:p>
        </p:txBody>
      </p:sp>
      <p:graphicFrame>
        <p:nvGraphicFramePr>
          <p:cNvPr id="3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134106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적용값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transNo(인증 거래번호)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한 건을 가리키는 16자 번호이며, 메가MGC커피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서버가 인증 거래번호 발급 ①(reqTransNo.mv)로 받습니다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서버가 받은 값을 그대로 넣고 5분 안에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deviceType(기기 구분)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모듈이 화면과 카드사 앱 호출 방식을 고르는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값입니다(1 iOS Web · 2 iOS App · 3 AOS Web · 4 AOS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 · 5 PC)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 앱 Webview 2, Android 앱 Webview 4로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보입니다 [확인필요(핏콜라보 · 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cardCode(카드사 코드)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값이 있으면 그 카드사 화면만, 없으면 카드사 9곳 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화면을 보여 줍니다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않습니다(고객이 인증 모듈에서 카드사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nativeYN(Native 호출 여부)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부르는 위치 구분값이며, 생략하면 N입니다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N(Webview의 공통 웹 컴포넌트에서 호출)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callType(호출 구분)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01은 카드사 앱 안 앱카드iN에서 부를 때만 씁니다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않습니다(일반 호출)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storeTermYN(가맹점 약관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 여부)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Y면 인증 모듈에 가맹점 약관을 함께 보여 줍니다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N(인증 모듈에 메가MGC커피 약관을 넣지 않음)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deviceType(기기 구분) 값은 하이브리드 앱 기준으로 핏콜라보 · CJ ONS가 확정해야 합니다</a:t>
            </a:r>
          </a:p>
        </p:txBody>
      </p:sp>
      <p:sp>
        <p:nvSpPr>
          <p:cNvPr id="3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인증 모듈 호출값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모듈은 tid · 금액 · 카드 구분을 받습니다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카드(payType 0)는 계정 ID를 함께 보내고, 새 카드(payType 1)는 인증 뒤에 계정 ID를 받습니다.</a:t>
            </a:r>
            <a:endParaRPr lang="ko-KR" sz="1300" dirty="0"/>
          </a:p>
        </p:txBody>
      </p:sp>
      <p:graphicFrame>
        <p:nvGraphicFramePr>
          <p:cNvPr id="3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417408"/>
              </p:ext>
            </p:extLst>
          </p:nvPr>
        </p:nvGraphicFramePr>
        <p:xfrm>
          <a:off x="548640" y="1783080"/>
          <a:ext cx="11091672" cy="3661791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5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 · 메가MGC커피 적용값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tid(결제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거래번호 발급 ②(requestTid.mv)로 받은 20자 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deviceType(기기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로그인과 같은 값(하이브리드 Webview 값 확인 필요)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storeId(가맹점 ID)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발급한 메가MGC커피 가맹점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amount(결제 금액) ·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금액(원)과 메가MGC커피 주문번호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instType(할부 구분) · installment(할부 개월)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일시불만 쓰므로 installment는 "00"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cardCode(카드사 코드)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고른 카드사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storeUserNo(회원번호)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않음</a:t>
                      </a: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(개인정보는 CI만 전달)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payType(카드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기존 카드 · 1 새 카드(아래 기준)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acntId(간편결제 계정 ID) · userNo(간편결제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 0이면 필수, payType 1이면 보내지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termYN(약관 동의 기본값) · nativeYN(Native </a:t>
                      </a:r>
                      <a:r>
                        <a:rPr lang="en-US" sz="10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</a:t>
                      </a: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여부</a:t>
                      </a: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termYN=N(고객이 약관 동의를 직접 체크), nativeYN=N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/ 87</a:t>
            </a:r>
          </a:p>
        </p:txBody>
      </p:sp>
      <p:sp>
        <p:nvSpPr>
          <p:cNvPr id="32" name="본문"/>
          <p:cNvSpPr txBox="1"/>
          <p:nvPr/>
        </p:nvSpPr>
        <p:spPr>
          <a:xfrm>
            <a:off x="548640" y="5554599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기존 카드(payType 0)는 앱카드 로그인 인증 · 이전 앱카드 결제 · 카드관리 페이지 등록으로 이미 등록된 카드이며, 주문하기 진입 때 계정 목록 조회 ①로 받아 화면 2 ·</a:t>
            </a:r>
          </a:p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3의 1a에 보입니다.</a:t>
            </a:r>
          </a:p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새 카드(payType 1)는 고객이 내가 쓰는 앱카드 선택에서 카드사를 고른 경우이며, 인증 뒤 결제 인증 결과 조회 ③으로 계정 ID를 받습니다.</a:t>
            </a:r>
          </a:p>
        </p:txBody>
      </p:sp>
      <p:sp>
        <p:nvSpPr>
          <p:cNvPr id="3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콜백과 결과 코드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결과 코드 0000만 메가MGC커피 서버 확인으로 넘깁니다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모듈의 결과 코드는 화면 처리용이며, 로그인 · 결제의 최종 확정은 메가MGC커피 서버의 조회 · 승인 응답으로 합니다.</a:t>
            </a:r>
            <a:endParaRPr lang="ko-KR" sz="1300" dirty="0"/>
          </a:p>
        </p:txBody>
      </p:sp>
      <p:graphicFrame>
        <p:nvGraphicFramePr>
          <p:cNvPr id="3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195478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5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 할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성공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메가MGC커피 서버에 알리며, </a:t>
                      </a: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코드만으로 로그인 · 결제를 확정하지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스토어 이동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설치하기를 누르면 함께 온 scheme(스토어 주소)을 열고, 인증 모듈은 닫지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실패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resultMessage(카드사 앱 미인증, 유효기간 만료 카드 등)를 안내합니다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이전 화면으로 돌아가며, 0001 직후의 0003은 스토어 이동에 따른 종료입니다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53180"/>
          <a:ext cx="11091672" cy="166420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콜백 필드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 시점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resultCode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 · 0001 · 0002 · 0003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resultMessage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· 오류 안내 메시지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scheme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스토어 주소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userNo · acntId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카드 결제 인증(payType 1)일 때 카드사 앱 인증 뒤에 전달됩니다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/ 87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819140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45988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모듈의 0000은 화면 처리용이며, 로그인 · 승인 확정은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응답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합니다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카드사 앱 이동 · 복귀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Webview는 카드사 앱 주소를 가로채 열고, Android만 복귀를 알립니다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앱에서 메가MGC커피 앱으로 돌아오는 전용 바로가기는 필요 없고,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 알림은 Android 앱만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보냅니다.</a:t>
            </a:r>
            <a:endParaRPr lang="ko-KR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iOS는 별도 복귀 처리가 없고,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복귀 때 포커스를 한 번 전달합니다</a:t>
            </a:r>
          </a:p>
        </p:txBody>
      </p:sp>
      <p:sp>
        <p:nvSpPr>
          <p:cNvPr id="13" name="설명 제목"/>
          <p:cNvSpPr txBox="1"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이동: Webview가 카드사 앱 주소를 가로챕니다</a:t>
            </a:r>
          </a:p>
        </p:txBody>
      </p:sp>
      <p:sp>
        <p:nvSpPr>
          <p:cNvPr id="14" name="설명"/>
          <p:cNvSpPr txBox="1"/>
          <p:nvPr/>
        </p:nvSpPr>
        <p:spPr>
          <a:xfrm>
            <a:off x="548640" y="2052574"/>
            <a:ext cx="5486400" cy="11262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Android는 shouldOverrideUrlLoading, iOS는 decidePolicyFor에서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  카드사 앱 주소를 외부 앱으로 엽니다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Android 주소는 intent 형식이며, 카드사 앱이 없으면 패키지명으로 Play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  스토어를 엽니다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현행 Webview에 가로채기가 없으면 CJ ONS가 추가합니다 [확인필요(CJ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  ONS)]</a:t>
            </a:r>
          </a:p>
        </p:txBody>
      </p:sp>
      <p:sp>
        <p:nvSpPr>
          <p:cNvPr id="15" name="설명 제목"/>
          <p:cNvSpPr txBox="1"/>
          <p:nvPr/>
        </p:nvSpPr>
        <p:spPr>
          <a:xfrm>
            <a:off x="548640" y="337083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복귀: Android Native는 onResume에서 한 번만 알립니다</a:t>
            </a:r>
          </a:p>
        </p:txBody>
      </p:sp>
      <p:sp>
        <p:nvSpPr>
          <p:cNvPr id="16" name="설명"/>
          <p:cNvSpPr txBox="1"/>
          <p:nvPr/>
        </p:nvSpPr>
        <p:spPr>
          <a:xfrm>
            <a:off x="548640" y="3640327"/>
            <a:ext cx="5486400" cy="5814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복귀 1회에 nativeFocusHandler(true)를 한 번만 부르고, blur는 보내지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  않습니다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함수 이름 nativeFocusHandler는 바꿀 수 없습니다</a:t>
            </a:r>
          </a:p>
        </p:txBody>
      </p:sp>
      <p:sp>
        <p:nvSpPr>
          <p:cNvPr id="17" name="설명 제목"/>
          <p:cNvSpPr txBox="1"/>
          <p:nvPr/>
        </p:nvSpPr>
        <p:spPr>
          <a:xfrm>
            <a:off x="548640" y="441375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iOS 하이브리드 앱은 처리할 것이 없습니다</a:t>
            </a:r>
          </a:p>
        </p:txBody>
      </p:sp>
      <p:sp>
        <p:nvSpPr>
          <p:cNvPr id="18" name="설명"/>
          <p:cNvSpPr txBox="1"/>
          <p:nvPr/>
        </p:nvSpPr>
        <p:spPr>
          <a:xfrm>
            <a:off x="548640" y="4683251"/>
            <a:ext cx="5486400" cy="3997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인증 모듈이 화면 포커스 변화를 스스로 감지합니다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포커스가 오지 않는 인앱 브라우저는 인증 모듈의 확인 버튼으로 조회합니다</a:t>
            </a:r>
          </a:p>
        </p:txBody>
      </p:sp>
      <p:sp>
        <p:nvSpPr>
          <p:cNvPr id="19" name="도식 상자"/>
          <p:cNvSpPr/>
          <p:nvPr/>
        </p:nvSpPr>
        <p:spPr>
          <a:xfrm>
            <a:off x="6400800" y="1783080"/>
            <a:ext cx="52395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모듈(Webview 안)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고객이 카드사를 고르면 카드사 앱 주소를 엽니다</a:t>
            </a:r>
          </a:p>
        </p:txBody>
      </p:sp>
      <p:cxnSp>
        <p:nvCxnSpPr>
          <p:cNvPr id="20" name="도식 화살표"/>
          <p:cNvCxnSpPr/>
          <p:nvPr/>
        </p:nvCxnSpPr>
        <p:spPr>
          <a:xfrm>
            <a:off x="9020556" y="2331720"/>
            <a:ext cx="0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도식 상자"/>
          <p:cNvSpPr/>
          <p:nvPr/>
        </p:nvSpPr>
        <p:spPr>
          <a:xfrm>
            <a:off x="6400800" y="2542032"/>
            <a:ext cx="5239512" cy="54864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Webview가 주소 가로채기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Android shouldOverrideUrlLoading · iOS decidePolicyFor</a:t>
            </a:r>
          </a:p>
        </p:txBody>
      </p:sp>
      <p:cxnSp>
        <p:nvCxnSpPr>
          <p:cNvPr id="22" name="도식 화살표"/>
          <p:cNvCxnSpPr/>
          <p:nvPr/>
        </p:nvCxnSpPr>
        <p:spPr>
          <a:xfrm>
            <a:off x="9020556" y="3090672"/>
            <a:ext cx="0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도식 상자"/>
          <p:cNvSpPr/>
          <p:nvPr/>
        </p:nvSpPr>
        <p:spPr>
          <a:xfrm>
            <a:off x="6400800" y="3300984"/>
            <a:ext cx="52395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실행 · 카드 인증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카드사 앱이 없으면 스토어로 이동(결과 코드 0001)</a:t>
            </a:r>
          </a:p>
        </p:txBody>
      </p:sp>
      <p:cxnSp>
        <p:nvCxnSpPr>
          <p:cNvPr id="24" name="도식 화살표"/>
          <p:cNvCxnSpPr/>
          <p:nvPr/>
        </p:nvCxnSpPr>
        <p:spPr>
          <a:xfrm flipH="1">
            <a:off x="7680960" y="3849624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도식 화살표"/>
          <p:cNvCxnSpPr/>
          <p:nvPr/>
        </p:nvCxnSpPr>
        <p:spPr>
          <a:xfrm>
            <a:off x="9020556" y="3849624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도식 상자"/>
          <p:cNvSpPr/>
          <p:nvPr/>
        </p:nvSpPr>
        <p:spPr>
          <a:xfrm>
            <a:off x="6400800" y="4059936"/>
            <a:ext cx="2514600" cy="64008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Android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Native가 onResume에서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nativeFocusHandler(true) 1회</a:t>
            </a:r>
          </a:p>
        </p:txBody>
      </p:sp>
      <p:sp>
        <p:nvSpPr>
          <p:cNvPr id="27" name="도식 상자"/>
          <p:cNvSpPr/>
          <p:nvPr/>
        </p:nvSpPr>
        <p:spPr>
          <a:xfrm>
            <a:off x="9125712" y="4059936"/>
            <a:ext cx="2514600" cy="64008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iOS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모듈이 포커스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변화를 스스로 감지</a:t>
            </a:r>
          </a:p>
        </p:txBody>
      </p:sp>
      <p:cxnSp>
        <p:nvCxnSpPr>
          <p:cNvPr id="28" name="도식 화살표"/>
          <p:cNvCxnSpPr/>
          <p:nvPr/>
        </p:nvCxnSpPr>
        <p:spPr>
          <a:xfrm>
            <a:off x="7680960" y="4700016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도식 화살표"/>
          <p:cNvCxnSpPr/>
          <p:nvPr/>
        </p:nvCxnSpPr>
        <p:spPr>
          <a:xfrm flipH="1">
            <a:off x="9020556" y="4700016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도식 상자"/>
          <p:cNvSpPr/>
          <p:nvPr/>
        </p:nvSpPr>
        <p:spPr>
          <a:xfrm>
            <a:off x="6400800" y="4910328"/>
            <a:ext cx="52395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모듈이 결과 코드 전달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0000이면 공통 웹 컴포넌트가 메가MGC커피 서버에 알림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핏콜라보 API 9종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부르는 핏콜라보 API는 9종입니다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번호는 이 장이 원본이며, 다른 장의 로그인 ① · 결제 ② 같은 표기는 모두 이 목록을 가리킵니다.</a:t>
            </a:r>
          </a:p>
        </p:txBody>
      </p:sp>
      <p:graphicFrame>
        <p:nvGraphicFramePr>
          <p:cNvPr id="3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43738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· 인증 토큰을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끝난 고객의 CI 등 회원 정보를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/api/getPayCardInfo.mv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CI로 등록된 앱카드 계정 목록을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거래번호와 인증 필요 여부를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/reqAuthDataPay.mv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결제 6.6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인증이 끝난 계정 ID를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/mobileCert/appcardPayment.mv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요청해 승인번호를 받습니다(재호출 금지)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/ext/appcardCancel.mv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전체 취소합니다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/mobileCert/reqCondition.mv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취소 상태로 미확인 거래를 확정합니다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/api/insSessionData.mv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카드관리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 진입용 세션 키를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/ 87</a:t>
            </a:r>
          </a:p>
        </p:txBody>
      </p:sp>
      <p:sp>
        <p:nvSpPr>
          <p:cNvPr id="35" name="본문"/>
          <p:cNvSpPr txBox="1"/>
          <p:nvPr/>
        </p:nvSpPr>
        <p:spPr>
          <a:xfrm>
            <a:off x="548640" y="5330190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로그인 유지는 메가MGC커피 자체 토큰으로 하므로, 핏콜라보 규격의 토큰 인증 API는 쓰지 않습니다.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로그인 API 키값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API 2종은 인증 거래번호와 인증 토큰을 짝으로 주고받습니다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거래번호 발급 ①에서 받은 transNo(인증 거래번호) · token(인증 토큰)을 인증 결과 조회 ②에 그대로 보냅니다.</a:t>
            </a:r>
            <a:endParaRPr lang="ko-KR" sz="1300" dirty="0"/>
          </a:p>
        </p:txBody>
      </p:sp>
      <p:graphicFrame>
        <p:nvGraphicFramePr>
          <p:cNvPr id="3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074671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841347421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(reqTransNo.mv)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 한 건을 시작할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번호와 토큰을 받습니다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transType(거래 구분: L 로그인 · 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가입)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transNo(인증 거래번호, 16자)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토큰, 32자, 30분 · 1회용,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메가MGC커피 서버 보관)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6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(reqAuthData.mv)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끝난 고객의 회원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정보를 받습니다(인증 후 3분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transNo(인증 거래번호)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 · di(중복가입확인정보)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name(성명) · phoneNo(휴대폰번호)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birthDate(생년월일) · gender(성별)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nation(내외국인) · email(이메일, 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- 3분 초과 1500, token 불일치 1402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② 응답의 gender(성별) · email(이메일)은 계약 제공 항목이 아니므로 메가MGC커피 서버가 저장하지 않습니다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/ 87</a:t>
            </a:r>
          </a:p>
        </p:txBody>
      </p:sp>
      <p:sp>
        <p:nvSpPr>
          <p:cNvPr id="3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API 키값 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API ①~③은 결제 거래번호 · 결제 토큰 · 계정 ID를 이어서 씁니다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결제 거래번호 발급 ②에서 받은 tid(결제 거래번호) · reqToken(결제 토큰)을 승인 ④까지 보관합니다.</a:t>
            </a:r>
            <a:endParaRPr lang="ko-KR" sz="1300" dirty="0"/>
          </a:p>
        </p:txBody>
      </p:sp>
      <p:graphicFrame>
        <p:nvGraphicFramePr>
          <p:cNvPr id="3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87317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902449517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47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(getPayCardInfo.mv)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CI로 등록된 앱카드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userType(조회 구분, 1 = CI)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oneclickOnOff(원클릭 사용 여부)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cardList(계정 목록): acntId(간편결제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계정 ID) · userNo(간편결제 회원번호)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cardCode(카드사 코드)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isOneclick(원클릭 여부)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86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(requestTid.mv)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한 건의 결제 거래번호와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필요 여부를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amount(결제 금액) · orderNo(주문번호)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goodsName(상품명)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pgType(결제대행사 구분) · instType(할부 구분)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installment(할부 개월)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cardCode(카드사 코드) · isOneclick(원클릭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여부) · payType(카드 구분)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 · userNo(간편결제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회원번호)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거래번호, 20자)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authYN(인증 필요 여부: Y 바로 승인 · 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인증 뒤 승인)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reqToken(결제 토큰, 64자)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(reqAuthDataPay.mv)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결제에서 카드사 인증이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끝난 계정 ID를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reqToken(결제 토큰)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userNo(간편결제 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/ 87</a:t>
            </a:r>
          </a:p>
        </p:txBody>
      </p:sp>
      <p:sp>
        <p:nvSpPr>
          <p:cNvPr id="3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548640" y="6035040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storeUserNo(회원번호) · userName(주문자 이름)은 규격의 선택 항목이며, 메가MGC커피 서버는 </a:t>
            </a:r>
            <a:r>
              <a:rPr sz="10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보내지 않습니다</a:t>
            </a:r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API 키값 ②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API ④~⑥과 카드 관리 API는 승인번호와 세션 키를 다룹니다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④ 응답의 approvalNo(승인번호)는 승인 취소 ⑤의 필수값이므로 메가MGC커피 서버가 주문과 함께 저장합니다.</a:t>
            </a:r>
            <a:endParaRPr lang="ko-KR" sz="1300" dirty="0"/>
          </a:p>
        </p:txBody>
      </p:sp>
      <p:graphicFrame>
        <p:nvGraphicFramePr>
          <p:cNvPr id="3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48691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574047042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47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(appcardPayment.mv)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요청해 승인번호를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받습니다(재호출 금지)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amount(결제 금액)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orderNo(주문번호) · 세액 항목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cardCode(카드사 코드)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 · userNo(간편결제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회원번호) · reqToken(결제 토큰)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approvalDate(승인 일시)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pgTno(결제대행사 거래번호)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mid(결제대행사 가맹점 ID)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PG(결제대행사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 승인 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(appcardCancel.mv)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전체 취소합니다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orderNo(주문번호)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amount(결제 금액)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approvalNo(승인번호, 필수) · type(취소 구분, 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= 전체 취소) · 세액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cancelTid(취소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cancelPgTno(결제대행사 취소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 거래 상태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(reqCondition.mv)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취소 상태로 미확인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거래를 확정합니다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state(거래 상태) · stateDesc(상태 설명)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cancelState(취소 상태)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8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(insSessionData.mv)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 진입용 세션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 · deviceType(기기 구분)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userType(조회 구분, 0 = CI) · ci(연계정보)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redirectUrl(복귀 주소: 메가퀵결제 화면)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sessionKey(세션 키)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2691747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/ 87</a:t>
            </a:r>
          </a:p>
        </p:txBody>
      </p:sp>
      <p:sp>
        <p:nvSpPr>
          <p:cNvPr id="37" name="본문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조회 구분 값은 API마다 달라, 계정 목록 조회는 userType 1이 CI이고 카드관리 데이터 적재는 userType 0이 CI입니다.</a:t>
            </a:r>
          </a:p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승인 ④ · 데이터 적재 ①에도 storeUserNo(회원번호)를 보내지 않습니다.</a:t>
            </a:r>
          </a:p>
        </p:txBody>
      </p:sp>
      <p:sp>
        <p:nvSpPr>
          <p:cNvPr id="3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transNo와 tid 구분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거래번호(transNo)와 결제 거래번호(tid)는 서로 다른 값입니다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거래번호는 발급 API · 길이 · 함께 받는 토큰 · 만료 코드가 모두 다르므로, 메가MGC커피 서버는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 저장하고 관리합니다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graphicFrame>
        <p:nvGraphicFramePr>
          <p:cNvPr id="3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45157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transNo(16자)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tid(20자)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/reqTransNo.mv(로그인 ①)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/prepay/requestTid.mv(결제 ②)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받는 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token(인증 토큰, 32자, 30분 · 1회용)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reqToken(결제 토큰, 64자) · authYN(인증 필요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호출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4.1 로그인 호출값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4.2 결제 호출값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이후 쓰는 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· 승인 · 취소 · 거래 상태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 코드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1200(기본 5분, 인증 모듈 2.0.4 · 연동 요약서)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1403(간편결제 7장, 유효시간 수치 없음)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7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만료되면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reqTransNo부터 다시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requestTid를 다시 발급해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재시도합니다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5404484"/>
            <a:ext cx="11091672" cy="209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승인 뒤 받는 결제대행사 거래번호(pgTno)와 취소 거래번호(cancelTid · cancelPgTno)도 별개 값이며, 인증 모듈 2.1.2 결과 코드 표에 1200이 없는지 핏콜라보가 확인해야 합니다.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/ 87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만료 코드가 다르므로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transNo는 1200, tid는 1403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받으면 각각 다시 발급합니다</a:t>
            </a:r>
          </a:p>
        </p:txBody>
      </p:sp>
      <p:sp>
        <p:nvSpPr>
          <p:cNvPr id="3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통신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API는 POST · form-urlencoded로 보내고 JSON으로 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공통 HTTP 호출부를 한 번 만들어 API 9종에 함께 쓰고, 핏콜라보는 등록된 공인 IP만 받아 줍니다.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· 응답 형식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 서버는 POST, Content-Type application/x-www-form-urlencoded; charset=UTF-8로 보냅니다</a:t>
            </a:r>
            <a:endParaRPr lang="ko-KR" sz="1200" dirty="0"/>
          </a:p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핏콜라보는 JSON(resultCode · resultMessage · resultData)으로 응답하고, HTTP 200이 성공입니다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7945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통신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30988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 서버와 핏콜라보 서버는 HTTPS(TLS 1.2 이상)로 통신합니다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60781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허용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912108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메가MGC커피는 개발 · 스테이징 · 운영 메가MGC커피 서버의 공인 IP를 핏콜라보에 알려야 합니다</a:t>
            </a:r>
            <a:endParaRPr lang="ko-KR" sz="1200" dirty="0"/>
          </a:p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고정 IP를 쓸 수 없으면 메가MGC커피 서버가 storeAuthKey를 모든 요청에 붙이고, 등록되지 않은 IP는 9998을 받습니다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61924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대기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92353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 서버는 승인 요청과 승인 취소의 응답을 30초~1분 기다립니다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/ 87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45998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38683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등록된 공인 IP만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받으므로, 방화벽 등록이 연동 시작 조건입니다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결제 · 취소 · 카드 관리의 흐름도와 송수신 다이어그램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    로그인 흐름도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   로그인 송수신 16단계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   로그인 단계별 규칙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    주문 중 로그인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    결제 흐름도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   결제 송수신 18단계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    결제 단계별 규칙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21792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    원클릭과 인증 결제 비교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21792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    현행 결제와의 차이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21792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    취소 흐름도</a:t>
            </a:r>
          </a:p>
        </p:txBody>
      </p:sp>
      <p:sp>
        <p:nvSpPr>
          <p:cNvPr id="15" name="간지 목록"/>
          <p:cNvSpPr txBox="1"/>
          <p:nvPr/>
        </p:nvSpPr>
        <p:spPr>
          <a:xfrm>
            <a:off x="621792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    취소 송수신</a:t>
            </a:r>
          </a:p>
        </p:txBody>
      </p:sp>
      <p:sp>
        <p:nvSpPr>
          <p:cNvPr id="16" name="간지 목록"/>
          <p:cNvSpPr txBox="1"/>
          <p:nvPr/>
        </p:nvSpPr>
        <p:spPr>
          <a:xfrm>
            <a:off x="621792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    카드 관리 송수신 9단계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/ 87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인증 뒤 메가MGC커피 서버가 CI로 기존 계정을 찾습니다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결과의 CI로 같은 계정이 있으면 그 계정으로 로그인하고, 없으면 가입 판정(12장)을 거쳐 앱카드 회원으로 가입시킵니다.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후 3분 안에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인증 결과를 조회하고, CI로 기존 계정을 찾습니다</a:t>
            </a:r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 / 87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38528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앱카드 로그인 선택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로그인 수단 · Native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938528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브릿지 페이지(Webview)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 발급 ①(reqTransNo.mv)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1938528"/>
            <a:ext cx="169164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호출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</p:txBody>
      </p:sp>
      <p:sp>
        <p:nvSpPr>
          <p:cNvPr id="14" name="Diamond 13"/>
          <p:cNvSpPr/>
          <p:nvPr/>
        </p:nvSpPr>
        <p:spPr>
          <a:xfrm>
            <a:off x="6903720" y="1892807"/>
            <a:ext cx="160020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1938528"/>
            <a:ext cx="201168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조회 ②(reqAuthData.mv)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인증 후 3분 안에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852928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0001~0003, 1500</a:t>
            </a:r>
          </a:p>
        </p:txBody>
      </p:sp>
      <p:sp>
        <p:nvSpPr>
          <p:cNvPr id="17" name="Diamond 16"/>
          <p:cNvSpPr/>
          <p:nvPr/>
        </p:nvSpPr>
        <p:spPr>
          <a:xfrm>
            <a:off x="9052560" y="2807208"/>
            <a:ext cx="155448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조회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18" name="Diamond 17"/>
          <p:cNvSpPr/>
          <p:nvPr/>
        </p:nvSpPr>
        <p:spPr>
          <a:xfrm>
            <a:off x="8915400" y="3721608"/>
            <a:ext cx="182880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가입한 계정?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3785615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 · 토큰 발급</a:t>
            </a:r>
          </a:p>
        </p:txBody>
      </p:sp>
      <p:sp>
        <p:nvSpPr>
          <p:cNvPr id="21" name="Diamond 20"/>
          <p:cNvSpPr/>
          <p:nvPr/>
        </p:nvSpPr>
        <p:spPr>
          <a:xfrm>
            <a:off x="2697480" y="3721608"/>
            <a:ext cx="155448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중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85615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진행 중이던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화면 복귀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06040" y="4736592"/>
            <a:ext cx="1737360" cy="502920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홈 이동(Native)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4700016"/>
            <a:ext cx="196596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 · 약관(Webview)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12장 순서 · KCP 생략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788920"/>
            <a:ext cx="5760720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transNo만 Webview로, token은 메가MGC커피 서버에만 보관</a:t>
            </a:r>
          </a:p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로그인 유지는 메가MGC커피 자체 토큰으로 함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37744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7200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583679" y="2221991"/>
            <a:ext cx="320041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03920" y="2221991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49640" y="2020823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03820" y="255117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49540" y="2551176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829800" y="250545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8613648" y="3136391"/>
            <a:ext cx="438912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49640" y="2935223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829800" y="3465576"/>
            <a:ext cx="0" cy="25603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875520" y="3465576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6400800" y="4069080"/>
            <a:ext cx="251460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503920" y="386791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829800" y="4416552"/>
            <a:ext cx="0" cy="283464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875520" y="441655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4251960" y="4069079"/>
            <a:ext cx="27432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2377440" y="4069079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423160" y="386791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474720" y="4416552"/>
            <a:ext cx="0" cy="32004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520440" y="441655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081259" y="5266944"/>
            <a:ext cx="0" cy="201168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5463540" y="5468112"/>
            <a:ext cx="4617719" cy="0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463540" y="4352544"/>
            <a:ext cx="0" cy="1115568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송수신 16단계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한 번에 메가MGC커피 서버와 핏콜라보가 두 번 주고받습니다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거래번호 발급 ①과 인증 결과 조회 ②를 부르고, 로그인 유지는 자체 토큰으로 합니다.</a:t>
            </a:r>
            <a:endParaRPr lang="ko-KR" sz="1300" dirty="0"/>
          </a:p>
        </p:txBody>
      </p:sp>
      <p:pic>
        <p:nvPicPr>
          <p:cNvPr id="6" name="Image 0" descr="로그인 송수신 다이어그램 17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/ 87</a:t>
            </a:r>
          </a:p>
        </p:txBody>
      </p:sp>
      <p:sp>
        <p:nvSpPr>
          <p:cNvPr id="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단계별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단계마다 보내는 쪽 · 받는 쪽 · 규칙이 정해져 있습니다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후 3분 안에 인증 결과를 조회하고, token은 메가MGC커피 서버에만 두며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Webview에는 transNo만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넘깁니다.</a:t>
            </a:r>
          </a:p>
        </p:txBody>
      </p:sp>
      <p:graphicFrame>
        <p:nvGraphicFramePr>
          <p:cNvPr id="4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09669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 ①(reqTransNo.mv)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서버만 핏콜라보를 부르고, storeId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transType(L)을 보내 transNo · token을 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6~7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인증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전달, 인증 모듈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호출값은 transNo · deviceType · nativeYN=N이고, token은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8~9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↔ 카드사 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인증 뒤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Android는 복귀 때 포커스를 전달하고, iOS는 인증 모듈이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감지합니다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→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 성공 · 0001 스토어 이동 · 0002 실패 · 0003 취소, 1200은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만료입니다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②(reqAuthData.mv)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token을 보내며, 3분을 넘기면 1500, token이 다르면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1402입니다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ci · name · phoneNo · 생년 · nation만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저장하고, 생년월일은 만 14세 판정에만 씁니다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CI로 같은 계정이 있으면 그 계정으로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로그인시키고, 없으면 가입 판정(12장)을 거쳐 가입시킵니다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결과, 토큰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Native는 홈 또는 진행 중이던 주문 화면으로 이동합니다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/ 87</a:t>
            </a:r>
          </a:p>
        </p:txBody>
      </p:sp>
      <p:sp>
        <p:nvSpPr>
          <p:cNvPr id="4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주문 중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고객이 주문하면 로그인 후 그 주문으로 돌아갑니다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결제는 로그인 때 받은 CI로 계정을 조회하므로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로그인한 회원만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쓸 수 있습니다.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진입: 비로그인 고객이 상품 상세에서 주문하기를 누릅니다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앱은 로그인 흐름(앞 장)과 같은 순서로 앱카드 로그인을 진행합니다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59638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복귀: 로그인이 끝나면 진행 중이던 주문으로 돌아갑니다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00680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앱은 로그인 완료 화면 대신 원래 주문하기 화면을 열고 결제를 이어 갑니다</a:t>
            </a:r>
            <a:endParaRPr lang="ko-KR" sz="1200" dirty="0"/>
          </a:p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이를 위해 앱은 로그인 중에도 주문 정보를 유지해야 합니다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60781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보관: 메가MGC커피 서버는 로그인 때 받은 CI를 결제에도 씁니다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91210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 서버는 CI로 계정 목록을 조회하고 원클릭 조건을 확인합니다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42112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확인: 현행 앱에 주문 중 로그인 복귀 기능이 있는지 봐야 합니다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72541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기능이 없으면 CJ ONS가 앱 · 웹에 새로 만들어야 합니다 [확인필요(CJ ONS)]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 / 87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6186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8871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주문 복귀 기능이 현행에 없으면 앱 · 웹에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만들어야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 응답에 따라 원클릭과 인증 결제로 나뉩니다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결제는 결제 거래번호 발급 응답의 authYN에 따라 바로 승인하거나 인증 모듈을 거쳐 승인하고, 주문 생성까지 확인합니다.</a:t>
            </a:r>
          </a:p>
        </p:txBody>
      </p:sp>
      <p:pic>
        <p:nvPicPr>
          <p:cNvPr id="6" name="Image 0" descr="앱카드 결제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393003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393003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승인을 다시 부르지 않고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거래 상태를 조회하며, 주문이 없으면 승인을 취소합니다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 / 87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송수신 18단계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결제일 때만 인증 모듈과 카드사 앱이 끼어듭니다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거래번호 발급 응답이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authYN=N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(새 카드 등)이면 인증 모듈 호출과 결제 인증 결과 조회(7~14단계)가 더해집니다.</a:t>
            </a:r>
          </a:p>
        </p:txBody>
      </p:sp>
      <p:pic>
        <p:nvPicPr>
          <p:cNvPr id="6" name="Image 0" descr="결제 송수신 다이어그램 18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/ 87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단계별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단계마다 메가MGC커피 서버가 지켜야 할 규칙이 있습니다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메가MGC커피 서버는 승인을 다시 부르지 않고 거래 상태 조회(결제 ⑥)로 결과를 확인합니다.</a:t>
            </a:r>
          </a:p>
        </p:txBody>
      </p:sp>
      <p:graphicFrame>
        <p:nvGraphicFramePr>
          <p:cNvPr id="4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80555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0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①(getPayCardInfo.mv)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 1(CI) · ci를 보내 계정 목록을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할부는 쓰지 않고, 카드사 목록은 앱 고정 목록입니다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2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 ②(requestTid.mv)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 0(기존, 계정 ID 포함) 또는 1(신규, 카드사 코드)을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보냅니다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요청하는 순간부터 결제 버튼을 잠급니다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2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인증 모듈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↔ 카드사 앱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결제(authYN=N일 때만)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호출값은 tid · amount · orderNo · payType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termYN=N입니다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화면은 그대로 두고, tid가 만료되면 1403입니다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4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12~14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③(reqAuthDataPay.mv)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orderNo · reqToken을 보내 acntId · userNo를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핏콜라보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④(appcardPayment.mv), 승인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응답을 30초~1분 기다리고, 다시 부르지 않습니다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CJ ONS 추가 [확인필요(핏콜라보)]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결과(approvalNo · pgTno)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approvalNo를 저장하고, 응답이 없으면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조회 ⑥을 부릅니다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생성 뒤 주문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승인은 됐는데 주문이 없으면 메가MGC커피 서버가 승인 취소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⑤를 부릅니다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 / 87</a:t>
            </a:r>
          </a:p>
        </p:txBody>
      </p:sp>
      <p:sp>
        <p:nvSpPr>
          <p:cNvPr id="4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원클릭과 인증 결제 비교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원클릭은 인증 없이, 인증 결제는 카드사 앱 인증 뒤 승인합니다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결제는 결제 거래번호 발급까지 같고,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호출과 결제 인증 결과 조회 여부만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다릅니다.</a:t>
            </a:r>
            <a:endParaRPr lang="ko-KR" sz="1300" dirty="0"/>
          </a:p>
        </p:txBody>
      </p:sp>
      <p:graphicFrame>
        <p:nvGraphicFramePr>
          <p:cNvPr id="4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6435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원클릭(기존 카드)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결제(새 카드 · 조건 미충족)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1a 앱카드 계정을 고르고 결제합니다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1b에서 카드사를 고르고 결제합니다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원클릭에 authYN=N이 오면 같은 tid로 인증합니다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②에 보내는 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payType=0, isOneclick=Y, 고른 계정의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 · userNo, 로그인 CI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payType=1, 고른 카드사 코드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띄우지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 결제 화면 위에 띄우고, 계정 ID는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전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③으로 acntId · userNo를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이후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주문을 만들고, 실패하면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취소합니다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원클릭과 같고, 이 카드는 다음 결제부터 계정 목록에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안내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조건이 맞지 않으면 별도 안내 없이 인증 화면이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4918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7603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카드는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결과 조회 ③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계정 ID를 받아야 승인 ④를 부를 수 있습니다</a:t>
            </a:r>
          </a:p>
        </p:txBody>
      </p:sp>
      <p:sp>
        <p:nvSpPr>
          <p:cNvPr id="4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현행 결제와의 차이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결제 키 대신 결제 거래번호로 현행 결제 흐름을 탑니다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일반 결제 7단계 중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키 발급 · 결제 화면 호출 · 인증 결과 수신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단계가 앱카드에서 달라집니다.</a:t>
            </a:r>
            <a:endParaRPr lang="ko-KR" sz="1300" dirty="0"/>
          </a:p>
        </p:txBody>
      </p:sp>
      <p:pic>
        <p:nvPicPr>
          <p:cNvPr id="6" name="Image 0" descr="현행 일반 결제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760720" cy="213903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5760720" cy="2139038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4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783080"/>
          <a:ext cx="5102352" cy="3831333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 · 결제수단 선택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결제수단에 앱카드 계정을 보여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줍니다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결제대행사에서 결제 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거래번호(tid)를 받습니다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결제 화면 호출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필요할 때만 Webview에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띄웁니다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5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· 간편결제 앱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앱은 포커스로 복귀를 알립니다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수신 후 승인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인증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결과를 조회한 뒤 승인합니다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완료 · 결제 실패 표시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· 취소 안내 문구를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더합니다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4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이동, 홈 정보 갱신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현행과 같습니다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키 발급과 결제 화면 호출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단계는 앱카드 결제에서 빠집니다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취소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 5경로와 주기 작업 모두 승인 취소 ⑤로 정리합니다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요청은 승인 취소(결제 ⑤)로, 결과 미확인 거래는 메가MGC커피 서버 주기 작업이 거래 상태 조회(결제 ⑥)로 정리합니다.</a:t>
            </a:r>
          </a:p>
        </p:txBody>
      </p:sp>
      <p:pic>
        <p:nvPicPr>
          <p:cNvPr id="6" name="Image 0" descr="취소 · 결과 미확인 거래 정리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393003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393003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취소는 기간 제한 없이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취소로만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처리하고, 승인번호가 없으면 거래 상태부터 조회합니다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 / 87</a:t>
            </a:r>
          </a:p>
        </p:txBody>
      </p:sp>
      <p:sp>
        <p:nvSpPr>
          <p:cNvPr id="1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취소 송수신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결과도 메가MGC커피 서버가 핏콜라보 응답으로 확정합니다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취소에는 approvalNo가 필수이므로, 승인 응답을 못 받은 건은 메가MGC커피 서버가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조회로 승인번호부터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찾습니다.</a:t>
            </a:r>
            <a:endParaRPr lang="ko-KR" sz="1300" dirty="0"/>
          </a:p>
        </p:txBody>
      </p:sp>
      <p:pic>
        <p:nvPicPr>
          <p:cNvPr id="6" name="Image 0" descr="취소 송수신 다이어그램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 / 87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카드 관리 송수신 9단계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sessionKey를 받아 카드관리 페이지를 엽니다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메가퀵결제에서 앱카드 관리로 들어가면 메가MGC커피 서버가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적재 API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부르고, 닫으면 메가퀵결제로 돌아옵니다.</a:t>
            </a:r>
            <a:endParaRPr lang="ko-KR" sz="1300" dirty="0"/>
          </a:p>
        </p:txBody>
      </p:sp>
      <p:pic>
        <p:nvPicPr>
          <p:cNvPr id="6" name="Image 0" descr="카드 관리 송수신 다이어그램 9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76" y="1783080"/>
            <a:ext cx="10697199" cy="255535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5876" y="1783080"/>
            <a:ext cx="10697199" cy="255535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5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1313"/>
          <a:ext cx="11091672" cy="1003173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 · deviceType · userType 0(CI) · ci · redirectUrl(메가퀵결제 화면)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 열기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카드관리 페이지 주소에 sessionKey · token · storeId를 붙여 웹 화면 이동으로 엽니다(iframe 아님)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복귀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페이지가 nativeFocusHandler를 받으므로 앱은 결제와 같은 처리를 씁니다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2623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75308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카드관리 페이지를 닫으면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redirectUrl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메가퀵결제 화면에 돌아옵니다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 · 만료 · 무응답 · 취소 실패의 처리 기준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    인증 · 로그인 예외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    결제 · 취소 예외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   재호출 기준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    구현 포인트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    다른 가맹점 이슈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 / 87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인증 · 로그인 예외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로그인 예외는 대부분 처음부터 다시 시작합니다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거래번호가 만료되거나 조회 시간이 지나면, 메가MGC커피 서버는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 발급부터 다시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진행합니다.</a:t>
            </a:r>
            <a:endParaRPr lang="ko-KR" sz="1300" dirty="0"/>
          </a:p>
        </p:txBody>
      </p:sp>
      <p:graphicFrame>
        <p:nvGraphicFramePr>
          <p:cNvPr id="5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31333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1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안내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 카드사 앱 미설치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 scheme(스토어 주소)을 열고 인증 모듈은 유지합니다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후 다시 시도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인증 실패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resultMessage로 다시 시도를 안내합니다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사유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 고객 취소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직전 화면으로 돌아갑니다(로그인은 로그인 수단 선택)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조용히 복귀 또는 취소 안내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transNo 만료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reqTransNo부터 다시 발급합니다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인증정보 만료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1500 조회 시간 초과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뒤 3분이 지났으므로 reqTransNo부터 다시 시작합니다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인증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1402 token 불일치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때와 다른 token을 보냈으므로 거래번호 발급부터 다시 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시도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1400 인증 미완료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로그인은 처음부터 다시 하고, 결제는 승인을 요청하지 않습니다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시도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9998 허용되지 않은 IP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핏콜라보에 메가MGC커피 서버 공인 IP 등록을 요청합니다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일시적 오류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거래번호가 만료되면 메가MGC커피 서버가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reqTransNo부터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다시 발급합니다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결제 · 취소 예외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예외에서 메가MGC커피 서버는 주문을 임의로 확정하지 않습니다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응답이 늦거나 오류가 나면 메가MGC커피 서버는 성공 · 실패를 짐작하지 않고 거래 상태 조회로 확인합니다.</a:t>
            </a:r>
            <a:endParaRPr lang="ko-KR" sz="1300" dirty="0"/>
          </a:p>
        </p:txBody>
      </p:sp>
      <p:graphicFrame>
        <p:nvGraphicFramePr>
          <p:cNvPr id="5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3133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1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안내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8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 tid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requestTid를 다시 발급하고, 인증 결제는 처음부터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결제정보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4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8000 체크카드 할부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메가MGC커피는 일시불만 쓰므로 일시불로 보냅니다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체크카드는 일시불만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8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거절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주문을 확정하지 않고 응답의 거절 사유(contents)를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거절 사유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4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응답 지연 · 9999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다시 부르지 않고</a:t>
                      </a: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30초~1분 기다린 뒤 reqCondition으로 확인합니다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결과 확인 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38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주문 생성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appcardCancel로 전체 취소한 뒤 주문을 실패로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· 카드사 반영 시점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4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authYN=N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조건이 맞지 않아 받은 tid 그대로 인증 모듈을 띄웁니다(재발급 없음)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화면 노출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4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9001 구문 오류 · 기취소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바로 성공으로 처리하지 않고 거래 상태 조회로 cancelState를 확인합니다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기취소면 안내 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44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A009 · A020 · A057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기취소(A009)나 취소 불가(A020 · A057)이므로 응답 사유를 확인합니다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완료 또는 고객센터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늦으면 승인을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부르지 않고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거래 상태 조회로 확인합니다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재호출 기준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승인만 다시 부르지 않고, 나머지 API는 다시 불러도 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승인을 다시 부르면 같은 주문이 두 번 승인될 수 있으므로, 메가MGC커피 서버는 승인 결과를 거래 상태 조회로만 확인합니다.</a:t>
            </a:r>
            <a:endParaRPr lang="ko-KR" sz="1300" dirty="0"/>
          </a:p>
        </p:txBody>
      </p:sp>
      <p:graphicFrame>
        <p:nvGraphicFramePr>
          <p:cNvPr id="5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25806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부르기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응답을 못 받아도 다시 부르지 않고 거래 상태 조회 ⑥으로 결과를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 ⑤(appcardCancel.mv)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취소된 건이면 9001이 오므로 거래 상태 조회로 cancelState를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API(로그인 ② · 결제 ① · ③ · ⑥)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값을 다시 보내 결과를 다시 받습니다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발급(로그인 ① · 결제 ②)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만료되면 새로 발급받습니다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76021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68706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바로 확인하지 못한 거래는 메가MGC커피 서버 주기 작업이 같은 기준으로 모아 정리합니다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/ 87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22402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8640" y="4224020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응답이 없을 때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승인은 다시 부르지 않고 거래 상태 조회로 결과를 확정합니다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" y="468122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④ 요청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21024" y="4681220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30초~1분 대기</a:t>
            </a:r>
          </a:p>
          <a:p>
            <a:pPr algn="ctr"/>
            <a:r>
              <a:rPr sz="9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승인 재호출 금지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28816" y="4681220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거래 상태 조회 ⑥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재호출 가능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36608" y="468122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 확정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확정 또는 승인 취소 ⑤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2788920" y="498297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734056" y="477266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응답 없음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696712" y="498297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604504" y="498297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구현 포인트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Webview와 메가MGC커피 서버는 8가지 구현 기준을 지켜야 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Webview는 인증 모듈을 한 번만 띄우고 메시지 출처를 검증하며, 메가MGC커피 서버는 민감값 보관과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대조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승인을 확정합니다.</a:t>
            </a:r>
          </a:p>
        </p:txBody>
      </p:sp>
      <p:graphicFrame>
        <p:nvGraphicFramePr>
          <p:cNvPr id="5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8924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포인트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표시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컴포넌트는 바텀시트 · 전체화면이 그려진 뒤 인증 모듈을 띄우고, object/WebView를 두 번 만들지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앱은 focus(true)만, 복귀 1회에 한 번만 보냅니다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리스너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컴포넌트는 인증 모듈을 띄울 때 리스너를 한 번 등록하고, 인증 모듈이 끝나면 해제합니다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0000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화면의 성공 코드만으로 로그인 · 승인을 확정하지 않고, 메가MGC커피 서버 응답으로 확정합니다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 출처 검증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주소에서 왔고 결과 코드가 있는 메시지만 처리합니다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민감값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token · reqToken · storeAuthKey를 관리하고, 앱 · 분석 로그에 원문을 남기지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상태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버튼 · 슬라이더는 실행 뒤 잠그고, 성공 · 실패가 확정되면 다시 켭니다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대조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결제 ② · 승인 ④의 amount를 메가MGC커피 서버의 주문 금액과 대조하고,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값으로 결제하지 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375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643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8가지 기준은 스테이징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항목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에도 그대로 넣어 오픈 전에 확인합니다</a:t>
            </a:r>
          </a:p>
        </p:txBody>
      </p:sp>
      <p:sp>
        <p:nvSpPr>
          <p:cNvPr id="5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다른 가맹점 이슈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가맹점에서 세 가지 사고가 반복됐습니다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사고는 모두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Webview와 메가MGC커피 서버의 기본 처리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막을 수 있으며, 같은 항목을 스테이징 테스트에서 확인합니다.</a:t>
            </a:r>
          </a:p>
        </p:txBody>
      </p:sp>
      <p:graphicFrame>
        <p:nvGraphicFramePr>
          <p:cNvPr id="5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13004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막는 방법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화면이 갑자기 닫힘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 · 웹뷰가 넣은 빈 메시지를 인증 모듈의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닫기 결과로 처리했습니다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 출처를 검증하고, 결과 코드가 있는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메시지만 처리합니다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결제가 두 번 진행됨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결제 버튼을 연속으로 눌렀습니다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요청 시점부터 인증 모듈 표시 · 승인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응답까지 버튼을 잠급니다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승인됐는데 주문이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주문 생성이 실패했습니다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승인을 취소하고, 응답이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없던 건은 거래 상태 조회로 정리합니다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58647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51332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사고 모두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 잠금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인증 모듈 1회 표시 · 상태 조회 정리로 막을 수 있습니다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4096004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48640" y="4096004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사고를 막는 지점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결제 흐름의 세 지점에서 기본 처리로 사고를 막습니다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3232" y="4553204"/>
            <a:ext cx="2490216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버튼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실행 뒤 잠금 → 두 번 결제 방지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49368" y="4553204"/>
            <a:ext cx="2490216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화면 완성 뒤 1회 → 화면 닫힘 방지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85504" y="4553204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응답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상태 조회 · 승인 취소 → 주문 없는 승인 정리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3240024" y="4854956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376160" y="4854956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승인 대행과 결제대행사(OnePG) 등록 · 정산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    현행과 앱카드 역할 비교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    거래 식별값 보관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    pgType 리스크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 / 87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현행과 앱카드 역할 비교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핏콜라보가 승인하고 결제대행사는 승인 등록을 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결제는 결제대행사가 승인하지만, 앱카드 결제는 핏콜라보가 승인한 뒤 결제대행사에 등록하며 정산 구조는 같습니다.</a:t>
            </a:r>
            <a:endParaRPr lang="ko-KR" sz="1300" dirty="0"/>
          </a:p>
        </p:txBody>
      </p:sp>
      <p:graphicFrame>
        <p:nvGraphicFramePr>
          <p:cNvPr id="5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04489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현행(일반 · 등록 카드 결제)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1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취소 요청 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결제대행사(PG)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API를 부름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인증 · 승인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결제대행사(PG)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건에 한함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 정보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결제대행사가 보유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승인 뒤 결제대행사에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결제대행사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거래번호로 연결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대금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→ 결제대행사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현행과 같음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정산 구조 같음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역할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 등록을 받음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연동 방식 회신 대기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1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결제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앱카드 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화면(밀어서 결제 포함)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모듈만 핏콜라보 제공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구조는 그대로이므로, 결제대행사 쪽 과제는 승인 등록을 받는 연동 하나로 좁혀집니다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 / 87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거래 식별값 보관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주문번호 · tid · 승인번호 · pgTno를 함께 보관합니다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값을 함께 저장해야 메가MGC커피 주문, 핏콜라보 거래, 결제대행사 거래를 서로 찾아 맞출 수 있습니다.</a:t>
            </a:r>
            <a:endParaRPr lang="ko-KR" sz="1300" dirty="0"/>
          </a:p>
        </p:txBody>
      </p:sp>
      <p:graphicFrame>
        <p:nvGraphicFramePr>
          <p:cNvPr id="6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34950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생기는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곳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orderNo(메가MGC커피 주문번호)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결제 ② 요청 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만듭니다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결제 API와 주문을 잇는 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tid(핏콜라보 결제 거래번호)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③~⑥, 거래 상태 조회의 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 · approvalDate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취소의 필수값</a:t>
                      </a: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매출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pgTno · mid · PG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거래와 정산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cancelTid · cancelPgTno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 ⑤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거래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0593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3278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값을 함께 보관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주문 · 핏콜라보 거래 · 결제대행사 거래를 서로 맞출 수 있습니다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431546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48640" y="4315460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거래 식별값이 생기는 곳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네 값은 생기는 곳이 달라 메가MGC커피 서버가 함께 모아 저장합니다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" y="477266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orderNo 생성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21024" y="4772660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tid 발급 · approvalNo 승인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28816" y="4772660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pgTno 승인 등록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36608" y="477266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결제 데이터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네 값 함께 저장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788920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734056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②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696712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641848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604504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549640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④ 응답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pgType 리스크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구분값(pgType) 목록에 CJ ONS 추가가 필요합니다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핏콜라보가 결제 ②의 필수값 pgType 목록에 CJ ONS(OnePG)를 추가해야, 앱카드 승인을 OnePG에 등록할 수 있습니다.</a:t>
            </a:r>
          </a:p>
        </p:txBody>
      </p:sp>
      <p:graphicFrame>
        <p:nvGraphicFramePr>
          <p:cNvPr id="6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489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2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pgType 목록(KICC · 이니시스 · KCP · 나이스 · 스마트로 · 토스 · KSNET · 신한은행)에 CJ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ONS(OnePG)가 없습니다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중계 규격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결제대행사가 할부 정보 조회 · 가맹점 번호 조회 · 승인 등록 · 거래 상태 조회 · 취소 5종을 만드는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쪽 중계 API 개발이 필요할 수 있으나</a:t>
                      </a: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[추정], 지금 어느 공수 문서에도 없습니다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핏콜라보: pgType에 CJ ONS(OnePG) 추가와 승인 등록 연동 방식(회신 대기 1순위)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ONS: OnePG 쪽 중계 API를 만들어야 하는지와 그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ID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정보와 신용카드 가맹점 번호를 핏콜라보에 넘겨야 가맹점 ID(storeId)가 발급됩니다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3902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6587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핏콜라보의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pgType CJ ONS 추가 일정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정해져야 결제대행사 연동 공수를 확정할 수 있습니다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464312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48640" y="4643120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pgType 추가 후 흐름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핏콜라보가 CJ ONS를 추가하면 현행 정산 구조를 그대로 씁니다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3232" y="5100320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결제 ② pgType = CJ 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49368" y="5100320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승인 대행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85504" y="5100320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 · 정산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240024" y="5402072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185160" y="5008879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pgType 목록에</a:t>
            </a:r>
          </a:p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CJ ONS 추가 필요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376160" y="5402072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321296" y="5191760"/>
            <a:ext cx="168249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  <p:sp>
        <p:nvSpPr>
          <p:cNvPr id="7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매트릭스 · 착수 전 확인 · B.O · 테스트 · 오픈 · 심사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    작업 매트릭스 — 메가MGC커피 서버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    작업 매트릭스 — 앱 · 웹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    착수 전 확인 13건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    B.O · 로그 · 데이터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    연동 준비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    스테이징 테스트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    오픈 전 점검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21792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    앱 심사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 / 87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작업 매트릭스 — 메가MGC커피 서버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작업이 가장 많고, Native 작업이 가장 적습니다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작업이 가장 많고, 결제수단 코드 반영과 취소 경로 연결은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공수 검토의견에 빠져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있습니다.</a:t>
            </a:r>
          </a:p>
        </p:txBody>
      </p:sp>
      <p:graphicFrame>
        <p:nvGraphicFramePr>
          <p:cNvPr id="6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540999"/>
        </p:xfrm>
        <a:graphic>
          <a:graphicData uri="http://schemas.openxmlformats.org/drawingml/2006/table">
            <a:tbl>
              <a:tblPr/>
              <a:tblGrid>
                <a:gridCol w="6702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AOS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HTTP 호출부(POST · form-urlencoded · JSON)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방화벽 · 공인 IP 등록, 가맹점 ID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API 2종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 · reqToken · tid · CI 서버 보관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수단 · 가입 판정 연결(KCP 미사용, 12 · 13장)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API(계정 조회 · 거래번호 · 인증 조회 · 승인 · 취소 · 상태 조회)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중복 승인 방지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요청 경로 연결(고객 · 매장 · 에이전트 자동 · 상담 · 선물)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미확인 거래 주기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코드 하위 반영(B.O 조회 · 매출 리포트)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회원 · 주문 데이터 반영, 금액 대조(20 · 22장)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 로그인 허용(로그인 수단 연결 구조 개선)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결제대행사 중계 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 / 87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작업 매트릭스 — 앱 · 웹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Webview는 공통 웹 컴포넌트와 결제수단 화면을 새로 만듭니다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Native는 로그인 버튼과 카드사 앱 처리만 맡고, 인증 화면 · 카드 조회 · 등록 · 삭제 화면 · 할부는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개발하지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6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95841"/>
        </p:xfrm>
        <a:graphic>
          <a:graphicData uri="http://schemas.openxmlformats.org/drawingml/2006/table">
            <a:tbl>
              <a:tblPr/>
              <a:tblGrid>
                <a:gridCol w="6702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버튼 · 브릿지 페이지 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 스킴 · 패키지 등록, Webview 주소 가로채기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 전달(onResume → nativeFocusHandler)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· 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분기 · postMessage 출처 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중 로그인 뒤 주문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UI(주문 화면 4종: 메가오더 · 퀵오더 · 예약 · 선물)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화면별 결제 전 체크 뒤 결제 요청, 완료 화면 이동(29장)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 · 중복 실행 잠금, 실패 · 취소 안내 문구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앱카드 관리 진입 ·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앱카드 인증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 보호자 동의 순서(보호자 본인인증 뒤 동의 활성)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92939"/>
            <a:ext cx="11091672" cy="209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●는 필수 대상, △는 조건부이며, 현행에 주소 가로채기나 주문 복귀 기능이 없으면 앱 작업이 늘어납니다.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 / 87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착수 전 확인 13건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 전에 13개 개발 과제의 확인 사항을 먼저 풀어야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13건 중 확인 사항이 없는 3건은 바로 착수하고, 나머지는 담당 답변을 받아야 설계를 확정할 수 있습니다.</a:t>
            </a:r>
          </a:p>
        </p:txBody>
      </p:sp>
      <p:graphicFrame>
        <p:nvGraphicFramePr>
          <p:cNvPr id="6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80549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과제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영역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착수 전 확인 사항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등록 · 이동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Webview가 카드사 앱 주소 이동을 처리하는지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버튼 · 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· 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· 같은 CI 계정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연결 구조 개선 범위 · 공수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중 로그인 뒤 주문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· 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기능이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앱카드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·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본인인증(KCP) 화면에 앱카드 선택을 넣는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방식(밀어서 결제 통일)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화면 4종 결제수단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다인 선물 취소 방식, 선불카드 충전 적용 여부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· 인증 결제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판단 조건(CI 일치 외), tid 유효시간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승인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결제대행사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pgType에 CJ ONS 추가(핏콜라보), 연동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요청 경로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진입 ·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·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API 규격서 v1.0.4, 회원 탈퇴 때 계정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방화벽 · 공인 IP · 가맹점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가맹점 번호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카드사별 실카드 공동 테스트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카드사별 테스트 계획 · 일정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 / 87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B.O · 로그 · 데이터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B.O와 리포트에 앱카드 결제수단 코드를 반영해야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문서에는 B.O 화면과 GA4 이벤트 정의가 없으므로, 확정된 것은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결제수단 코드 반영과 로그 기준뿐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ko-KR" sz="1300" dirty="0"/>
          </a:p>
        </p:txBody>
      </p:sp>
      <p:graphicFrame>
        <p:nvGraphicFramePr>
          <p:cNvPr id="6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61651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3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B.O 주문 조회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B.O 주문 조회가 앱카드 결제수단과 승인번호 · tid · pgTno를 보여 줘야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정의 [확인필요(마케팅1팀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리포트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결제수단별 매출에서 앱카드를 따로 집계합니다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 정의 [확인필요(마케팅1팀)]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· 상담 취소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B.O · 매장 취소 경로가 승인 취소 ⑤를 부르도록 연결합니다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3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미확인 거래 정리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주기 작업의 실행 이력과 처리 결과(정상 · 취소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실패)를 기록합니다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주기 [확인필요(CJ ONS)]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3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로그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토큰 원문을 남기지 않고 CI 등 개인정보를 가립니다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문의 대응을 위해 요청 전문과 transNo · tid는 추적되게 남깁니다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66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GA4 · 분석 로그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· 가입 판정 · 결제 단계 이벤트를 새로 설계합니다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가입 판정 결과와 만 14세 미만 여부를 넣고, 토큰 원문은 넣지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[확인필요(마케팅1팀)]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결제수단 코드가 B.O 조회 ·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리포트까지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반영돼야 정산 대사가 됩니다</a:t>
            </a:r>
          </a:p>
        </p:txBody>
      </p:sp>
      <p:sp>
        <p:nvSpPr>
          <p:cNvPr id="6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연동 준비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연동을 시작하려면 가맹점 ID와 방화벽부터 준비해야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결제대행사 정보와 메가MGC커피 서버 공인 IP를 핏콜라보에 넘기고, 핏콜라보는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ID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남은 규격 자료를 넘깁니다.</a:t>
            </a:r>
            <a:endParaRPr lang="ko-KR" sz="1300" dirty="0"/>
          </a:p>
        </p:txBody>
      </p:sp>
      <p:graphicFrame>
        <p:nvGraphicFramePr>
          <p:cNvPr id="6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4892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주는 쪽 → 받는 쪽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ID 발급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정보 · 가맹점 번호를 주면 핏콜라보가 storeId를 발급합니다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접근 허용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ONS가 메가MGC커피 서버 → 핏콜라보 서버 방화벽을 엽니다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ONS가 공인 IP 3종(개발 · 스테이징 · 운영 서버)을 알립니다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→ 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 값 관리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 호스트 · 인증 모듈 주소 · 출처 검증 값을 설정값으로 둡니다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남은 자료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코드 전체 목록, 카드관리페이지 API 규격서 v1.0.4를 받습니다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4563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7248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ID는 메가MGC커피가 결제대행사 정보를 넘겨야 발급되므로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준비합니다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4564888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48640" y="4564888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연동 준비 순서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가맹점 ID와 방화벽이 열려야 스테이징 테스트를 시작할 수 있습니다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3232" y="5022088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결제대행사 정보 · 가맹점 번호 전달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21024" y="5022088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가맹점 ID(storeId) 발급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28816" y="5022088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CJ ONS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메가MGC커피 서버 공인 IP 전달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436608" y="5022088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방화벽 허용 · 남은 규격 전달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788920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696712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604504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스테이징 테스트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스테이징도 실제 승인이 나므로 본인 카드로 결제 후 취소합니다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담당자는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카드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카드사 앱에 등록한 iOS · Android 기기로 소액 결제하고, 메가MGC커피가 만든 승인 취소로 정리합니다.</a:t>
            </a:r>
            <a:endParaRPr lang="ko-KR" sz="1300" dirty="0"/>
          </a:p>
        </p:txBody>
      </p:sp>
      <p:graphicFrame>
        <p:nvGraphicFramePr>
          <p:cNvPr id="6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97325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7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신규 가입 · 재로그인, 같은 CI 기존 계정 로그인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비로그인 주문하기 → 로그인 → 주문 이어 가기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새 카드 인증 결제 뒤 다음 결제에서 계정 목록 표시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기존 카드 원클릭, authYN=N일 때 인증 결제 전환, 주문 화면 4종(메가오더 · 함께오더, 퀵오더,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예약, 선물 · 선불카드 구매)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전체 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 생성 실패를 가정한 승인 취소, 거래 상태 조회로 상태 확인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예외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 미설치 → 설치하기 → 스토어 이동 · 복귀(0001)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화면 닫기(0003) · 인증 실패(0002)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 · Android 실기기에서 카드사 9곳 앱 이동 · 복귀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다른 출처 메시지 무시, 결제 버튼 연속 실행 때 중복 요청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0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관리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 열기, 조회 · 등록 · 삭제, 닫은 뒤 메가퀵결제 복귀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4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핏콜라보는 카드사별 실카드 공동 테스트를 지원하며(계획 · 참여 · 로그 확인), 테스트가 끝나면 남은 승인 건을 모두 취소합니다.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 / 87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오픈 전 점검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 전에는 운영 값 전환 4가지를 확인합니다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값이 하나라도 남아 있으면 운영에서 인증 · 결제가 실패하므로, 배포 전에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가지를 모두 확인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· 출처 검증 값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핏콜라보 서버 호스트, 인증 모듈 주소, 메시지 출처 검증 값이 스테이징 값에서 운영 값으로 바뀌었는지 확인합니다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6421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방화벽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464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운영 메가MGC커피 서버 공인 IP가 등록되고 운영 방화벽이 열렸는지 확인합니다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50113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가맹점 정보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80542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운영 가맹점 ID와 결제대행사 정보(pgType · 가맹점 번호)가 운영 값인지 확인합니다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36016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· 무응답 정리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66445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승인 금액과 주문 금액이 같은지, 승인 응답을 못 받은 건 정리가 동작하는지 확인합니다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 / 87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009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277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값이 하나라도 남으면 운영에서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· 결제가 실패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앱 심사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심사에는 앱카드 전 과정 영상과 다른 로그인 계정을 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담당자는 국내 카드사 앱과 본인 명의 카드가 없어 앱카드 로그인 · 결제를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확인할 수 없습니다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· 캡처 제출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인증 모듈 → 카드사 앱 이동 · 인증 → 앱 복귀 → 로그인 · 결제 완료까지의 영상이나 캡처를 냅니다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6421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Store Connect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464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 심사 정보에 영상 · 캡처를 붙이고, 국내 카드사 앱 본인 인증이라 직접 확인할 수 없다고 메모에 적습니다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50113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Console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80542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 액세스 설명에 같은 내용을 적고 영상은 링크로 넣습니다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36016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심사용 계정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66445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앱카드가 아닌 방식으로 로그인할 수 있는 심사용 계정을 함께 냅니다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 / 87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009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277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담당자가 직접 확인할 수 없으므로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과정 영상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다른 로그인 계정을 함께 냅니다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기준 · 핏콜라보 회신 · CJ ONS 확인 · 법무 확인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    정책 기준 5가지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    핏콜라보 회신 대기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    CJ ONS 확인 12건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   법무 확인 7건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 / 87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 · 정책 기준 5가지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· 로그인 유지 · 본인인증 · 결제 확인 · 회원 정책 기준입니다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5가지는 모두 확정된 개발 기준이며, 핏콜라보 확인이 남은 항목은 없습니다.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2" cy="3162681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안 약관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모듈에 메가MGC커피 약관을 넣지 않음(storeTermYN 미사용, termYN=N)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유지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토큰으로 로그인 유지(핏콜라보 토큰 인증 API 미사용)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 가입 때 본인인증 화면에서 앱카드 인증을 고를 수 있게 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KCP 본인인증 건수 감소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결제는 </a:t>
                      </a:r>
                      <a:r>
                        <a:rPr lang="en-US" sz="13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결제로 확인</a:t>
                      </a: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(생체인증 · 비밀번호 미적용)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결제에만 적용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424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앱카드는 신규 가입 수단, CI는 KCP 없이 앱카드 인증으로 받음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있으면 어느 수단으로 들어와도 그 계정으로 로그인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신규 가입은 휴대폰 번호 가입과 같은 가입 판정을 거침(12장)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 14세 미만은 보호자 본인인증 · 동의 뒤 가입(13장)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재가입 제한 · 결제수단 기억은 현행 정책을 CI 기준으로 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앱에 CI 미보유 기존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 · 로그인과 본인인증 화면 모두 KCP를 거치지 않아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인증 수수료가 줄어듭니다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 · 핏콜라보 회신 대기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회신 중에는 결제대행사 승인 등록 방식이 가장 급합니다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 3건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설계를 막는 항목이고, 2 · 3순위는 개발 중에 받아도 되는 항목입니다.</a:t>
            </a:r>
            <a:endParaRPr lang="ko-KR" sz="1300" dirty="0"/>
          </a:p>
        </p:txBody>
      </p:sp>
      <p:graphicFrame>
        <p:nvGraphicFramePr>
          <p:cNvPr id="7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4817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5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핏콜라보에 받을 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pgType에 CJ ONS(OnePG) 추가 일정과 승인 등록 연동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카드관리페이지 API 규격서 v1.0.4 원본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개정 규격서(storeUserNo · userName 선택), CI 단독 조회 때 CI 보관 방식, 응답 성별 · 이메일 · di 제외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 범위를 연동 가이드 기준으로 맞춘 공수 재제시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만료 1200이 인증 모듈 2.1.2에서도 유지되는지, tid 유효시간 수치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코드 전체 목록, 원클릭 추가 판단 조건(CI 일치 외), 일시불 instType 고정값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 응답의 카드 표시값, 선불카드(상품권) 구매 제한, 승인 세액의 비과세(컵 보증금) 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API 이름의 목록 · 본문 불일치, 1200 · 1500 의미 불일치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규격 1.2.8의 카드사 앱 목록 갱신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회원 탈퇴 때 앱카드 계정 처리, 고객의 앱카드 해지 방법, 하이브리드 Webview의 deviceType 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pgType CJ ONS 추가 회신이 늦으면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연동 일정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전체가 밀립니다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 · CJ ONS 확인 12건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ONS는 현행 앱 기능 · 데이터 구조와 OnePG 범위를 확인해야 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ONS의 답에 따라 앱 작업량과 결제대행사 작업 범위가 달라지므로,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공수 재산정 전에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먼저 받습니다.</a:t>
            </a:r>
            <a:endParaRPr lang="ko-KR" sz="1300" dirty="0"/>
          </a:p>
        </p:txBody>
      </p:sp>
      <p:graphicFrame>
        <p:nvGraphicFramePr>
          <p:cNvPr id="7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80556"/>
        </p:xfrm>
        <a:graphic>
          <a:graphicData uri="http://schemas.openxmlformats.org/drawingml/2006/table">
            <a:tbl>
              <a:tblPr/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답에 따라 달라지는 것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카드사 앱 주소 이동을 가로채는지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없으면 iOS · Android에 가로채기 처리를 더합니다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등록 카드사 앱 목록, 카드사 추가 때 갱신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 국민 · 삼성 · 현대, Android 삼성 · 우리의 신규 등록 여부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일부 취소 · 에이전트 자동 취소의 결제 취소 연결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다인 선물 취소 방식, 자동 취소 때 승인 취소 ⑤ 호출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비로그인 주문 중 로그인 뒤 주문 복귀 기능이 있는지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없으면 앱 · 웹에 복귀 기능을 새로 만듭니다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쪽 결제대행사 중계 API 구현이 필요한지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작업 범위와 공수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미확인 거래 주기 작업의 실행 간격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미확인 거래가 정리되기까지 걸리는 시간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 개선(같은 CI 로그인), 같은 CI 복수 계정 여부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 방식 · 공수, 복수 계정이면 계정 선택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결제 데이터 저장 위치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유형 값, tid · pgTno 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복합 결제 금액 · 취소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 · 금액권 · 선불카드와 앱카드 취소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앱카드 선택 공수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화면에 앱카드 인증을 넣는 작업량(공수 재산정에 포함)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KCP 생략 · 가입 판정에 앱카드 인증 값 연결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오프라인 스탬프 · 휴대폰번호 · 만 14세 판정 재사용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521236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로그인의 회원 테이블 반영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유형 값, 로그인유형코드 추가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17475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 / 87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 · 법무 확인 7건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법무팀은 개인정보 · 원클릭 책임 · 해지권 등 7가지를 봐야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번호는 검토 요청 대상이며, 적용 여부는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법무팀이 판단합니다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[확인필요(법무팀)].</a:t>
            </a:r>
            <a:endParaRPr lang="ko-KR" sz="1300" dirty="0"/>
          </a:p>
        </p:txBody>
      </p:sp>
      <p:graphicFrame>
        <p:nvGraphicFramePr>
          <p:cNvPr id="7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23208"/>
        </p:xfrm>
        <a:graphic>
          <a:graphicData uri="http://schemas.openxmlformats.org/drawingml/2006/table">
            <a:tbl>
              <a:tblPr/>
              <a:tblGrid>
                <a:gridCol w="749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요청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근거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계정을 CI로만 조회할 때 핏콜라보 CI 보관과 계약 별표2(즉시 파기)의 정합성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별표2, 간편결제 6.2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응답의 성별 · 이메일(계약 제외 항목) 처리, 생년월일을 만 14세 판정에만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별표2, 로그인 6.3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인증 생략 결제의 부정사용 책임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전자금융거래법 제9조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페이지가 해지 · 약관 재표시를 제공하지 않는 점과 이용자 해지권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전자금융거래법 제24조 취지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인증 CI로 본인인증을 갈음할 근거(본인확인기관 여부)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정보통신망법 제23조의3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 가입: 동의 전 아동 정보 미저장, 보호자 정보 저장 범위 · 파기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보호법 제22조의2 ·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위치정보법 제25조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인증만으로 결제 계정이 자동 등록되는 점의 고객 동의 범위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약관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적용 여부는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 판단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받은 뒤 공유용 자료에 반영합니다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불일치, 용어, 통합 플로우 · 프로세스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    문서 간 불일치 ①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    문서 간 불일치 ②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    용어 ① 화면 · 구성 요소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    용어 ② 거래번호 · 식별값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 / 87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    통합 플로우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    통합 프로세스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문서 간 불일치 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 ① API 이름 · 코드 · 범위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이름 · 코드 의미 · 결제 범위 · 할부는 문서마다 달라, 규격 본문과 연동 가이드를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적용 기준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개발합니다.</a:t>
            </a:r>
          </a:p>
        </p:txBody>
      </p:sp>
      <p:graphicFrame>
        <p:nvGraphicFramePr>
          <p:cNvPr id="7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72008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API 이름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1.3.6 목록: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getPayCardInfos.mv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본문 · 연동 가이드: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getPayCardInfo.mv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본문 getPayCardInfo.mv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2.0.4 · 연동 요약서: transNo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만료(5분)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1.2.8: tid 조회 실패, 인증 모듈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2.1.2: 기재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만료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[확인필요(핏콜라보)]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1500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1.2.8: 인증 뒤 3분 초과 조회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2.0.4: 다른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1.2.8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 범위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공수 검토의견: 핏콜라보 연동 4개 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가이드: 결제 5종 + 상태 조회 +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적재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가이드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번호 조회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공수 검토의견: 해당 API 없음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중계 규격: 결제대행사가 만드는 5종에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범위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요약서: 할부 조회 · UI 조건부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Flipbook: 일시불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일시불(installment "00")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0491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3176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적용 기준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먼저 개발하고, 핏콜라보 회신이 오면 이 표를 고칩니다</a:t>
            </a:r>
          </a:p>
        </p:txBody>
      </p:sp>
      <p:sp>
        <p:nvSpPr>
          <p:cNvPr id="7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문서 간 불일치 ②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 ② 정책 · 값 · 표기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deviceType · 회원 구조 등은 정책 판단이나 현행 확인이 끝나야 적용 기준을 확정합니다.</a:t>
            </a:r>
          </a:p>
        </p:txBody>
      </p:sp>
      <p:graphicFrame>
        <p:nvGraphicFramePr>
          <p:cNvPr id="7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595241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목록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1.2.8 6.2.5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 6장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예제: 3(AOS Web)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가이드 예시: 2(iOS App)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하이브리드는 2 · 4로 보임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[확인필요(핏콜라보 · CJ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ONS)]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별표2: 위탁 CI만, 제공 5항목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규격: 결제 storeUserNo · userName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(선택), 로그인 gender · email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결제는 CI만 전송,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 · email 미저장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주문 결제수단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프로그램 목록: 일반 결제만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 MGC_ORD_132 · 133: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카드 표기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Flipbook 화면 2: 앱카드 빠른결제 계정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Flipbook 화면 3: 앱카드 퀵결제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[확인필요(마케팅1팀)]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업체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백로그 · 화면설계서 화면명: NICE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외부IF리스트 · 화면설계서 설명: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KCP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KCP(현행 CI 인증)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재가입 기간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구조 안내: 1개월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 알럿: 30일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화면설계서: 휴대폰 계정에 SNS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추가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구조 안내: 회원마다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로그인유형코드 1개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미수령 폐기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요약서: 사전예약 폐기 취소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화면설계서: 결제금액 환불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환불 없음(취소 미요청)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 / 87</a:t>
            </a:r>
          </a:p>
        </p:txBody>
      </p:sp>
      <p:sp>
        <p:nvSpPr>
          <p:cNvPr id="7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용어 ① 화면 · 구성 요소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① 화면과 구성 요소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Native 로그인 버튼과 Webview 화면 · 공통 웹 컴포넌트를 만들고,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카드관리 페이지는 핏콜라보가 줍니다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7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824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네이티브 화면으로, 로그인 수단 선택 · 전체메뉴 · 홈이 해당합니다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안에서 여는 웹 화면으로, 브릿지 페이지 · 본인인증 · 약관 · 주문하기 · 주문 결과 · 메가퀵결제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페이지가 해당합니다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로그인 버튼이 여는 Webview 페이지이며, 공통 웹 컴포넌트를 담아 인증 모듈을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띄웁니다(메가MGC커피 개발)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호출 · 결과 수신 · 출처 검증 · 포커스 수신 · 메가MGC커피 서버 호출을 담은 공통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스크립트입니다(메가MGC커피 개발)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주는 카드사 선택 · 약관 동의 · 카드사 앱 인증 웹 페이지(화면 1_2)입니다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주는 앱카드 조회 · 등록 · 삭제 웹 페이지입니다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메가MGC커피의 현행 결제대행사 등록 간편결제이며, 전체메뉴 &gt; 결제에서 관리합니다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ONS가 운영하는 결제대행사(PG)입니다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수단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인증으로 가입 · 로그인하는 수단(CI는 KCP 없이 받고, 신규 가입은 12장 판정을 따름)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 / 87</a:t>
            </a:r>
          </a:p>
        </p:txBody>
      </p:sp>
      <p:sp>
        <p:nvSpPr>
          <p:cNvPr id="8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용어 ② 거래번호 · 식별값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② 거래번호 · 토큰 · 식별값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거래번호(transNo)와 결제 거래번호(tid)는 발급 API · 길이 · 토큰이 다르고,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토큰은 메가MGC커피 서버만 보관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</a:p>
        </p:txBody>
      </p:sp>
      <p:graphicFrame>
        <p:nvGraphicFramePr>
          <p:cNvPr id="8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31333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7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token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 거래번호(16자)와 함께 받는 1회용 토큰(32자)이며, token은 메가MGC커피 서버만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reqToken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거래번호(20자)와 함께 받는 토큰(64자)이며, reqToken은 메가MGC커피 서버만 보관합니다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 응답으로, Y는 인증 없이 승인(원클릭), N은 인증 뒤 승인입니다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보내는 카드 구분으로, 0은 기존 카드, 1은 새 카드입니다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 · userNo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간편결제 계정 ID와 간편결제 회원번호이며, 기존 카드 결제에 필요합니다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 · storeUserNo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storeId는 핏콜라보가 발급한 가맹점 ID이고, storeUserNo(회원번호)는 보내지 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 · pgTno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승인번호와 결제대행사 거래번호이며, approvalNo는 승인 취소에 꼭 필요합니다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본인확인 연계정보로, 회원을 찾고 앱카드 계정을 조회하는 유일한 회원 식별값입니다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 · tid만 Webview로 넘기고, token · reqToken은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서버에만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둡니다</a:t>
            </a:r>
          </a:p>
        </p:txBody>
      </p:sp>
      <p:sp>
        <p:nvSpPr>
          <p:cNvPr id="8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통합 플로우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· 로그인부터 결제 완료까지 고객 행동과 판단 순서입니다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고객은 앱카드 인증으로 로그인한 뒤 같은 주문으로 돌아가고, 결제는 authYN(인증 필요 여부)에 따라 승인됩니다.</a:t>
            </a:r>
          </a:p>
        </p:txBody>
      </p:sp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 / 87</a:t>
            </a:r>
          </a:p>
        </p:txBody>
      </p:sp>
      <p:sp>
        <p:nvSpPr>
          <p:cNvPr id="8" name="범례"/>
          <p:cNvSpPr txBox="1"/>
          <p:nvPr/>
        </p:nvSpPr>
        <p:spPr>
          <a:xfrm>
            <a:off x="10954512" y="365760"/>
            <a:ext cx="6858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고객 안내</a:t>
            </a:r>
          </a:p>
        </p:txBody>
      </p:sp>
      <p:sp>
        <p:nvSpPr>
          <p:cNvPr id="9" name="도식 상자"/>
          <p:cNvSpPr/>
          <p:nvPr/>
        </p:nvSpPr>
        <p:spPr>
          <a:xfrm>
            <a:off x="10625328" y="384048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0" name="범례"/>
          <p:cNvSpPr txBox="1"/>
          <p:nvPr/>
        </p:nvSpPr>
        <p:spPr>
          <a:xfrm>
            <a:off x="10149840" y="365760"/>
            <a:ext cx="36576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1" name="도식 상자"/>
          <p:cNvSpPr/>
          <p:nvPr/>
        </p:nvSpPr>
        <p:spPr>
          <a:xfrm>
            <a:off x="9820656" y="384048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2" name="범례"/>
          <p:cNvSpPr txBox="1"/>
          <p:nvPr/>
        </p:nvSpPr>
        <p:spPr>
          <a:xfrm>
            <a:off x="9345168" y="365760"/>
            <a:ext cx="36576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13" name="도식 상자"/>
          <p:cNvSpPr/>
          <p:nvPr/>
        </p:nvSpPr>
        <p:spPr>
          <a:xfrm>
            <a:off x="9015984" y="384048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4" name="범례"/>
          <p:cNvSpPr txBox="1"/>
          <p:nvPr/>
        </p:nvSpPr>
        <p:spPr>
          <a:xfrm>
            <a:off x="8220456" y="365760"/>
            <a:ext cx="6858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시작 · 끝</a:t>
            </a:r>
          </a:p>
        </p:txBody>
      </p:sp>
      <p:sp>
        <p:nvSpPr>
          <p:cNvPr id="15" name="도식 상자"/>
          <p:cNvSpPr/>
          <p:nvPr/>
        </p:nvSpPr>
        <p:spPr>
          <a:xfrm>
            <a:off x="7891272" y="384048"/>
            <a:ext cx="274320" cy="164592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6" name="구역 이름"/>
          <p:cNvSpPr txBox="1"/>
          <p:nvPr/>
        </p:nvSpPr>
        <p:spPr>
          <a:xfrm>
            <a:off x="548640" y="1755648"/>
            <a:ext cx="36576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· 로그인</a:t>
            </a:r>
          </a:p>
        </p:txBody>
      </p:sp>
      <p:sp>
        <p:nvSpPr>
          <p:cNvPr id="17" name="도식 상자"/>
          <p:cNvSpPr/>
          <p:nvPr/>
        </p:nvSpPr>
        <p:spPr>
          <a:xfrm>
            <a:off x="548640" y="2112264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선택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비로그인 고객</a:t>
            </a:r>
          </a:p>
        </p:txBody>
      </p:sp>
      <p:sp>
        <p:nvSpPr>
          <p:cNvPr id="18" name="도식 상자"/>
          <p:cNvSpPr/>
          <p:nvPr/>
        </p:nvSpPr>
        <p:spPr>
          <a:xfrm>
            <a:off x="2168652" y="2112264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 계속하기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브릿지 페이지 열기</a:t>
            </a:r>
          </a:p>
        </p:txBody>
      </p:sp>
      <p:sp>
        <p:nvSpPr>
          <p:cNvPr id="19" name="도식 상자"/>
          <p:cNvSpPr/>
          <p:nvPr/>
        </p:nvSpPr>
        <p:spPr>
          <a:xfrm>
            <a:off x="3788664" y="2112264"/>
            <a:ext cx="1371600" cy="566928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거래번호 발급 ①</a:t>
            </a:r>
          </a:p>
        </p:txBody>
      </p:sp>
      <p:sp>
        <p:nvSpPr>
          <p:cNvPr id="20" name="도식 상자"/>
          <p:cNvSpPr/>
          <p:nvPr/>
        </p:nvSpPr>
        <p:spPr>
          <a:xfrm>
            <a:off x="5408676" y="2112264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인증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뒤 앱 복귀</a:t>
            </a:r>
          </a:p>
        </p:txBody>
      </p:sp>
      <p:sp>
        <p:nvSpPr>
          <p:cNvPr id="21" name="도식 상자"/>
          <p:cNvSpPr/>
          <p:nvPr/>
        </p:nvSpPr>
        <p:spPr>
          <a:xfrm>
            <a:off x="7028688" y="2039112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22" name="도식 상자"/>
          <p:cNvSpPr/>
          <p:nvPr/>
        </p:nvSpPr>
        <p:spPr>
          <a:xfrm>
            <a:off x="8648700" y="2039112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계정?</a:t>
            </a:r>
          </a:p>
        </p:txBody>
      </p:sp>
      <p:sp>
        <p:nvSpPr>
          <p:cNvPr id="23" name="도식 상자"/>
          <p:cNvSpPr/>
          <p:nvPr/>
        </p:nvSpPr>
        <p:spPr>
          <a:xfrm>
            <a:off x="10268712" y="2112264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결과 조회 ②</a:t>
            </a:r>
          </a:p>
        </p:txBody>
      </p:sp>
      <p:cxnSp>
        <p:nvCxnSpPr>
          <p:cNvPr id="24" name="도식 연결선"/>
          <p:cNvCxnSpPr/>
          <p:nvPr/>
        </p:nvCxnSpPr>
        <p:spPr>
          <a:xfrm>
            <a:off x="1920240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도식 연결선"/>
          <p:cNvCxnSpPr/>
          <p:nvPr/>
        </p:nvCxnSpPr>
        <p:spPr>
          <a:xfrm>
            <a:off x="3540252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도식 연결선"/>
          <p:cNvCxnSpPr/>
          <p:nvPr/>
        </p:nvCxnSpPr>
        <p:spPr>
          <a:xfrm>
            <a:off x="5160264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도식 연결선"/>
          <p:cNvCxnSpPr/>
          <p:nvPr/>
        </p:nvCxnSpPr>
        <p:spPr>
          <a:xfrm>
            <a:off x="6780276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도식 연결선"/>
          <p:cNvCxnSpPr/>
          <p:nvPr/>
        </p:nvCxnSpPr>
        <p:spPr>
          <a:xfrm>
            <a:off x="8400288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도식 연결선"/>
          <p:cNvCxnSpPr/>
          <p:nvPr/>
        </p:nvCxnSpPr>
        <p:spPr>
          <a:xfrm>
            <a:off x="10020300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분기 이름"/>
          <p:cNvSpPr txBox="1"/>
          <p:nvPr/>
        </p:nvSpPr>
        <p:spPr>
          <a:xfrm>
            <a:off x="8418576" y="2176272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31" name="분기 이름"/>
          <p:cNvSpPr txBox="1"/>
          <p:nvPr/>
        </p:nvSpPr>
        <p:spPr>
          <a:xfrm>
            <a:off x="10038588" y="2176272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32" name="도식 상자"/>
          <p:cNvSpPr/>
          <p:nvPr/>
        </p:nvSpPr>
        <p:spPr>
          <a:xfrm>
            <a:off x="7028688" y="324612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로그인 수단 선택으로</a:t>
            </a:r>
          </a:p>
        </p:txBody>
      </p:sp>
      <p:sp>
        <p:nvSpPr>
          <p:cNvPr id="33" name="도식 상자"/>
          <p:cNvSpPr/>
          <p:nvPr/>
        </p:nvSpPr>
        <p:spPr>
          <a:xfrm>
            <a:off x="8648700" y="3246120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판정(12장)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KCP 생략 · 약관 동의</a:t>
            </a:r>
          </a:p>
        </p:txBody>
      </p:sp>
      <p:sp>
        <p:nvSpPr>
          <p:cNvPr id="34" name="도식 상자"/>
          <p:cNvSpPr/>
          <p:nvPr/>
        </p:nvSpPr>
        <p:spPr>
          <a:xfrm>
            <a:off x="10268712" y="3246120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로그인 완료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메가MGC커피 토큰 발급</a:t>
            </a:r>
          </a:p>
        </p:txBody>
      </p:sp>
      <p:cxnSp>
        <p:nvCxnSpPr>
          <p:cNvPr id="35" name="도식 연결선"/>
          <p:cNvCxnSpPr/>
          <p:nvPr/>
        </p:nvCxnSpPr>
        <p:spPr>
          <a:xfrm>
            <a:off x="7714488" y="2752344"/>
            <a:ext cx="0" cy="493776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분기 이름"/>
          <p:cNvSpPr txBox="1"/>
          <p:nvPr/>
        </p:nvSpPr>
        <p:spPr>
          <a:xfrm>
            <a:off x="7760208" y="2752344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7" name="도식 연결선"/>
          <p:cNvCxnSpPr/>
          <p:nvPr/>
        </p:nvCxnSpPr>
        <p:spPr>
          <a:xfrm>
            <a:off x="9334500" y="2752344"/>
            <a:ext cx="0" cy="493776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분기 이름"/>
          <p:cNvSpPr txBox="1"/>
          <p:nvPr/>
        </p:nvSpPr>
        <p:spPr>
          <a:xfrm>
            <a:off x="9380220" y="2752344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9" name="도식 연결선"/>
          <p:cNvCxnSpPr/>
          <p:nvPr/>
        </p:nvCxnSpPr>
        <p:spPr>
          <a:xfrm>
            <a:off x="10020300" y="3483863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도식 연결선"/>
          <p:cNvCxnSpPr/>
          <p:nvPr/>
        </p:nvCxnSpPr>
        <p:spPr>
          <a:xfrm>
            <a:off x="10954512" y="2679192"/>
            <a:ext cx="0" cy="566928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구역 이름"/>
          <p:cNvSpPr txBox="1"/>
          <p:nvPr/>
        </p:nvSpPr>
        <p:spPr>
          <a:xfrm>
            <a:off x="548640" y="3767328"/>
            <a:ext cx="36576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</a:t>
            </a:r>
          </a:p>
        </p:txBody>
      </p:sp>
      <p:sp>
        <p:nvSpPr>
          <p:cNvPr id="42" name="도식 상자"/>
          <p:cNvSpPr/>
          <p:nvPr/>
        </p:nvSpPr>
        <p:spPr>
          <a:xfrm>
            <a:off x="10268712" y="4178808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복귀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계정 목록 조회 ①</a:t>
            </a:r>
          </a:p>
        </p:txBody>
      </p:sp>
      <p:cxnSp>
        <p:nvCxnSpPr>
          <p:cNvPr id="43" name="도식 연결선"/>
          <p:cNvCxnSpPr/>
          <p:nvPr/>
        </p:nvCxnSpPr>
        <p:spPr>
          <a:xfrm>
            <a:off x="10954512" y="3721608"/>
            <a:ext cx="0" cy="45720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도식 상자"/>
          <p:cNvSpPr/>
          <p:nvPr/>
        </p:nvSpPr>
        <p:spPr>
          <a:xfrm>
            <a:off x="8648700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카드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선택?</a:t>
            </a:r>
          </a:p>
        </p:txBody>
      </p:sp>
      <p:sp>
        <p:nvSpPr>
          <p:cNvPr id="45" name="도식 상자"/>
          <p:cNvSpPr/>
          <p:nvPr/>
        </p:nvSpPr>
        <p:spPr>
          <a:xfrm>
            <a:off x="7028688" y="4178808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밀어서 결제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 거래번호 발급 ②</a:t>
            </a:r>
          </a:p>
        </p:txBody>
      </p:sp>
      <p:sp>
        <p:nvSpPr>
          <p:cNvPr id="46" name="도식 상자"/>
          <p:cNvSpPr/>
          <p:nvPr/>
        </p:nvSpPr>
        <p:spPr>
          <a:xfrm>
            <a:off x="5408676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authYN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= Y?</a:t>
            </a:r>
          </a:p>
        </p:txBody>
      </p:sp>
      <p:sp>
        <p:nvSpPr>
          <p:cNvPr id="47" name="도식 상자"/>
          <p:cNvSpPr/>
          <p:nvPr/>
        </p:nvSpPr>
        <p:spPr>
          <a:xfrm>
            <a:off x="3788664" y="4178808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무응답은 상태 조회 ⑥</a:t>
            </a:r>
          </a:p>
        </p:txBody>
      </p:sp>
      <p:sp>
        <p:nvSpPr>
          <p:cNvPr id="48" name="도식 상자"/>
          <p:cNvSpPr/>
          <p:nvPr/>
        </p:nvSpPr>
        <p:spPr>
          <a:xfrm>
            <a:off x="2168652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생성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49" name="도식 상자"/>
          <p:cNvSpPr/>
          <p:nvPr/>
        </p:nvSpPr>
        <p:spPr>
          <a:xfrm>
            <a:off x="548640" y="4178808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결과 화면</a:t>
            </a:r>
          </a:p>
        </p:txBody>
      </p:sp>
      <p:cxnSp>
        <p:nvCxnSpPr>
          <p:cNvPr id="50" name="도식 연결선"/>
          <p:cNvCxnSpPr/>
          <p:nvPr/>
        </p:nvCxnSpPr>
        <p:spPr>
          <a:xfrm flipH="1">
            <a:off x="10020300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도식 연결선"/>
          <p:cNvCxnSpPr/>
          <p:nvPr/>
        </p:nvCxnSpPr>
        <p:spPr>
          <a:xfrm flipH="1">
            <a:off x="8400288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도식 연결선"/>
          <p:cNvCxnSpPr/>
          <p:nvPr/>
        </p:nvCxnSpPr>
        <p:spPr>
          <a:xfrm flipH="1">
            <a:off x="6780276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도식 연결선"/>
          <p:cNvCxnSpPr/>
          <p:nvPr/>
        </p:nvCxnSpPr>
        <p:spPr>
          <a:xfrm flipH="1">
            <a:off x="5160264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도식 연결선"/>
          <p:cNvCxnSpPr/>
          <p:nvPr/>
        </p:nvCxnSpPr>
        <p:spPr>
          <a:xfrm flipH="1">
            <a:off x="3540252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도식 연결선"/>
          <p:cNvCxnSpPr/>
          <p:nvPr/>
        </p:nvCxnSpPr>
        <p:spPr>
          <a:xfrm flipH="1">
            <a:off x="1920240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분기 이름"/>
          <p:cNvSpPr txBox="1"/>
          <p:nvPr/>
        </p:nvSpPr>
        <p:spPr>
          <a:xfrm>
            <a:off x="8465820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7" name="분기 이름"/>
          <p:cNvSpPr txBox="1"/>
          <p:nvPr/>
        </p:nvSpPr>
        <p:spPr>
          <a:xfrm>
            <a:off x="5225796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8" name="분기 이름"/>
          <p:cNvSpPr txBox="1"/>
          <p:nvPr/>
        </p:nvSpPr>
        <p:spPr>
          <a:xfrm>
            <a:off x="1985772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9" name="도식 상자"/>
          <p:cNvSpPr/>
          <p:nvPr/>
        </p:nvSpPr>
        <p:spPr>
          <a:xfrm>
            <a:off x="8648700" y="5285232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선택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payType 1(새 카드)</a:t>
            </a:r>
          </a:p>
        </p:txBody>
      </p:sp>
      <p:cxnSp>
        <p:nvCxnSpPr>
          <p:cNvPr id="60" name="도식 연결선"/>
          <p:cNvCxnSpPr/>
          <p:nvPr/>
        </p:nvCxnSpPr>
        <p:spPr>
          <a:xfrm>
            <a:off x="9334500" y="4818888"/>
            <a:ext cx="0" cy="46634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분기 이름"/>
          <p:cNvSpPr txBox="1"/>
          <p:nvPr/>
        </p:nvSpPr>
        <p:spPr>
          <a:xfrm>
            <a:off x="9380220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62" name="도식 연결선"/>
          <p:cNvCxnSpPr/>
          <p:nvPr/>
        </p:nvCxnSpPr>
        <p:spPr>
          <a:xfrm flipH="1">
            <a:off x="7714488" y="5522976"/>
            <a:ext cx="934212" cy="0"/>
          </a:xfrm>
          <a:prstGeom prst="line">
            <a:avLst/>
          </a:prstGeom>
          <a:ln w="15875">
            <a:solidFill>
              <a:srgbClr val="7A6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도식 연결선"/>
          <p:cNvCxnSpPr/>
          <p:nvPr/>
        </p:nvCxnSpPr>
        <p:spPr>
          <a:xfrm flipV="1">
            <a:off x="7714488" y="4745736"/>
            <a:ext cx="0" cy="77724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도식 상자"/>
          <p:cNvSpPr/>
          <p:nvPr/>
        </p:nvSpPr>
        <p:spPr>
          <a:xfrm>
            <a:off x="5408676" y="5285232"/>
            <a:ext cx="1371600" cy="475488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 인증 결과 조회 ③</a:t>
            </a:r>
          </a:p>
        </p:txBody>
      </p:sp>
      <p:cxnSp>
        <p:nvCxnSpPr>
          <p:cNvPr id="65" name="도식 연결선"/>
          <p:cNvCxnSpPr/>
          <p:nvPr/>
        </p:nvCxnSpPr>
        <p:spPr>
          <a:xfrm>
            <a:off x="6094476" y="4818888"/>
            <a:ext cx="0" cy="46634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분기 이름"/>
          <p:cNvSpPr txBox="1"/>
          <p:nvPr/>
        </p:nvSpPr>
        <p:spPr>
          <a:xfrm>
            <a:off x="6140196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67" name="도식 연결선"/>
          <p:cNvCxnSpPr/>
          <p:nvPr/>
        </p:nvCxnSpPr>
        <p:spPr>
          <a:xfrm flipH="1">
            <a:off x="4474464" y="5522976"/>
            <a:ext cx="934212" cy="0"/>
          </a:xfrm>
          <a:prstGeom prst="line">
            <a:avLst/>
          </a:prstGeom>
          <a:ln w="15875">
            <a:solidFill>
              <a:srgbClr val="7A6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도식 연결선"/>
          <p:cNvCxnSpPr/>
          <p:nvPr/>
        </p:nvCxnSpPr>
        <p:spPr>
          <a:xfrm flipV="1">
            <a:off x="4474464" y="4745736"/>
            <a:ext cx="0" cy="77724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도식 상자"/>
          <p:cNvSpPr/>
          <p:nvPr/>
        </p:nvSpPr>
        <p:spPr>
          <a:xfrm>
            <a:off x="2168652" y="5285232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취소 ⑤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 실패 안내</a:t>
            </a:r>
          </a:p>
        </p:txBody>
      </p:sp>
      <p:cxnSp>
        <p:nvCxnSpPr>
          <p:cNvPr id="70" name="도식 연결선"/>
          <p:cNvCxnSpPr/>
          <p:nvPr/>
        </p:nvCxnSpPr>
        <p:spPr>
          <a:xfrm>
            <a:off x="2854452" y="4818888"/>
            <a:ext cx="0" cy="46634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분기 이름"/>
          <p:cNvSpPr txBox="1"/>
          <p:nvPr/>
        </p:nvSpPr>
        <p:spPr>
          <a:xfrm>
            <a:off x="2900172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sp>
        <p:nvSpPr>
          <p:cNvPr id="72" name="본문"/>
          <p:cNvSpPr txBox="1"/>
          <p:nvPr/>
        </p:nvSpPr>
        <p:spPr>
          <a:xfrm>
            <a:off x="548640" y="5897880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로그인 고객은 결제 구역의 주문하기 복귀부터 시작하고, 승인 ④는 응답이 없어도 다시 부르지 않습니다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통합 프로세스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· 로그인부터 결제 완료까지 시스템별 처리와 데이터 흐름입니다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핏콜라보 API를 모두 부르고, Webview는 거래번호만 받아 인증 모듈을 띄웁니다.</a:t>
            </a:r>
          </a:p>
        </p:txBody>
      </p:sp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 / 87</a:t>
            </a:r>
          </a:p>
        </p:txBody>
      </p:sp>
      <p:sp>
        <p:nvSpPr>
          <p:cNvPr id="8" name="도식 상자"/>
          <p:cNvSpPr/>
          <p:nvPr/>
        </p:nvSpPr>
        <p:spPr>
          <a:xfrm>
            <a:off x="1746504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 로그인 요청</a:t>
            </a:r>
          </a:p>
        </p:txBody>
      </p:sp>
      <p:cxnSp>
        <p:nvCxnSpPr>
          <p:cNvPr id="9" name="도식 연결선"/>
          <p:cNvCxnSpPr/>
          <p:nvPr/>
        </p:nvCxnSpPr>
        <p:spPr>
          <a:xfrm>
            <a:off x="2880360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도식 상자"/>
          <p:cNvSpPr/>
          <p:nvPr/>
        </p:nvSpPr>
        <p:spPr>
          <a:xfrm>
            <a:off x="2990088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 카드사 인증</a:t>
            </a:r>
          </a:p>
        </p:txBody>
      </p:sp>
      <p:cxnSp>
        <p:nvCxnSpPr>
          <p:cNvPr id="11" name="도식 연결선"/>
          <p:cNvCxnSpPr/>
          <p:nvPr/>
        </p:nvCxnSpPr>
        <p:spPr>
          <a:xfrm>
            <a:off x="4123944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도식 상자"/>
          <p:cNvSpPr/>
          <p:nvPr/>
        </p:nvSpPr>
        <p:spPr>
          <a:xfrm>
            <a:off x="4233672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 인증 결과</a:t>
            </a:r>
          </a:p>
        </p:txBody>
      </p:sp>
      <p:cxnSp>
        <p:nvCxnSpPr>
          <p:cNvPr id="13" name="도식 연결선"/>
          <p:cNvCxnSpPr/>
          <p:nvPr/>
        </p:nvCxnSpPr>
        <p:spPr>
          <a:xfrm>
            <a:off x="5367528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도식 상자"/>
          <p:cNvSpPr/>
          <p:nvPr/>
        </p:nvSpPr>
        <p:spPr>
          <a:xfrm>
            <a:off x="5477255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 계정 연결</a:t>
            </a:r>
          </a:p>
        </p:txBody>
      </p:sp>
      <p:cxnSp>
        <p:nvCxnSpPr>
          <p:cNvPr id="15" name="도식 연결선"/>
          <p:cNvCxnSpPr/>
          <p:nvPr/>
        </p:nvCxnSpPr>
        <p:spPr>
          <a:xfrm>
            <a:off x="6611112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도식 상자"/>
          <p:cNvSpPr/>
          <p:nvPr/>
        </p:nvSpPr>
        <p:spPr>
          <a:xfrm>
            <a:off x="6720840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 결제수단 표시</a:t>
            </a:r>
          </a:p>
        </p:txBody>
      </p:sp>
      <p:cxnSp>
        <p:nvCxnSpPr>
          <p:cNvPr id="17" name="도식 연결선"/>
          <p:cNvCxnSpPr/>
          <p:nvPr/>
        </p:nvCxnSpPr>
        <p:spPr>
          <a:xfrm>
            <a:off x="7854696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도식 상자"/>
          <p:cNvSpPr/>
          <p:nvPr/>
        </p:nvSpPr>
        <p:spPr>
          <a:xfrm>
            <a:off x="7964424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 결제 요청</a:t>
            </a:r>
          </a:p>
        </p:txBody>
      </p:sp>
      <p:cxnSp>
        <p:nvCxnSpPr>
          <p:cNvPr id="19" name="도식 연결선"/>
          <p:cNvCxnSpPr/>
          <p:nvPr/>
        </p:nvCxnSpPr>
        <p:spPr>
          <a:xfrm>
            <a:off x="9098280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도식 상자"/>
          <p:cNvSpPr/>
          <p:nvPr/>
        </p:nvSpPr>
        <p:spPr>
          <a:xfrm>
            <a:off x="9208008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 인증 결제</a:t>
            </a:r>
          </a:p>
        </p:txBody>
      </p:sp>
      <p:cxnSp>
        <p:nvCxnSpPr>
          <p:cNvPr id="21" name="도식 연결선"/>
          <p:cNvCxnSpPr/>
          <p:nvPr/>
        </p:nvCxnSpPr>
        <p:spPr>
          <a:xfrm>
            <a:off x="10341864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도식 상자"/>
          <p:cNvSpPr/>
          <p:nvPr/>
        </p:nvSpPr>
        <p:spPr>
          <a:xfrm>
            <a:off x="10451592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 승인 · 완료</a:t>
            </a:r>
          </a:p>
        </p:txBody>
      </p:sp>
      <p:sp>
        <p:nvSpPr>
          <p:cNvPr id="23" name="레인"/>
          <p:cNvSpPr/>
          <p:nvPr/>
        </p:nvSpPr>
        <p:spPr>
          <a:xfrm>
            <a:off x="548640" y="228600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4" name="레인 이름"/>
          <p:cNvSpPr/>
          <p:nvPr/>
        </p:nvSpPr>
        <p:spPr>
          <a:xfrm>
            <a:off x="548640" y="228600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고객 · Native</a:t>
            </a:r>
          </a:p>
        </p:txBody>
      </p:sp>
      <p:sp>
        <p:nvSpPr>
          <p:cNvPr id="25" name="레인"/>
          <p:cNvSpPr/>
          <p:nvPr/>
        </p:nvSpPr>
        <p:spPr>
          <a:xfrm>
            <a:off x="548640" y="301752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6" name="레인 이름"/>
          <p:cNvSpPr/>
          <p:nvPr/>
        </p:nvSpPr>
        <p:spPr>
          <a:xfrm>
            <a:off x="548640" y="301752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</p:txBody>
      </p:sp>
      <p:sp>
        <p:nvSpPr>
          <p:cNvPr id="27" name="레인"/>
          <p:cNvSpPr/>
          <p:nvPr/>
        </p:nvSpPr>
        <p:spPr>
          <a:xfrm>
            <a:off x="548640" y="3749039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8" name="레인 이름"/>
          <p:cNvSpPr/>
          <p:nvPr/>
        </p:nvSpPr>
        <p:spPr>
          <a:xfrm>
            <a:off x="548640" y="3749039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서버</a:t>
            </a:r>
          </a:p>
        </p:txBody>
      </p:sp>
      <p:sp>
        <p:nvSpPr>
          <p:cNvPr id="29" name="레인"/>
          <p:cNvSpPr/>
          <p:nvPr/>
        </p:nvSpPr>
        <p:spPr>
          <a:xfrm>
            <a:off x="548640" y="448056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30" name="레인 이름"/>
          <p:cNvSpPr/>
          <p:nvPr/>
        </p:nvSpPr>
        <p:spPr>
          <a:xfrm>
            <a:off x="548640" y="448056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31" name="레인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32" name="레인 이름"/>
          <p:cNvSpPr/>
          <p:nvPr/>
        </p:nvSpPr>
        <p:spPr>
          <a:xfrm>
            <a:off x="548640" y="521208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33" name="도식 상자"/>
          <p:cNvSpPr/>
          <p:nvPr/>
        </p:nvSpPr>
        <p:spPr>
          <a:xfrm>
            <a:off x="1746504" y="235915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계속하기</a:t>
            </a:r>
          </a:p>
        </p:txBody>
      </p:sp>
      <p:sp>
        <p:nvSpPr>
          <p:cNvPr id="34" name="도식 상자"/>
          <p:cNvSpPr/>
          <p:nvPr/>
        </p:nvSpPr>
        <p:spPr>
          <a:xfrm>
            <a:off x="1746504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거래번호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발급 ①</a:t>
            </a:r>
          </a:p>
        </p:txBody>
      </p:sp>
      <p:sp>
        <p:nvSpPr>
          <p:cNvPr id="35" name="도식 상자"/>
          <p:cNvSpPr/>
          <p:nvPr/>
        </p:nvSpPr>
        <p:spPr>
          <a:xfrm>
            <a:off x="1746504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transNo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token 발급</a:t>
            </a:r>
          </a:p>
        </p:txBody>
      </p:sp>
      <p:cxnSp>
        <p:nvCxnSpPr>
          <p:cNvPr id="36" name="도식 연결선"/>
          <p:cNvCxnSpPr/>
          <p:nvPr/>
        </p:nvCxnSpPr>
        <p:spPr>
          <a:xfrm>
            <a:off x="2313432" y="2944368"/>
            <a:ext cx="0" cy="877823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도식 연결선"/>
          <p:cNvCxnSpPr/>
          <p:nvPr/>
        </p:nvCxnSpPr>
        <p:spPr>
          <a:xfrm>
            <a:off x="2313432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도식 상자"/>
          <p:cNvSpPr/>
          <p:nvPr/>
        </p:nvSpPr>
        <p:spPr>
          <a:xfrm>
            <a:off x="2990088" y="3090672"/>
            <a:ext cx="1133856" cy="585216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transNo 전달</a:t>
            </a:r>
          </a:p>
        </p:txBody>
      </p:sp>
      <p:sp>
        <p:nvSpPr>
          <p:cNvPr id="39" name="도식 상자"/>
          <p:cNvSpPr/>
          <p:nvPr/>
        </p:nvSpPr>
        <p:spPr>
          <a:xfrm>
            <a:off x="2990088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선택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약관 동의</a:t>
            </a:r>
          </a:p>
        </p:txBody>
      </p:sp>
      <p:sp>
        <p:nvSpPr>
          <p:cNvPr id="40" name="도식 상자"/>
          <p:cNvSpPr/>
          <p:nvPr/>
        </p:nvSpPr>
        <p:spPr>
          <a:xfrm>
            <a:off x="2990088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본인 카드 인증</a:t>
            </a:r>
          </a:p>
        </p:txBody>
      </p:sp>
      <p:cxnSp>
        <p:nvCxnSpPr>
          <p:cNvPr id="41" name="도식 연결선"/>
          <p:cNvCxnSpPr/>
          <p:nvPr/>
        </p:nvCxnSpPr>
        <p:spPr>
          <a:xfrm>
            <a:off x="3557016" y="3675887"/>
            <a:ext cx="0" cy="87782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도식 연결선"/>
          <p:cNvCxnSpPr/>
          <p:nvPr/>
        </p:nvCxnSpPr>
        <p:spPr>
          <a:xfrm>
            <a:off x="3557016" y="5138928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도식 상자"/>
          <p:cNvSpPr/>
          <p:nvPr/>
        </p:nvSpPr>
        <p:spPr>
          <a:xfrm>
            <a:off x="4233672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0000 수신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서버에 알림</a:t>
            </a:r>
          </a:p>
        </p:txBody>
      </p:sp>
      <p:sp>
        <p:nvSpPr>
          <p:cNvPr id="44" name="도식 상자"/>
          <p:cNvSpPr/>
          <p:nvPr/>
        </p:nvSpPr>
        <p:spPr>
          <a:xfrm>
            <a:off x="4233672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결과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조회 ②</a:t>
            </a:r>
          </a:p>
        </p:txBody>
      </p:sp>
      <p:sp>
        <p:nvSpPr>
          <p:cNvPr id="45" name="도식 상자"/>
          <p:cNvSpPr/>
          <p:nvPr/>
        </p:nvSpPr>
        <p:spPr>
          <a:xfrm>
            <a:off x="4233672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 · 회원 정보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제공</a:t>
            </a:r>
          </a:p>
        </p:txBody>
      </p:sp>
      <p:cxnSp>
        <p:nvCxnSpPr>
          <p:cNvPr id="46" name="도식 연결선"/>
          <p:cNvCxnSpPr/>
          <p:nvPr/>
        </p:nvCxnSpPr>
        <p:spPr>
          <a:xfrm>
            <a:off x="4800600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도식 연결선"/>
          <p:cNvCxnSpPr/>
          <p:nvPr/>
        </p:nvCxnSpPr>
        <p:spPr>
          <a:xfrm>
            <a:off x="4800600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도식 상자"/>
          <p:cNvSpPr/>
          <p:nvPr/>
        </p:nvSpPr>
        <p:spPr>
          <a:xfrm>
            <a:off x="5477255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 계정 확인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로그인 · 가입</a:t>
            </a:r>
          </a:p>
        </p:txBody>
      </p:sp>
      <p:sp>
        <p:nvSpPr>
          <p:cNvPr id="49" name="도식 상자"/>
          <p:cNvSpPr/>
          <p:nvPr/>
        </p:nvSpPr>
        <p:spPr>
          <a:xfrm>
            <a:off x="5477255" y="235915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화면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복귀</a:t>
            </a:r>
          </a:p>
        </p:txBody>
      </p:sp>
      <p:cxnSp>
        <p:nvCxnSpPr>
          <p:cNvPr id="50" name="도식 연결선"/>
          <p:cNvCxnSpPr/>
          <p:nvPr/>
        </p:nvCxnSpPr>
        <p:spPr>
          <a:xfrm flipV="1">
            <a:off x="6044183" y="2944368"/>
            <a:ext cx="0" cy="877823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도식 상자"/>
          <p:cNvSpPr/>
          <p:nvPr/>
        </p:nvSpPr>
        <p:spPr>
          <a:xfrm>
            <a:off x="6720840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주문하기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계정 표시</a:t>
            </a:r>
          </a:p>
        </p:txBody>
      </p:sp>
      <p:sp>
        <p:nvSpPr>
          <p:cNvPr id="52" name="도식 상자"/>
          <p:cNvSpPr/>
          <p:nvPr/>
        </p:nvSpPr>
        <p:spPr>
          <a:xfrm>
            <a:off x="6720840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계정 목록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조회 ①</a:t>
            </a:r>
          </a:p>
        </p:txBody>
      </p:sp>
      <p:sp>
        <p:nvSpPr>
          <p:cNvPr id="53" name="도식 상자"/>
          <p:cNvSpPr/>
          <p:nvPr/>
        </p:nvSpPr>
        <p:spPr>
          <a:xfrm>
            <a:off x="6720840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cardList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제공</a:t>
            </a:r>
          </a:p>
        </p:txBody>
      </p:sp>
      <p:cxnSp>
        <p:nvCxnSpPr>
          <p:cNvPr id="54" name="도식 연결선"/>
          <p:cNvCxnSpPr/>
          <p:nvPr/>
        </p:nvCxnSpPr>
        <p:spPr>
          <a:xfrm>
            <a:off x="7287768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도식 연결선"/>
          <p:cNvCxnSpPr/>
          <p:nvPr/>
        </p:nvCxnSpPr>
        <p:spPr>
          <a:xfrm>
            <a:off x="7287768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도식 상자"/>
          <p:cNvSpPr/>
          <p:nvPr/>
        </p:nvSpPr>
        <p:spPr>
          <a:xfrm>
            <a:off x="7964424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밀어서 결제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payType 전달</a:t>
            </a:r>
          </a:p>
        </p:txBody>
      </p:sp>
      <p:sp>
        <p:nvSpPr>
          <p:cNvPr id="57" name="도식 상자"/>
          <p:cNvSpPr/>
          <p:nvPr/>
        </p:nvSpPr>
        <p:spPr>
          <a:xfrm>
            <a:off x="7964424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거래번호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발급 ②</a:t>
            </a:r>
          </a:p>
        </p:txBody>
      </p:sp>
      <p:sp>
        <p:nvSpPr>
          <p:cNvPr id="58" name="도식 상자"/>
          <p:cNvSpPr/>
          <p:nvPr/>
        </p:nvSpPr>
        <p:spPr>
          <a:xfrm>
            <a:off x="7964424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tid · authYN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발급</a:t>
            </a:r>
          </a:p>
        </p:txBody>
      </p:sp>
      <p:cxnSp>
        <p:nvCxnSpPr>
          <p:cNvPr id="59" name="도식 연결선"/>
          <p:cNvCxnSpPr/>
          <p:nvPr/>
        </p:nvCxnSpPr>
        <p:spPr>
          <a:xfrm>
            <a:off x="8531352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도식 연결선"/>
          <p:cNvCxnSpPr/>
          <p:nvPr/>
        </p:nvCxnSpPr>
        <p:spPr>
          <a:xfrm>
            <a:off x="8531352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도식 상자"/>
          <p:cNvSpPr/>
          <p:nvPr/>
        </p:nvSpPr>
        <p:spPr>
          <a:xfrm>
            <a:off x="9208008" y="3090672"/>
            <a:ext cx="1133856" cy="585216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authYN=N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모듈(tid)</a:t>
            </a:r>
          </a:p>
        </p:txBody>
      </p:sp>
      <p:sp>
        <p:nvSpPr>
          <p:cNvPr id="62" name="도식 상자"/>
          <p:cNvSpPr/>
          <p:nvPr/>
        </p:nvSpPr>
        <p:spPr>
          <a:xfrm>
            <a:off x="9208008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카드 인증</a:t>
            </a:r>
          </a:p>
        </p:txBody>
      </p:sp>
      <p:cxnSp>
        <p:nvCxnSpPr>
          <p:cNvPr id="63" name="도식 연결선"/>
          <p:cNvCxnSpPr/>
          <p:nvPr/>
        </p:nvCxnSpPr>
        <p:spPr>
          <a:xfrm>
            <a:off x="9774936" y="3675887"/>
            <a:ext cx="0" cy="160934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도식 상자"/>
          <p:cNvSpPr/>
          <p:nvPr/>
        </p:nvSpPr>
        <p:spPr>
          <a:xfrm>
            <a:off x="10451592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결과 ③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</p:txBody>
      </p:sp>
      <p:sp>
        <p:nvSpPr>
          <p:cNvPr id="65" name="도식 상자"/>
          <p:cNvSpPr/>
          <p:nvPr/>
        </p:nvSpPr>
        <p:spPr>
          <a:xfrm>
            <a:off x="10451592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대행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approvalNo</a:t>
            </a:r>
          </a:p>
        </p:txBody>
      </p:sp>
      <p:sp>
        <p:nvSpPr>
          <p:cNvPr id="66" name="도식 상자"/>
          <p:cNvSpPr/>
          <p:nvPr/>
        </p:nvSpPr>
        <p:spPr>
          <a:xfrm>
            <a:off x="10451592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67" name="도식 상자"/>
          <p:cNvSpPr/>
          <p:nvPr/>
        </p:nvSpPr>
        <p:spPr>
          <a:xfrm>
            <a:off x="10451592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주문 결과</a:t>
            </a:r>
          </a:p>
        </p:txBody>
      </p:sp>
      <p:cxnSp>
        <p:nvCxnSpPr>
          <p:cNvPr id="68" name="도식 연결선"/>
          <p:cNvCxnSpPr/>
          <p:nvPr/>
        </p:nvCxnSpPr>
        <p:spPr>
          <a:xfrm>
            <a:off x="11018520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도식 연결선"/>
          <p:cNvCxnSpPr/>
          <p:nvPr/>
        </p:nvCxnSpPr>
        <p:spPr>
          <a:xfrm>
            <a:off x="11018520" y="5138928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도식 연결선"/>
          <p:cNvCxnSpPr/>
          <p:nvPr/>
        </p:nvCxnSpPr>
        <p:spPr>
          <a:xfrm flipV="1">
            <a:off x="11018520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본문"/>
          <p:cNvSpPr txBox="1"/>
          <p:nvPr/>
        </p:nvSpPr>
        <p:spPr>
          <a:xfrm>
            <a:off x="548640" y="5998464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7단계는 authYN=N일 때만 거치고, 주문 생성에 실패하면 승인 취소 ⑤, 승인 응답이 없으면 거래 상태 조회 ⑥을 부릅니다</a:t>
            </a:r>
          </a:p>
        </p:txBody>
      </p:sp>
      <p:sp>
        <p:nvSpPr>
          <p:cNvPr id="7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 — 주문 화면별 기준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네 주문 화면에서 같은 기준으로 결제하고 취소합니다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금액 · 증빙 · 확인 방식 · 취소 기준을 주문 화면과 관계없이 하나로 맞춥니다.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1" cy="4301998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1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·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전 체크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화면별 결제하기 체크를 모두 통과한 뒤 결제 거래번호 발급 ②를 요청(29장)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제휴 멤버십 · 쿠폰 · 금액권 · 메가선불카드를 뺀 남은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선물하기는 혜택 없이 총 결제금액 전액(선물 금액 × 받는 분 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일회용 컵 보증금(300원, 세종 · 제주 시행 매장)은 앱카드 금액에 넣고 비과세로 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결제수단과 같은 기준으로 앱카드와 함께 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정책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현금영수증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 금액은 발행 대상이 아니며, 영역 노출은 신용카드와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현금영수증 정책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고객의 결제 인증 설정과 관계없이 </a:t>
                      </a:r>
                      <a:r>
                        <a:rPr lang="en-US" sz="11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 확인(선물 주문하기 포함)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메가크루결제와는 함께 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 표시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저장된 앱카드 계정을 카드사 · 카드번호 끝 4자리로 표시하고, 계정이 없어지면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없음 상태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[확인필요(핏콜라보)]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경로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고객(주문완료 상태) · 매장 · 에이전트 자동 취소 · 상담원 · 선물 결제 취소를 승인 취소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전체 취소로 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정책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미수령 폐기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결제금액을 환불하지 않으므로 </a:t>
                      </a:r>
                      <a:r>
                        <a:rPr lang="en-US" sz="11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취소를 요청하지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안내 문구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다인 선물 취소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받는 분이 여러 명이어도 결제 1건 전체 취소만 가능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[확인필요(마케팅1팀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87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주문 화면별 결제 전 체크 · 완료 이동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화면별 결제 전 체크를 통과해야 결제 거래번호를 요청합니다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결제하기를 누르면 화면설계서의 체크 로직을 먼저 돌리고, 통과하면 결제 거래번호 발급 ②로 넘어갑니다.</a:t>
            </a:r>
            <a:endParaRPr lang="ko-KR" sz="1300" dirty="0"/>
          </a:p>
        </p:txBody>
      </p:sp>
      <p:graphicFrame>
        <p:nvGraphicFramePr>
          <p:cNvPr id="2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1" cy="317601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전 체크(화면설계서)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위치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결제 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· 취소 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 · 퀵오더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매장 오더 오픈 · 판매 · 품절 · 픽업시간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쿠폰 · 금액권 · 선불카드 사용 가능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제휴 멤버십 응답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 팝업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바텀시트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전체화면 로딩 → 메인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주문완료 팝업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 화면과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입력값 유지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판매 안함 · 품절이면 알럿 뒤 장바구니로 이동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장바구니 위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홀케이크 · MD 예약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예약기간 · 상품 상태 → 매장 오더 오픈 → 매장 품절 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예약일시 → 개인정보 제3자 제공 동의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상품 판매 상태 · 판매 기간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보내는 분 · 받는 분 · 결제수단 필수값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선물하기 메인 위 「보낸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선물」 팝업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구매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선물하기와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전체화면 로딩 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새로고침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주문완료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3065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2334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뒤 주문 생성이 실패하면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정리하고, 판매 안함 · 품절 알럿을 보여 줍니다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/ 87</a:t>
            </a:r>
          </a:p>
        </p:txBody>
      </p:sp>
      <p:sp>
        <p:nvSpPr>
          <p:cNvPr id="3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16894</Words>
  <Application>Microsoft Office PowerPoint</Application>
  <PresentationFormat>와이드스크린</PresentationFormat>
  <Paragraphs>2756</Paragraphs>
  <Slides>83</Slides>
  <Notes>83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83</vt:i4>
      </vt:variant>
    </vt:vector>
  </HeadingPairs>
  <TitlesOfParts>
    <vt:vector size="87" baseType="lpstr">
      <vt:lpstr>맑은 고딕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메가MGC커피 앱카드 연동 통합본 v0.2</dc:title>
  <dc:subject>PptxGenJS Presentation</dc:subject>
  <dc:creator>PptxGenJS</dc:creator>
  <cp:lastModifiedBy>문 진승</cp:lastModifiedBy>
  <cp:revision>2</cp:revision>
  <dcterms:created xsi:type="dcterms:W3CDTF">2026-10-21T02:05:18Z</dcterms:created>
  <dcterms:modified xsi:type="dcterms:W3CDTF">2026-10-22T10:10:36Z</dcterms:modified>
</cp:coreProperties>
</file>