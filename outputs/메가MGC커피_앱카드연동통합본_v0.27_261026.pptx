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0"/>
  </p:notesMasterIdLst>
  <p:sldIdLst>
    <p:sldId id="256" r:id="rId2"/>
    <p:sldId id="257" r:id="rId3"/>
    <p:sldId id="258" r:id="rId4"/>
    <p:sldId id="259" r:id="rId5"/>
    <p:sldId id="326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340" r:id="rId14"/>
    <p:sldId id="341" r:id="rId15"/>
    <p:sldId id="268" r:id="rId16"/>
    <p:sldId id="269" r:id="rId17"/>
    <p:sldId id="270" r:id="rId18"/>
    <p:sldId id="342" r:id="rId19"/>
    <p:sldId id="271" r:id="rId20"/>
    <p:sldId id="272" r:id="rId21"/>
    <p:sldId id="273" r:id="rId22"/>
    <p:sldId id="335" r:id="rId23"/>
    <p:sldId id="336" r:id="rId24"/>
    <p:sldId id="274" r:id="rId25"/>
    <p:sldId id="275" r:id="rId26"/>
    <p:sldId id="276" r:id="rId27"/>
    <p:sldId id="277" r:id="rId28"/>
    <p:sldId id="278" r:id="rId29"/>
    <p:sldId id="279" r:id="rId30"/>
    <p:sldId id="343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337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44" r:id="rId62"/>
    <p:sldId id="309" r:id="rId63"/>
    <p:sldId id="310" r:id="rId64"/>
    <p:sldId id="311" r:id="rId65"/>
    <p:sldId id="312" r:id="rId66"/>
    <p:sldId id="313" r:id="rId67"/>
    <p:sldId id="314" r:id="rId68"/>
    <p:sldId id="315" r:id="rId69"/>
    <p:sldId id="316" r:id="rId70"/>
    <p:sldId id="317" r:id="rId71"/>
    <p:sldId id="318" r:id="rId72"/>
    <p:sldId id="319" r:id="rId73"/>
    <p:sldId id="320" r:id="rId74"/>
    <p:sldId id="321" r:id="rId75"/>
    <p:sldId id="322" r:id="rId76"/>
    <p:sldId id="323" r:id="rId77"/>
    <p:sldId id="324" r:id="rId78"/>
    <p:sldId id="325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8" r:id="rId88"/>
    <p:sldId id="339" r:id="rId8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3148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5C3E84-8F60-434B-9787-D5EDA131128B}" v="3" dt="2026-10-26T06:59:32.4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notesMaster" Target="notesMasters/notesMaster1.xml"/><Relationship Id="rId91" Type="http://schemas.openxmlformats.org/officeDocument/2006/relationships/presProps" Target="presProps.xml"/><Relationship Id="rId92" Type="http://schemas.openxmlformats.org/officeDocument/2006/relationships/viewProps" Target="viewProps.xml"/><Relationship Id="rId93" Type="http://schemas.openxmlformats.org/officeDocument/2006/relationships/theme" Target="theme/theme1.xml"/><Relationship Id="rId94" Type="http://schemas.openxmlformats.org/officeDocument/2006/relationships/tableStyles" Target="tableStyles.xml"/><Relationship Id="rId95" Type="http://schemas.microsoft.com/office/2016/11/relationships/changesInfo" Target="changesInfos/changesInfo1.xml"/><Relationship Id="rId9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문 진승" userId="4d4d7787-e10c-42c5-ab64-b0d0e0438d64" providerId="ADAL" clId="{DB4B0D55-DDE0-40F6-B946-69DBCD43A701}"/>
    <pc:docChg chg="undo redo custSel modSld">
      <pc:chgData name="문 진승" userId="4d4d7787-e10c-42c5-ab64-b0d0e0438d64" providerId="ADAL" clId="{DB4B0D55-DDE0-40F6-B946-69DBCD43A701}" dt="2026-10-26T09:45:20.724" v="499" actId="14734"/>
      <pc:docMkLst>
        <pc:docMk/>
      </pc:docMkLst>
      <pc:sldChg chg="addSp delSp modSp mod setBg">
        <pc:chgData name="문 진승" userId="4d4d7787-e10c-42c5-ab64-b0d0e0438d64" providerId="ADAL" clId="{DB4B0D55-DDE0-40F6-B946-69DBCD43A701}" dt="2026-10-21T04:29:51.820" v="11"/>
        <pc:sldMkLst>
          <pc:docMk/>
          <pc:sldMk cId="0" sldId="256"/>
        </pc:sldMkLst>
      </pc:sldChg>
      <pc:sldChg chg="modSp mod">
        <pc:chgData name="문 진승" userId="4d4d7787-e10c-42c5-ab64-b0d0e0438d64" providerId="ADAL" clId="{DB4B0D55-DDE0-40F6-B946-69DBCD43A701}" dt="2026-10-26T09:45:20.724" v="499" actId="14734"/>
        <pc:sldMkLst>
          <pc:docMk/>
          <pc:sldMk cId="0" sldId="257"/>
        </pc:sldMkLst>
        <pc:graphicFrameChg chg="modGraphic">
          <ac:chgData name="문 진승" userId="4d4d7787-e10c-42c5-ab64-b0d0e0438d64" providerId="ADAL" clId="{DB4B0D55-DDE0-40F6-B946-69DBCD43A701}" dt="2026-10-26T09:45:20.724" v="499" actId="14734"/>
          <ac:graphicFrameMkLst>
            <pc:docMk/>
            <pc:sldMk cId="0" sldId="257"/>
            <ac:graphicFrameMk id="5" creationId="{00000000-0000-0000-0000-000000000000}"/>
          </ac:graphicFrameMkLst>
        </pc:graphicFrameChg>
      </pc:sldChg>
      <pc:sldChg chg="modSp mod setBg">
        <pc:chgData name="문 진승" userId="4d4d7787-e10c-42c5-ab64-b0d0e0438d64" providerId="ADAL" clId="{DB4B0D55-DDE0-40F6-B946-69DBCD43A701}" dt="2026-10-21T04:30:14.145" v="17" actId="207"/>
        <pc:sldMkLst>
          <pc:docMk/>
          <pc:sldMk cId="0" sldId="258"/>
        </pc:sldMkLst>
        <pc:spChg chg="mod">
          <ac:chgData name="문 진승" userId="4d4d7787-e10c-42c5-ab64-b0d0e0438d64" providerId="ADAL" clId="{DB4B0D55-DDE0-40F6-B946-69DBCD43A701}" dt="2026-10-21T04:30:14.145" v="17" actId="207"/>
          <ac:spMkLst>
            <pc:docMk/>
            <pc:sldMk cId="0" sldId="258"/>
            <ac:spMk id="3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5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6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7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8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9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10.798" v="16" actId="207"/>
          <ac:spMkLst>
            <pc:docMk/>
            <pc:sldMk cId="0" sldId="258"/>
            <ac:spMk id="11" creationId="{00000000-0000-0000-0000-000000000000}"/>
          </ac:spMkLst>
        </pc:spChg>
      </pc:sldChg>
      <pc:sldChg chg="modSp mod">
        <pc:chgData name="문 진승" userId="4d4d7787-e10c-42c5-ab64-b0d0e0438d64" providerId="ADAL" clId="{DB4B0D55-DDE0-40F6-B946-69DBCD43A701}" dt="2026-10-26T07:05:36.172" v="466" actId="20577"/>
        <pc:sldMkLst>
          <pc:docMk/>
          <pc:sldMk cId="0" sldId="259"/>
        </pc:sldMkLst>
        <pc:spChg chg="mod">
          <ac:chgData name="문 진승" userId="4d4d7787-e10c-42c5-ab64-b0d0e0438d64" providerId="ADAL" clId="{DB4B0D55-DDE0-40F6-B946-69DBCD43A701}" dt="2026-10-26T06:55:59.638" v="142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6T06:57:37.445" v="250" actId="207"/>
          <ac:spMkLst>
            <pc:docMk/>
            <pc:sldMk cId="0" sldId="259"/>
            <ac:spMk id="16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6T07:05:36.172" v="466" actId="20577"/>
          <ac:spMkLst>
            <pc:docMk/>
            <pc:sldMk cId="0" sldId="259"/>
            <ac:spMk id="21" creationId="{00000000-0000-0000-0000-000000000000}"/>
          </ac:spMkLst>
        </pc:spChg>
        <pc:graphicFrameChg chg="mod modGraphic">
          <ac:chgData name="문 진승" userId="4d4d7787-e10c-42c5-ab64-b0d0e0438d64" providerId="ADAL" clId="{DB4B0D55-DDE0-40F6-B946-69DBCD43A701}" dt="2026-10-26T07:00:42.988" v="404" actId="20577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modSp">
        <pc:chgData name="문 진승" userId="4d4d7787-e10c-42c5-ab64-b0d0e0438d64" providerId="ADAL" clId="{DB4B0D55-DDE0-40F6-B946-69DBCD43A701}" dt="2026-10-21T04:41:47.988" v="25" actId="21"/>
        <pc:sldMkLst>
          <pc:docMk/>
          <pc:sldMk cId="0" sldId="260"/>
        </pc:sldMkLst>
        <pc:graphicFrameChg chg="mod">
          <ac:chgData name="문 진승" userId="4d4d7787-e10c-42c5-ab64-b0d0e0438d64" providerId="ADAL" clId="{DB4B0D55-DDE0-40F6-B946-69DBCD43A701}" dt="2026-10-21T04:41:47.988" v="25" actId="21"/>
          <ac:graphicFrameMkLst>
            <pc:docMk/>
            <pc:sldMk cId="0" sldId="260"/>
            <ac:graphicFrameMk id="6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4:43:28.224" v="47" actId="20577"/>
        <pc:sldMkLst>
          <pc:docMk/>
          <pc:sldMk cId="0" sldId="262"/>
        </pc:sldMkLst>
        <pc:spChg chg="mod">
          <ac:chgData name="문 진승" userId="4d4d7787-e10c-42c5-ab64-b0d0e0438d64" providerId="ADAL" clId="{DB4B0D55-DDE0-40F6-B946-69DBCD43A701}" dt="2026-10-21T04:43:28.224" v="47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5:10.339" v="19" actId="1076"/>
          <ac:spMkLst>
            <pc:docMk/>
            <pc:sldMk cId="0" sldId="262"/>
            <ac:spMk id="8" creationId="{00000000-0000-0000-0000-000000000000}"/>
          </ac:spMkLst>
        </pc:spChg>
      </pc:sldChg>
      <pc:sldChg chg="addSp delSp modSp mod">
        <pc:chgData name="문 진승" userId="4d4d7787-e10c-42c5-ab64-b0d0e0438d64" providerId="ADAL" clId="{DB4B0D55-DDE0-40F6-B946-69DBCD43A701}" dt="2026-10-21T05:16:44.707" v="102" actId="122"/>
        <pc:sldMkLst>
          <pc:docMk/>
          <pc:sldMk cId="0" sldId="263"/>
        </pc:sldMkLst>
        <pc:graphicFrameChg chg="mod modGraphic">
          <ac:chgData name="문 진승" userId="4d4d7787-e10c-42c5-ab64-b0d0e0438d64" providerId="ADAL" clId="{DB4B0D55-DDE0-40F6-B946-69DBCD43A701}" dt="2026-10-21T05:16:44.707" v="102" actId="122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17:00.245" v="103" actId="108"/>
        <pc:sldMkLst>
          <pc:docMk/>
          <pc:sldMk cId="0" sldId="264"/>
        </pc:sldMkLst>
        <pc:spChg chg="mod">
          <ac:chgData name="문 진승" userId="4d4d7787-e10c-42c5-ab64-b0d0e0438d64" providerId="ADAL" clId="{DB4B0D55-DDE0-40F6-B946-69DBCD43A701}" dt="2026-10-21T05:14:06.139" v="79" actId="207"/>
          <ac:spMkLst>
            <pc:docMk/>
            <pc:sldMk cId="0" sldId="264"/>
            <ac:spMk id="3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5:17:00.245" v="103" actId="108"/>
          <ac:spMkLst>
            <pc:docMk/>
            <pc:sldMk cId="0" sldId="264"/>
            <ac:spMk id="4" creationId="{00000000-0000-0000-0000-000000000000}"/>
          </ac:spMkLst>
        </pc:spChg>
        <pc:graphicFrameChg chg="modGraphic">
          <ac:chgData name="문 진승" userId="4d4d7787-e10c-42c5-ab64-b0d0e0438d64" providerId="ADAL" clId="{DB4B0D55-DDE0-40F6-B946-69DBCD43A701}" dt="2026-10-21T05:16:39.458" v="101" actId="122"/>
          <ac:graphicFrameMkLst>
            <pc:docMk/>
            <pc:sldMk cId="0" sldId="264"/>
            <ac:graphicFrameMk id="10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20:33.990" v="136" actId="113"/>
        <pc:sldMkLst>
          <pc:docMk/>
          <pc:sldMk cId="0" sldId="267"/>
        </pc:sldMkLst>
        <pc:spChg chg="mod">
          <ac:chgData name="문 진승" userId="4d4d7787-e10c-42c5-ab64-b0d0e0438d64" providerId="ADAL" clId="{DB4B0D55-DDE0-40F6-B946-69DBCD43A701}" dt="2026-10-21T05:15:10.065" v="85" actId="108"/>
          <ac:spMkLst>
            <pc:docMk/>
            <pc:sldMk cId="0" sldId="267"/>
            <ac:spMk id="3" creationId="{00000000-0000-0000-0000-000000000000}"/>
          </ac:spMkLst>
        </pc:spChg>
        <pc:graphicFrameChg chg="modGraphic">
          <ac:chgData name="문 진승" userId="4d4d7787-e10c-42c5-ab64-b0d0e0438d64" providerId="ADAL" clId="{DB4B0D55-DDE0-40F6-B946-69DBCD43A701}" dt="2026-10-21T05:20:33.990" v="136" actId="113"/>
          <ac:graphicFrameMkLst>
            <pc:docMk/>
            <pc:sldMk cId="0" sldId="267"/>
            <ac:graphicFrameMk id="13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21:28.519" v="137" actId="207"/>
        <pc:sldMkLst>
          <pc:docMk/>
          <pc:sldMk cId="0" sldId="268"/>
        </pc:sldMkLst>
        <pc:graphicFrameChg chg="modGraphic">
          <ac:chgData name="문 진승" userId="4d4d7787-e10c-42c5-ab64-b0d0e0438d64" providerId="ADAL" clId="{DB4B0D55-DDE0-40F6-B946-69DBCD43A701}" dt="2026-10-21T05:21:28.519" v="137" actId="207"/>
          <ac:graphicFrameMkLst>
            <pc:docMk/>
            <pc:sldMk cId="0" sldId="268"/>
            <ac:graphicFrameMk id="14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44:59.569" v="138" actId="207"/>
        <pc:sldMkLst>
          <pc:docMk/>
          <pc:sldMk cId="0" sldId="270"/>
        </pc:sldMkLst>
        <pc:spChg chg="mod">
          <ac:chgData name="문 진승" userId="4d4d7787-e10c-42c5-ab64-b0d0e0438d64" providerId="ADAL" clId="{DB4B0D55-DDE0-40F6-B946-69DBCD43A701}" dt="2026-10-21T05:44:59.569" v="138" actId="207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문 진승" userId="4d4d7787-e10c-42c5-ab64-b0d0e0438d64" providerId="ADAL" clId="{DB4B0D55-DDE0-40F6-B946-69DBCD43A701}" dt="2026-10-21T05:45:12.209" v="139" actId="207"/>
        <pc:sldMkLst>
          <pc:docMk/>
          <pc:sldMk cId="0" sldId="272"/>
        </pc:sldMkLst>
        <pc:spChg chg="mod">
          <ac:chgData name="문 진승" userId="4d4d7787-e10c-42c5-ab64-b0d0e0438d64" providerId="ADAL" clId="{DB4B0D55-DDE0-40F6-B946-69DBCD43A701}" dt="2026-10-21T05:45:12.209" v="139" actId="207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문 진승" userId="4d4d7787-e10c-42c5-ab64-b0d0e0438d64" providerId="ADAL" clId="{DB4B0D55-DDE0-40F6-B946-69DBCD43A701}" dt="2026-10-21T05:45:43.677" v="140" actId="207"/>
        <pc:sldMkLst>
          <pc:docMk/>
          <pc:sldMk cId="0" sldId="282"/>
        </pc:sldMkLst>
        <pc:spChg chg="mod">
          <ac:chgData name="문 진승" userId="4d4d7787-e10c-42c5-ab64-b0d0e0438d64" providerId="ADAL" clId="{DB4B0D55-DDE0-40F6-B946-69DBCD43A701}" dt="2026-10-21T05:45:43.677" v="140" actId="207"/>
          <ac:spMkLst>
            <pc:docMk/>
            <pc:sldMk cId="0" sldId="282"/>
            <ac:spMk id="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5508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이 덱의 간지 구성 · API 연동 흐름 정의서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· 앱 현행 구조 안내 20261012.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업무 기준 2026-10-21 · 연동 가이드 4-2.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이 덱의 간지 구성 · 앱 현행 구조 안내 20261012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1-1.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 현행 구조 안내 20261012 1-2 · 화면설계서 결제 화면 5종(MGC_ORD_025 · 45 · 132 · 133 · 112 · 113 · MGC_PAY_007).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API 연동 흐름 정의서 v0.2 4장 · 연동 가이드 1-1.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5장.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회원 정책 기준(2026-10-21) · 앱 현행 구조 안내 2-4. 현행 앱에는 CI 미보유 기존 회원이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화면설계서_회원가입/로그인 V1.0(2025-06-10) 휴대폰번호로 시작하기 TO-BE 플로우 · Case 1~9 · 기타 체크 알럿 · 로그인 규격 1.2.8 6.3(인증 결과 조회 응답).</a:t>
            </a:r>
          </a:p>
          <a:p>
            <a:r>
              <a:t>- 판정 1이 같은 CI 기존 계정 로그인이고, 2~6은 신규 가입 판정이다.</a:t>
            </a:r>
          </a:p>
          <a:p>
            <a:r>
              <a:t>- 같은 CI 복수 계정 존재 여부 [CJ ONS 확인 필요].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화면설계서_회원가입/로그인 V1.0 MGC_COM_019(만 14세 미만 가입 시 약관동의 + 보호자 동의) · 정책(1) 회원체계 및 수집정보 · 개인정보 보호법 제22조의2.</a:t>
            </a:r>
          </a:p>
          <a:p>
            <a:r>
              <a:t>- 보호자 본인인증 화면 · 보호자 동의 영역은 현행 화면을 쓰고, 버튼 활성 순서만 맞춘다.</a:t>
            </a:r>
          </a:p>
          <a:p>
            <a:r>
              <a:t>- 보호자 동의 약관 원문 [법무팀 검토 필요].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1-5 · 연동 요약서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1-2 · 연동 가이드 3장.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1-5 · 3-4 · 회신 요청 답변 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화면설계서_메가오더 정책 V0.91 · 분할_FO_01_01 메가오더 · 퀵오더(일회용 컵 보증금)(현금영수증 · 메가선불카드 · 주문 상태값 · 취소 정책) · 메가오더 화면설계 V0.92 결제하기 · 홀케이크 · MD 예약 · 선물 주문하기 · 메가선불카드 금액 충전 MGC_PAY_007 V0.9.</a:t>
            </a:r>
          </a:p>
          <a:p>
            <a:r>
              <a:t>- 신용 앱카드로 메가선불카드 구매 · 충전을 결제할 수 있다(핏콜라보 회신).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6장 · 연동 가이드 3-1.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회신 요청 답변 4장 · 연동 가이드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계약 별표2(2026-09-21) · 로그인 6.3 · 간편결제 6.2 · 6.4 · 6.7 · 인증 모듈 4.2 · 핏콜라보 회신(storeUserNo · userName 선택, 카드 관리 storeUserNo 삭제).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근거: 앱 현행 구조 안내 반출검토본(20261012) 1-3a · 2-2a · 2-2b · 2-4a(내부 전용). 테이블 · 요청 이름은 메가 내부 개발 기준이며 외부 반출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근거: 앱 현행 구조 안내 반출검토본(20261012) 2-4a · 3-1a · 3-4a · 3-5a(내부 전용). 금액 대조는 현행 결제대행사 검증값 역할을 대신하며, 대조 방식은 핏콜라보 연동 가이드 범위를 따른다.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UI Flipbook(2026-09-30) 화면 1_1 · 연동 요약서 1-1 · 화면설계서_회원가입/로그인 V1.0 MGC_COM_011.</a:t>
            </a:r>
          </a:p>
          <a:p>
            <a:r>
              <a:t>- iOS는 Apple 버튼을 다른 로그인 버튼과 같은 크기로 노출한다(App Store 심사 지침 4.8).</a:t>
            </a:r>
          </a:p>
          <a:p>
            <a:r>
              <a:t>- 최근 로그인 수단 표시에 앱카드를 포함한다.</a:t>
            </a:r>
          </a:p>
          <a:p>
            <a:r>
              <a:t>- 휴대폰 번호 버튼은 흰 바탕 테두리로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UI Flipbook 2 · 연동 요약서 1-2.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UI Flipbook 2 · 연동 가이드 3-1 · 5-5.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UI Flipbook 3 · 연동 요약서 1-3.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화면설계서_메가오더 화면설계 V0.92 MGC_ORD_025 · 159 · 45 · 홀케이크 · MD 예약 MGC_ORD_132 · 133 · 선물 주문하기 MGC_ORD_112 · 113 · 카드 구매하기 · 메가선불카드 금액 충전 MGC_PAY_007.</a:t>
            </a:r>
          </a:p>
          <a:p>
            <a:r>
              <a:t>- 샌드위치 등 픽업 예약은 메가오더 주문하기의 픽업일시 선택(MGC_ORD_159)으로 처리한다(화면설계서 사전예약 정책).</a:t>
            </a:r>
          </a:p>
          <a:p>
            <a:r>
              <a:t>- 메가크루결제는 앱카드와 함께 쓰지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 메가오더 「결제하기 버튼 선택 시 체크 로직」 · 함께오더 MGC_ORD_025 V0.4 · 홀케이크 · MD 예약 MGC_ORD_132 · 133 · 선물 주문하기 MGC_ORD_112 · 113 · 카드 구매하기 · 메가선불카드 금액 충전 MGC_PAY_007.</a:t>
            </a:r>
          </a:p>
          <a:p>
            <a:r>
              <a:t>- 인증 모듈은 현행 결제 모듈 팝업이 뜨던 자리(주문하기 위)에 띄운다.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1-2 · 인증 모듈 2.1.2 1.1.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4.1.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4.2 · 핏콜라보 회신(storeUserNo 선택).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4.3 · 7장 · 연동 가이드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1-3 · 인증 모듈 2.1.2 5.1.4 · 5.2.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6장.</a:t>
            </a:r>
          </a:p>
          <a:p>
            <a:r>
              <a:t>메가MGC커피는 카드사 목록 조회 · 할부 정보 조회 · 카드 목록 · 삭제 API를 쓰지 않는다. 결제대행사 중계 5종은 핏콜라보가 결제대행사로 보낸다.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규격 1.2.8 6.1 · 6.3~6.5.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간편결제 규격 1.3.6 6.2~6.12 · 연동 가이드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간편결제 표준 API 연동규격서 1.3.6 6장(승인 · 취소 · 거래 상태 조회) · 연동 가이드 3-6(카드관리 데이터 적재).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6.1.3 · 간편결제 6.4.3 · 7장.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간편결제 규격 4장 · 3.2 · 연동 가이드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8장.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9장.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10장.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2-2 · 앱 현행 구조 안내 2-6.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12장.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13장.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14장.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3-2 · 3-3.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3-3 · 3-4.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16장.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17장 · 연동 가이드 3-4 ·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18장 · 연동 가이드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3장 · 연동 가이드 2-1 ·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3장 · 연동 가이드 3-2 · 3-4.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통합본 59 · 60장 예외 처리 기준 · 화면설계서 알럿 형식.</a:t>
            </a:r>
          </a:p>
          <a:p>
            <a:r>
              <a:t>- 카드사 사유는 resultMessage(인증) · contents(승인 거절)를 알럿 아래 줄에 붙인다.</a:t>
            </a:r>
          </a:p>
          <a:p>
            <a:r>
              <a:t>- 주문 실패 · 미확인 거래 정리 뒤 카드사 취소 반영 기간 [핏콜라보 확인 필요].</a:t>
            </a:r>
          </a:p>
          <a:p>
            <a:r>
              <a:t>- 취소 불가 때 안내할 고객센터 [품질경영팀 확인 필요].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4-5 · 연동 가이드 5-5.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3-2.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1-5 · 간편결제 6.7 · 6.8.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간편결제 규격 1.3.6 · 결제대행사 중계 규격(2025-11-25).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4-1 · 연동 요약서 2장 · 앱 현행 구조 안내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4-1 · 연동 요약서 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1-6.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1-4 · 연동 요약서 1-5 · 인증 모듈 2.1.2 7장.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5-1 · 연동 요약서 4-1.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산출물 재검토 2026-10-20 · 앱 현행 구조 안내 3-7.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1-6 · 산출물 재검토 2026-10-20.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산출물 재검토 2026-10-20.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규격서 4종 · 핏콜라보 회신 산출물 2026-10-08.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규격서 4종 · 앱 현행 구조 안내 20261012 · UI Flipbook · 화면설계서_회원가입/로그인 V1.0(2025-06-10).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API 연동 흐름 정의서 v0.2 2장 · UI Flipbook(2026-09-30).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6.1.3 · 간편결제 6.4.3 · 연동 가이드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8 · 12장 · 통합본 13 · 30장.</a:t>
            </a: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9 · 13장.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8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9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0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400" b="1" dirty="0">
                <a:solidFill>
                  <a:srgbClr val="FFD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 통합본 v0.27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앱카드(핏콜라보) 연동</a:t>
            </a:r>
            <a:endParaRPr lang="ko-KR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>
              <a:buNone/>
            </a:pPr>
            <a:r>
              <a:rPr lang="ko-KR" altLang="en-US" sz="16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개발 · 결제대행사가 함께 보는 로그인 · 결제 · 카드 관리 기준</a:t>
            </a:r>
            <a:endParaRPr lang="ko-KR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2026-10-26 · 마케팅1팀 서비스기획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순서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순서: 영역마다 정책 → 화면 → API → 흐름 → 예외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읽는 사람은 결론(4장)과 정책 기준(5장)을 먼저 보고, 담당별로 먼저 볼 장(6장)으로 이동합니다.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403189"/>
              </p:ext>
            </p:extLst>
          </p:nvPr>
        </p:nvGraphicFramePr>
        <p:xfrm>
          <a:off x="548640" y="1783080"/>
          <a:ext cx="11091672" cy="3679417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0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9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담은 내용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볼 것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3~10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07950" indent="-10795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결론 · 정책 기준 6가지 · 앱 구조 · 개발 주체 · 유스케이스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정했고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만드나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정책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11~23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· 거래번호 · 결제 · 카드 · 개인정보 · 현행 시스템 연결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규칙과 처리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명세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24~31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UI Flipbook 화면 1_1 · 1_2 · 2 · 3, 결제 화면 5종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 요소별 동작, 결제 전 체크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 · API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32~44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연동 방식, 호출값, 결과 코드, API 9종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 주체, 파라미터, 키값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흐름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45~57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·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·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·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흐름도와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송수신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다이어그램</a:t>
                      </a:r>
                      <a:endParaRPr lang="en-US" sz="1250" dirty="0">
                        <a:solidFill>
                          <a:srgbClr val="2E241D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단계 순서와 주고받는 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 처리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58~64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·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·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무응답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·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안내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코드별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재호출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포인트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· 정산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65~68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승인 대행과 결제대행사(OnePG) 등록 · 정산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역할, 거래 식별값, 연동 리스크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범위 · 운영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69~77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작업 매트릭스 · 착수 전 확인 · B.O · 테스트 · 오픈 · 심사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만들고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2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확인하나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78~81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회신 · CJ ONS 확인 · 법무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누가 무엇을 답해야 하나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82~88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문서 간 불일치, 용어, 통합 플로우 · 프로세스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현재 적용 기준과 용어 뜻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88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· 정책 기준 · 앱 구조 · 개발 주체</a:t>
            </a:r>
            <a:endParaRPr lang="ko-KR" sz="15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  결론과 핵심 수치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   정책 기준 6가지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   독자별 먼저 볼 장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   앱 구조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   화면별 구분과 연동 관계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   구성 요소와 개발 주체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11" name="간지 목록"/>
          <p:cNvSpPr txBox="1"/>
          <p:nvPr/>
        </p:nvSpPr>
        <p:spPr>
          <a:xfrm>
            <a:off x="822960" y="578815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   유스케이스 6개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88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결론과 핵심 수치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API 호출은 메가MGC커피 서버, Webview는 거래번호만 처리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구조와 정책은 정해졌고, 착수 전에는 핏콜라보의 pgType OnePG 추가 일정을 확인해야 합니다.</a:t>
            </a:r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핵심 수치"/>
          <p:cNvSpPr txBox="1"/>
          <p:nvPr/>
        </p:nvSpPr>
        <p:spPr>
          <a:xfrm>
            <a:off x="777240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8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9종</a:t>
            </a:r>
            <a:endParaRPr lang="ko-KR" sz="2800" dirty="0"/>
          </a:p>
        </p:txBody>
      </p:sp>
      <p:sp>
        <p:nvSpPr>
          <p:cNvPr id="8" name="수치 설명"/>
          <p:cNvSpPr txBox="1"/>
          <p:nvPr/>
        </p:nvSpPr>
        <p:spPr>
          <a:xfrm>
            <a:off x="777240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메가MGC커피가 부르는 API</a:t>
            </a:r>
          </a:p>
        </p:txBody>
      </p:sp>
      <p:sp>
        <p:nvSpPr>
          <p:cNvPr id="9" name="Shape 6"/>
          <p:cNvSpPr/>
          <p:nvPr/>
        </p:nvSpPr>
        <p:spPr>
          <a:xfrm>
            <a:off x="3367278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핵심 수치"/>
          <p:cNvSpPr txBox="1"/>
          <p:nvPr/>
        </p:nvSpPr>
        <p:spPr>
          <a:xfrm>
            <a:off x="3595878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8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9곳</a:t>
            </a:r>
            <a:endParaRPr lang="ko-KR" sz="2800" dirty="0"/>
          </a:p>
        </p:txBody>
      </p:sp>
      <p:sp>
        <p:nvSpPr>
          <p:cNvPr id="11" name="수치 설명"/>
          <p:cNvSpPr txBox="1"/>
          <p:nvPr/>
        </p:nvSpPr>
        <p:spPr>
          <a:xfrm>
            <a:off x="3595878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등록하는 카드사 앱</a:t>
            </a:r>
            <a:endParaRPr lang="ko-KR" sz="1200" dirty="0"/>
          </a:p>
        </p:txBody>
      </p:sp>
      <p:sp>
        <p:nvSpPr>
          <p:cNvPr id="12" name="Shape 9"/>
          <p:cNvSpPr/>
          <p:nvPr/>
        </p:nvSpPr>
        <p:spPr>
          <a:xfrm>
            <a:off x="6185916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핵심 수치"/>
          <p:cNvSpPr txBox="1"/>
          <p:nvPr/>
        </p:nvSpPr>
        <p:spPr>
          <a:xfrm>
            <a:off x="6414516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8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5종</a:t>
            </a:r>
            <a:endParaRPr lang="ko-KR" sz="2800" dirty="0"/>
          </a:p>
        </p:txBody>
      </p:sp>
      <p:sp>
        <p:nvSpPr>
          <p:cNvPr id="14" name="수치 설명"/>
          <p:cNvSpPr txBox="1"/>
          <p:nvPr/>
        </p:nvSpPr>
        <p:spPr>
          <a:xfrm>
            <a:off x="6414516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200" kern="0" spc="-4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앱카드를 더하는 결제 화면</a:t>
            </a:r>
          </a:p>
        </p:txBody>
      </p:sp>
      <p:sp>
        <p:nvSpPr>
          <p:cNvPr id="15" name="Shape 12"/>
          <p:cNvSpPr/>
          <p:nvPr/>
        </p:nvSpPr>
        <p:spPr>
          <a:xfrm>
            <a:off x="9004554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핵심 수치"/>
          <p:cNvSpPr txBox="1"/>
          <p:nvPr/>
        </p:nvSpPr>
        <p:spPr>
          <a:xfrm>
            <a:off x="9233154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8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CI만</a:t>
            </a:r>
          </a:p>
        </p:txBody>
      </p:sp>
      <p:sp>
        <p:nvSpPr>
          <p:cNvPr id="17" name="수치 설명"/>
          <p:cNvSpPr txBox="1"/>
          <p:nvPr/>
        </p:nvSpPr>
        <p:spPr>
          <a:xfrm>
            <a:off x="9233154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핏콜라보로 보내는 개인정보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343967"/>
              </p:ext>
            </p:extLst>
          </p:nvPr>
        </p:nvGraphicFramePr>
        <p:xfrm>
          <a:off x="548640" y="3154680"/>
          <a:ext cx="11091672" cy="154813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6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핏콜라보 API를 호출하고, Webview는 거래번호만 인증 모듈에 넘김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2종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ko-KR" alt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</a:t>
                      </a:r>
                      <a:r>
                        <a:rPr lang="en-US" sz="110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거래번호(transNo)는 로그인 인증, </a:t>
                      </a:r>
                      <a:r>
                        <a:rPr lang="ko-KR" alt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r>
                        <a:rPr lang="en-US" sz="110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거래번호(tid)는 결제 승인에 쓰는 별개 값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범위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ko-KR" alt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</a:t>
                      </a:r>
                      <a:r>
                        <a:rPr lang="en-US" sz="110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메가MGC커피는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로그인 버튼 · 결제수단 화면을 만들고, </a:t>
                      </a:r>
                      <a:r>
                        <a:rPr lang="ko-KR" alt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r>
                        <a:rPr lang="en-US" sz="110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핏콜라보는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인증 모듈 · 카드관리 페이지를 제공함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642078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 작업</a:t>
                      </a:r>
                      <a:endParaRPr lang="en-US" sz="1100" b="1" dirty="0">
                        <a:solidFill>
                          <a:srgbClr val="2E241D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pgType에 OnePG를 추가</a:t>
                      </a: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해야 앱카드 승인이 결제대행사에 </a:t>
                      </a:r>
                      <a:r>
                        <a:rPr lang="en-US" sz="110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등록됨</a:t>
                      </a: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</a:t>
                      </a:r>
                      <a:r>
                        <a:rPr lang="ko-KR" altLang="en-US" sz="1100" b="1" dirty="0" err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r>
                        <a:rPr lang="ko-KR" alt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↔ </a:t>
                      </a:r>
                      <a:r>
                        <a:rPr lang="en-US" altLang="ko-KR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</a:t>
                      </a:r>
                      <a:r>
                        <a:rPr lang="ko-KR" alt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일정 검토 필요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저장</a:t>
                      </a:r>
                      <a:endParaRPr lang="en-US" sz="1100" b="1" dirty="0">
                        <a:solidFill>
                          <a:srgbClr val="2E241D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인증 결과 조회 응답의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gender · email · </a:t>
                      </a:r>
                      <a:r>
                        <a:rPr lang="en-US" sz="1100" b="1" dirty="0" err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di를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저장하지 않음(계약 제외 항목)</a:t>
                      </a:r>
                      <a:endParaRPr lang="en-US" sz="1100" b="1" dirty="0">
                        <a:solidFill>
                          <a:srgbClr val="2E241D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88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83480"/>
            <a:ext cx="1109167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983480"/>
            <a:ext cx="11091672" cy="310896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 eaLnBrk="0"/>
            <a:r>
              <a:rPr sz="1100" b="1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요약 연동 구조   </a:t>
            </a:r>
            <a:r>
              <a:rPr sz="110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①Native → ②Webview → ③메가MGC커피 서버 → ④핏콜라보 서버 → ⑤결제대행사 순으로 거래번호와 승인 정보 송·수신</a:t>
            </a:r>
            <a:endParaRPr sz="1100" dirty="0">
              <a:solidFill>
                <a:srgbClr val="2E241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1691640" cy="548640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Native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 버튼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5623560"/>
            <a:ext cx="1691640" cy="548640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브릿지 · 인증 모듈 표시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0368" y="5623560"/>
            <a:ext cx="1691640" cy="548640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15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</a:t>
            </a:r>
            <a:r>
              <a:rPr sz="11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서버</a:t>
            </a:r>
            <a:endParaRPr sz="1150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algn="ctr" eaLnBrk="0"/>
            <a:r>
              <a:rPr sz="950" b="0" dirty="0" err="1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토큰</a:t>
            </a:r>
            <a:r>
              <a:rPr sz="950" b="0" dirty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보관</a:t>
            </a:r>
            <a:r>
              <a:rPr sz="950" b="0" dirty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950" b="0" dirty="0" err="1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CI로</a:t>
            </a:r>
            <a:r>
              <a:rPr sz="950" b="0" dirty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계정</a:t>
            </a:r>
            <a:r>
              <a:rPr sz="950" b="0" dirty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확인</a:t>
            </a:r>
            <a:endParaRPr sz="950" b="0" dirty="0">
              <a:solidFill>
                <a:srgbClr val="E6DDD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488936" y="5623560"/>
            <a:ext cx="1691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150" b="1" dirty="0" err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  <a:r>
              <a:rPr sz="1150" b="1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1" dirty="0" err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서버</a:t>
            </a:r>
            <a:endParaRPr sz="1150" b="1" dirty="0">
              <a:solidFill>
                <a:srgbClr val="FF0000"/>
              </a:solidFill>
              <a:latin typeface="Malgun Gothic"/>
              <a:ea typeface="Malgun Gothic"/>
              <a:cs typeface="Malgun Gothic"/>
            </a:endParaRPr>
          </a:p>
          <a:p>
            <a:pPr algn="ctr" eaLnBrk="0"/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발급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대행</a:t>
            </a:r>
            <a:endParaRPr sz="950" b="0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747504" y="5623560"/>
            <a:ext cx="1691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 · 정산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367528"/>
            <a:ext cx="6208776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05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메가MGC커피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8936" y="5367528"/>
            <a:ext cx="169164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050" b="1" dirty="0" err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  <a:endParaRPr sz="1050" b="1" dirty="0">
              <a:solidFill>
                <a:srgbClr val="FF000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747504" y="5367528"/>
            <a:ext cx="169164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외부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441448" y="5897880"/>
            <a:ext cx="493776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359152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열기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700016" y="5897880"/>
            <a:ext cx="493776" cy="0"/>
          </a:xfrm>
          <a:prstGeom prst="line">
            <a:avLst/>
          </a:prstGeom>
          <a:ln w="12700">
            <a:solidFill>
              <a:srgbClr val="7A6A5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617720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958584" y="5897880"/>
            <a:ext cx="493776" cy="0"/>
          </a:xfrm>
          <a:prstGeom prst="line">
            <a:avLst/>
          </a:prstGeom>
          <a:ln w="12700">
            <a:solidFill>
              <a:srgbClr val="7A6A5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76288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API 9종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17151" y="5897880"/>
            <a:ext cx="493777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134855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정책 기준 6가지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기준: 앱카드 연동 기준 6가지 확정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6가지는 개발이 따르는 최종 기준이며, 세부 처리 기준은 확정 정책(12~23장)에 있습니다.</a:t>
            </a:r>
          </a:p>
        </p:txBody>
      </p:sp>
      <p:graphicFrame>
        <p:nvGraphicFramePr>
          <p:cNvPr id="7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49942"/>
              </p:ext>
            </p:extLst>
          </p:nvPr>
        </p:nvGraphicFramePr>
        <p:xfrm>
          <a:off x="548640" y="1783080"/>
          <a:ext cx="11091672" cy="337317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39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안 약관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07950" indent="-10795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약관은 인증 모듈에 넣지 않음(storeTermYN 미사용, termYN=N)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유지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07950" indent="-10795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자체 토큰으로 로그인 유지(핏콜라보 토큰 인증 API 미사용)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다른 수단으로 가입하는 고객도 본인인증 화면에서 앱카드 인증 선택 가능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KCP 본인인증 건수 감소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 방식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결제는 </a:t>
                      </a:r>
                      <a:r>
                        <a:rPr lang="en-US" sz="125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밀어서 결제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 확인(생체인증 · 비밀번호 미적용)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한도는 현행 간편결제 · 신용카드와 같은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결제에만 적용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5989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정책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앱카드는 신규 가입 수단, CI는 KCP 없이 앱카드 인증으로 받음</a:t>
                      </a:r>
                    </a:p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있으면 어느 수단으로 들어와도 그 계정으로 로그인</a:t>
                      </a:r>
                    </a:p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신규 가입은 휴대폰 번호 가입과 같은 가입 판정(13장)</a:t>
                      </a:r>
                    </a:p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만 14세 미만은 보호자 본인인증 · 동의 뒤 가입(14장)</a:t>
                      </a:r>
                    </a:p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재가입 제한 · 결제수단 기억은 현행 정책을 CI 기준으로 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앱에 CI 미보유 기존</a:t>
                      </a: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오픈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가입 · 로그인 · 결제 화면 5종 · 카드 관리를 </a:t>
                      </a:r>
                      <a:r>
                        <a:rPr lang="en-US" sz="125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번에 오픈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070291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 · 로그인과 본인인증 화면 모두 KCP를 거치지 않아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인증 수수료가 줄어듭니다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독자별 먼저 볼 장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독자별 먼저 볼 장: 기획 · 개발 3영역 · 결제대행사별 구분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기획은 정책 기준 · 확인 필요를, 개발은 연동 구조 · 처리 흐름 · 예외를, 결제대행사는 정산 장을 먼저 봅니다.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651262"/>
              </p:ext>
            </p:extLst>
          </p:nvPr>
        </p:nvGraphicFramePr>
        <p:xfrm>
          <a:off x="548640" y="1783080"/>
          <a:ext cx="11091672" cy="380593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9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88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먼저 볼 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74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기획(마케팅1팀)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정책 기준(5)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정책(12~23)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화면(25~31)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확인 필요(79~81)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정책 기준 6가지, 화면 요소별 동작</a:t>
                      </a: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회신 대기 항목, CJ ONS 확인 항목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개발(Native)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연동 구조(33~44)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처리 흐름(46~57)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버튼으로 브릿지 페이지 열기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앱 9곳 등록 · 주소 가로채기 · Android 복귀 포커스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611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개발(Webview)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화면(25~31)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연동 구조(33~44)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예외(59~64)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 · 브릿지 페이지 · 결과 코드 출처 검증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· 본인인증 화면의 앱카드 선택, 결제 버튼 잠금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7476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개발(메가MGC커피 서버)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정책(12~23)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API(33~44)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처리 흐름(46~57)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예외(59~64)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API 9종 호출, token · reqToken 보관</a:t>
                      </a: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가입(KCP 없이 CI) · 같은 CI 계정 로그인</a:t>
                      </a: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무응답 처리 · 주문 실패 승인 취소 · 미확인 거래 정리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결제대행사(OnePG)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결제대행사 · 정산(66~68)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예외(59~64)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OnePG를 추가한 뒤 승인 등록을 받는 방식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거래 식별값 연결, 취소 · 정산 경로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 서버 담당은 연동 구조(33~44장)부터 예외(59~64장)까지를 먼저 봅니다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앱 구조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구조: Native 화면 3개 외 모두 Webview로 동작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앱은 하이브리드 앱이라 로그인 수단 선택 · 전체메뉴 · 홈만 Native이고, 인증 · 결제 · 카드 관리는 Webview입니다.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2531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5216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인증 모듈은 Webview 위에 뜨고,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 호출은 메가MGC커피 서버만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329184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10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고객 휴대폰 · 메가MGC커피 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783080"/>
            <a:ext cx="201168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10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783080"/>
            <a:ext cx="4462272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10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외부 연동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194560"/>
            <a:ext cx="3291840" cy="9601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Native</a:t>
            </a:r>
          </a:p>
          <a:p>
            <a:pPr algn="ctr" eaLnBrk="0"/>
            <a:r>
              <a:rPr sz="105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홈 · 전체메뉴 · 로그인 수단 선택</a:t>
            </a:r>
          </a:p>
          <a:p>
            <a:pPr algn="ctr" eaLnBrk="0"/>
            <a:r>
              <a:rPr sz="105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매장 · 메뉴 선택 · 장바구니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886200"/>
            <a:ext cx="3291840" cy="1051560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</a:t>
            </a:r>
          </a:p>
          <a:p>
            <a:pPr algn="ctr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본인인증 · 약관 동의 · 주문하기 · 결제</a:t>
            </a:r>
          </a:p>
          <a:p>
            <a:pPr algn="ctr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주문 결과 · 등록 카드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45920" y="3154680"/>
            <a:ext cx="0" cy="73152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3310128"/>
            <a:ext cx="786384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Webview 열기</a:t>
            </a:r>
          </a:p>
          <a:p>
            <a:pPr algn="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포커스 전달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291840" y="3154680"/>
            <a:ext cx="0" cy="73152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46704" y="3401568"/>
            <a:ext cx="768096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앱 기능 요청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2194560"/>
            <a:ext cx="2011680" cy="2743200"/>
          </a:xfrm>
          <a:prstGeom prst="rect">
            <a:avLst/>
          </a:prstGeom>
          <a:solidFill>
            <a:srgbClr val="E6DDD4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회원 · 토큰 관리</a:t>
            </a:r>
          </a:p>
          <a:p>
            <a:pPr algn="ctr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주문 처리</a:t>
            </a:r>
          </a:p>
          <a:p>
            <a:pPr algn="ctr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요청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14800" y="2670048"/>
            <a:ext cx="50292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14800" y="2395728"/>
            <a:ext cx="50292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서버 호출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0" y="4407408"/>
            <a:ext cx="50292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14800" y="4133087"/>
            <a:ext cx="50292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서버 호출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78040" y="2194560"/>
            <a:ext cx="214884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2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현행 결제 승인 · 정산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3886200"/>
            <a:ext cx="214884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300" b="1" dirty="0" err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  <a:endParaRPr sz="1300" b="1" dirty="0">
              <a:solidFill>
                <a:srgbClr val="FF0000"/>
              </a:solidFill>
              <a:latin typeface="Malgun Gothic"/>
              <a:ea typeface="Malgun Gothic"/>
              <a:cs typeface="Malgun Gothic"/>
            </a:endParaRPr>
          </a:p>
          <a:p>
            <a:pPr algn="ctr" eaLnBrk="0"/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</a:t>
            </a:r>
            <a:r>
              <a:rPr sz="1050" b="0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</a:t>
            </a:r>
            <a:r>
              <a:rPr sz="1050" b="0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</a:t>
            </a:r>
            <a:endParaRPr sz="1050" b="0" dirty="0">
              <a:solidFill>
                <a:srgbClr val="2E241D"/>
              </a:solidFill>
              <a:latin typeface="Malgun Gothic"/>
              <a:ea typeface="Malgun Gothic"/>
              <a:cs typeface="Malgun Gothic"/>
            </a:endParaRPr>
          </a:p>
          <a:p>
            <a:pPr algn="ctr" eaLnBrk="0"/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</a:t>
            </a:r>
            <a:r>
              <a:rPr sz="1050" b="0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취소</a:t>
            </a:r>
            <a:endParaRPr sz="1050" b="0" dirty="0">
              <a:solidFill>
                <a:srgbClr val="2E241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921240" y="2194560"/>
            <a:ext cx="1691640" cy="274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</a:t>
            </a:r>
          </a:p>
          <a:p>
            <a:pPr algn="ctr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629400" y="2670048"/>
            <a:ext cx="5486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629400" y="2395728"/>
            <a:ext cx="54864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요청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629400" y="4407408"/>
            <a:ext cx="548640" cy="0"/>
          </a:xfrm>
          <a:prstGeom prst="line">
            <a:avLst/>
          </a:prstGeom>
          <a:ln w="15875">
            <a:solidFill>
              <a:srgbClr val="FF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629400" y="4133087"/>
            <a:ext cx="54864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API 호출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8247888" y="3154680"/>
            <a:ext cx="0" cy="73152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302752" y="3383280"/>
            <a:ext cx="155448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· 정산 정보 전달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26880" y="2670048"/>
            <a:ext cx="59436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326880" y="2395728"/>
            <a:ext cx="59436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26880" y="4407408"/>
            <a:ext cx="594360" cy="0"/>
          </a:xfrm>
          <a:prstGeom prst="line">
            <a:avLst/>
          </a:prstGeom>
          <a:ln w="15875">
            <a:solidFill>
              <a:srgbClr val="FF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326880" y="4133087"/>
            <a:ext cx="59436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인증 · 승인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468880" y="4937760"/>
            <a:ext cx="0" cy="384048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68880" y="5321808"/>
            <a:ext cx="5779008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247888" y="4937760"/>
            <a:ext cx="0" cy="384048"/>
          </a:xfrm>
          <a:prstGeom prst="line">
            <a:avLst/>
          </a:prstGeom>
          <a:ln w="15875">
            <a:solidFill>
              <a:srgbClr val="FF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926080" y="5358384"/>
            <a:ext cx="493776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9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인증 모듈 호출(Webview → 핏콜라보)</a:t>
            </a:r>
          </a:p>
        </p:txBody>
      </p:sp>
      <p:sp>
        <p:nvSpPr>
          <p:cNvPr id="42" name="흐름 번호 1"/>
          <p:cNvSpPr/>
          <p:nvPr/>
        </p:nvSpPr>
        <p:spPr>
          <a:xfrm>
            <a:off x="1737360" y="3401568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0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43" name="흐름 번호 2"/>
          <p:cNvSpPr/>
          <p:nvPr/>
        </p:nvSpPr>
        <p:spPr>
          <a:xfrm>
            <a:off x="4247388" y="3840480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0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44" name="흐름 번호 3"/>
          <p:cNvSpPr/>
          <p:nvPr/>
        </p:nvSpPr>
        <p:spPr>
          <a:xfrm>
            <a:off x="6784848" y="3840480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0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45" name="흐름 번호 4"/>
          <p:cNvSpPr/>
          <p:nvPr/>
        </p:nvSpPr>
        <p:spPr>
          <a:xfrm>
            <a:off x="3931920" y="5367528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0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46" name="흐름 번호 5"/>
          <p:cNvSpPr/>
          <p:nvPr/>
        </p:nvSpPr>
        <p:spPr>
          <a:xfrm>
            <a:off x="9505188" y="3840480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0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47" name="흐름 번호 6"/>
          <p:cNvSpPr/>
          <p:nvPr/>
        </p:nvSpPr>
        <p:spPr>
          <a:xfrm>
            <a:off x="7955279" y="3401568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0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548640" y="5614416"/>
            <a:ext cx="11091672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1~6은 앱카드 인증 · 결제의 데이터 흐름 순서이며, 번호 없는 선은 현행 결제 흐름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화면별 구분과 연동 관계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화면: Native 로그인 버튼 1곳 · Webview 화면 9곳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Native 로그인 버튼과 Webview 결제 · 카드 관리 화면에 들어가고,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전체메뉴에는 넣지 않습니다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840683"/>
              </p:ext>
            </p:extLst>
          </p:nvPr>
        </p:nvGraphicFramePr>
        <p:xfrm>
          <a:off x="548640" y="1783080"/>
          <a:ext cx="11091672" cy="362651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연동이 더하는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버튼이 브릿지 페이지를 열어 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로그인 수단 5종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· 약관 동의 · 가입 완료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본인인증 수단에 앱카드 인증을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미가입 회원만 진입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주문하기(메가오더 · 함께오더)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함께오더 · 픽업 예약 포함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주문하기(퀵오더)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퀵오더 전용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주문하기(홀케이크 · MD 예약)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메가오더와 같은 결제수단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선불카드 구매도 같은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685333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메가선불카드 금액 충전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선불카드별 충전 팝업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873099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·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결제 때 이 화면 위에 인증 모듈을 띄움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일반 · 등록 카드 결제 공통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실패 · 취소 안내 문구를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완료 · 실패 · 취소별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카드 관리(메가퀵결제)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카드관리 페이지 진입을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전체메뉴 &gt; 결제 아래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연동은 현행 화면에 요소를 더하는 방식이며, 새로 만드는 화면은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브릿지 페이지뿐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구성 요소와 개발 주체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주체: 구성 요소 9개 중 CJ ONS 4개 · 핏콜라보 3개 담당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ONS는 Native · 메가MGC커피 서버를 고치고 브릿지 페이지 · 공통 웹 컴포넌트를 새로 만들며, 핏콜라보는 3개를 제공합니다.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189891"/>
              </p:ext>
            </p:extLst>
          </p:nvPr>
        </p:nvGraphicFramePr>
        <p:xfrm>
          <a:off x="548640" y="1783080"/>
          <a:ext cx="11091671" cy="363367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4276586891"/>
                    </a:ext>
                  </a:extLst>
                </a:gridCol>
                <a:gridCol w="4050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 요소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흐름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주체 · 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수단 선택의 앱카드 버튼, 카드사 앱 열기,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토큰 수신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Native 로그인 버튼으로 열리며, 인증 모듈을 띄울</a:t>
                      </a: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컴포넌트를 담음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거래번호로 인증 모듈 표시, 결과 코드 수신 · 출처 검증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선택 · 약관 동의 뒤 카드사 앱 인증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9곳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본인 카드 인증 뒤 메가MGC커피 앱으로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· 카드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API 호출 · 토큰 보관 · CI 계정</a:t>
                      </a: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· 주문 · 취소 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· 카드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거래번호 발급 · 인증 결과 제공 · 승인 대행 · 결제대행사 등록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조회 · 등록 · 삭제, 닫으면 메가퀵결제로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핏콜라보의 승인 등록 수신 · 정산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· 범위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88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유스케이스 6개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유스케이스: 고객용 4가지 · 결제 취소 1가지 · 주기 작업 1가지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· 로그인과 카드 관리는 핏콜라보 · 카드사 앱과, 결제 · 취소 · 미확인 거래 정리는 결제대행사까지 연결됩니다.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2531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5216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· 상담원의 결제 취소와 메가MGC커피 서버의 미확인 거래 정리도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 범위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55648"/>
            <a:ext cx="173736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050" b="1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누가</a:t>
            </a:r>
            <a:r>
              <a:rPr sz="1050" b="1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쓰나</a:t>
            </a:r>
            <a:endParaRPr sz="1050" b="1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3160" y="1755648"/>
            <a:ext cx="457200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105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기능(메가MGC커피 앱 · 메가MGC커피 서버)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755648"/>
            <a:ext cx="14173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쓰는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755648"/>
            <a:ext cx="9601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05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1755648"/>
            <a:ext cx="9601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1755648"/>
            <a:ext cx="987552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결제대행사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167127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0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  <a:endParaRPr sz="1000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2286000" y="2363724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423160" y="2103120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앱카드로 가입 · 로그인</a:t>
            </a:r>
          </a:p>
          <a:p>
            <a:pPr algn="l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앱카드 CI로 가입하고, 같은 CI 계정이 있으면 그 계정으로 로그인함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103120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 ① · 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103120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2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103120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2103120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7132320" y="2656332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48640" y="2752343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86000" y="2948939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423160" y="2688335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로그인 뒤 주문으로 복귀</a:t>
            </a:r>
          </a:p>
          <a:p>
            <a:pPr algn="l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비로그인 주문 중 로그인하면 주문 화면으로 돌아감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688335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앱 안 이동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688335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92640" y="2688335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52760" y="2688335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7132320" y="3241547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48640" y="3337559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286000" y="3534156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423160" y="3273551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 결제(원클릭 · 인증 결제)</a:t>
            </a:r>
          </a:p>
          <a:p>
            <a:pPr algn="l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등록 카드는 바로 승인, 새 카드는 카드사 앱 인증 뒤 승인함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3273551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①~④ · 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273551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2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3273551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52760" y="3273551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132320" y="3826763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48640" y="3922776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286000" y="4119372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2423160" y="3858768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등록 카드 조회 · 추가 · 삭제</a:t>
            </a:r>
          </a:p>
          <a:p>
            <a:pPr algn="l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메가퀵결제에서 핏콜라보 카드관리 페이지로 이동함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3858768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 관리 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858768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2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3858768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52760" y="3858768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endParaRPr/>
          </a:p>
        </p:txBody>
      </p:sp>
      <p:cxnSp>
        <p:nvCxnSpPr>
          <p:cNvPr id="48" name="Connector 47"/>
          <p:cNvCxnSpPr/>
          <p:nvPr/>
        </p:nvCxnSpPr>
        <p:spPr>
          <a:xfrm>
            <a:off x="7132320" y="4411980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548640" y="4507992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 · 매장 · 상담원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286000" y="4704588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2423160" y="4443983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취소(전체)</a:t>
            </a:r>
          </a:p>
          <a:p>
            <a:pPr algn="l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취소 요청을 승인 취소 API로 처리함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4443983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4443983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2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4443983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652760" y="4443983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132320" y="4997196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48640" y="5093207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286000" y="5289803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2423160" y="5029199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미확인 거래 정리</a:t>
            </a:r>
          </a:p>
          <a:p>
            <a:pPr algn="l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응답을 못 받은 거래를 상태 조회로 확정하거나 취소함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2320" y="5029199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⑥ · 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5029199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2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92640" y="5029199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652760" y="5029199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0" y="5559552"/>
            <a:ext cx="2953512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r" eaLnBrk="0"/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●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기능이</a:t>
            </a:r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연결되는</a:t>
            </a:r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외부</a:t>
            </a:r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시스템</a:t>
            </a:r>
            <a:endParaRPr sz="900" b="0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본문"/>
          <p:cNvSpPr txBox="1"/>
          <p:nvPr/>
        </p:nvSpPr>
        <p:spPr>
          <a:xfrm>
            <a:off x="548640" y="5559552"/>
            <a:ext cx="804672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 · 호출 경로는 39장, 기능별 호출 순서는 46~57장(처리 흐름)에서 확인함</a:t>
            </a:r>
          </a:p>
        </p:txBody>
      </p:sp>
      <p:sp>
        <p:nvSpPr>
          <p:cNvPr id="6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수단 · 거래번호 · 결제 · 카드 관리 · 개인정보 기준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   앱카드 가입 수단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   앱카드 가입 판정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   만 14세 미만 가입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   거래번호 · 토큰 원칙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   결제 정책(판단 · 경로)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   결제 정책(결과 · 정산 · 취소)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3093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   결제 정책(결제 화면별 기준)</a:t>
            </a:r>
          </a:p>
        </p:txBody>
      </p:sp>
      <p:sp>
        <p:nvSpPr>
          <p:cNvPr id="13" name="간지 목록"/>
          <p:cNvSpPr txBox="1"/>
          <p:nvPr/>
        </p:nvSpPr>
        <p:spPr>
          <a:xfrm>
            <a:off x="63093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   카드사 9곳 코드 · 앱 등록값</a:t>
            </a:r>
          </a:p>
        </p:txBody>
      </p:sp>
      <p:sp>
        <p:nvSpPr>
          <p:cNvPr id="14" name="간지 목록"/>
          <p:cNvSpPr txBox="1"/>
          <p:nvPr/>
        </p:nvSpPr>
        <p:spPr>
          <a:xfrm>
            <a:off x="63093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   카드 관리 정책</a:t>
            </a:r>
          </a:p>
        </p:txBody>
      </p:sp>
      <p:sp>
        <p:nvSpPr>
          <p:cNvPr id="15" name="간지 목록"/>
          <p:cNvSpPr txBox="1"/>
          <p:nvPr/>
        </p:nvSpPr>
        <p:spPr>
          <a:xfrm>
            <a:off x="63093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   개인정보 별표2 대조</a:t>
            </a:r>
          </a:p>
        </p:txBody>
      </p:sp>
      <p:sp>
        <p:nvSpPr>
          <p:cNvPr id="16" name="간지 목록"/>
          <p:cNvSpPr txBox="1"/>
          <p:nvPr/>
        </p:nvSpPr>
        <p:spPr>
          <a:xfrm>
            <a:off x="63093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   현행 시스템 연결 ① 회원 · 로그인</a:t>
            </a:r>
          </a:p>
        </p:txBody>
      </p:sp>
      <p:sp>
        <p:nvSpPr>
          <p:cNvPr id="17" name="간지 목록"/>
          <p:cNvSpPr txBox="1"/>
          <p:nvPr/>
        </p:nvSpPr>
        <p:spPr>
          <a:xfrm>
            <a:off x="63093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   현행 시스템 연결 ② 주문 · 결제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88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앱카드 가입 수단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</a:rPr>
              <a:t>가입 수단: 앱카드로 신규 가입, 같은 CI면 기존 계정으로 로그인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가입의 CI는 KCP 없이 앱카드 인증으로 받고, 같은 CI 계정이 있으면 그 계정으로 로그인합니다.</a:t>
            </a:r>
          </a:p>
        </p:txBody>
      </p:sp>
      <p:graphicFrame>
        <p:nvGraphicFramePr>
          <p:cNvPr id="1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265724"/>
              </p:ext>
            </p:extLst>
          </p:nvPr>
        </p:nvGraphicFramePr>
        <p:xfrm>
          <a:off x="548640" y="2606040"/>
          <a:ext cx="11091671" cy="280888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0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1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62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가입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4996" indent="-94996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없으면 메가MGC커피 서버가 KCP 본인인증 없이 앱카드 인증의 CI로 가입시킴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수정(가입 수단에 앱카드 추가)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4996" indent="-94996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CI로 다른 수단에 가입한 계정이 있으면 메가MGC커피 서버가 그 계정으로 로그인시킴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 구조와 다름)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수단 로그인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4996" indent="-94996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앱카드로 가입한 회원이 다른 수단으로 들어와도 같은 CI면 그 계정으로 로그인시킴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 구조와 다름)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구조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4996" indent="-94996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1명(CI 1개)에 로그인 수단 여러 개를 연결하고, 1인 1계정은 CI로 관리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 구조와 다름)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4996" indent="-94996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다른 수단으로 가입하는 고객도 본인인증 화면에서 앱카드 인증 선택 가능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수정(인증 선택지 추가)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491494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 판정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4996" indent="-94996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휴대폰 번호 가입과 같은 판정 순서로 신규 가입 처리(13장)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수정(앱카드 인증 값 연결)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미만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4996" indent="-94996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 본인인증 · 동의를 마친 뒤 가입(14장)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보호자 동의 화면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100" b="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3243279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88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755648"/>
            <a:ext cx="4480560" cy="713232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수단</a:t>
            </a:r>
          </a:p>
          <a:p>
            <a:pPr algn="ctr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휴대폰 번호 · 간편 로그인 4종 · </a:t>
            </a:r>
            <a:r>
              <a:rPr sz="105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앱카드(신규)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755648"/>
            <a:ext cx="457200" cy="71323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80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1755648"/>
            <a:ext cx="2468880" cy="713232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CI</a:t>
            </a:r>
          </a:p>
          <a:p>
            <a:pPr algn="ctr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KCP 없이 앱카드 인증으로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1755648"/>
            <a:ext cx="457200" cy="71323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80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=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755648"/>
            <a:ext cx="3227832" cy="713232"/>
          </a:xfrm>
          <a:prstGeom prst="rect">
            <a:avLst/>
          </a:prstGeom>
          <a:solidFill>
            <a:srgbClr val="E6DDD4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회원 ID</a:t>
            </a:r>
          </a:p>
          <a:p>
            <a:pPr algn="ctr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CI 1개에 로그인 수단 여러 개 연결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 · 로그인은 KCP CI 인증을 거치지 않아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인증 수수료가 줄어듭니다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앱카드 가입 판정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판정: 휴대폰 번호 가입과 같은 판정 순서 적용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앱카드 인증 결과의 ci(연계정보) · phoneNo(휴대폰번호) · birthDate(생년월일)로 현행 가입 판정을 진행합니다.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91128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2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구분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계정이 있음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그 계정으로 로그인시키고, 로그인</a:t>
                      </a:r>
                    </a:p>
                    <a:p>
                      <a:pPr marL="103632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수단에 앱카드 연결</a:t>
                      </a:r>
                    </a:p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2개 이상이면 계정 선택 화면 표시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</a:t>
                      </a:r>
                    </a:p>
                    <a:p>
                      <a:pPr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구조와 다름)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30일이 지나지 않은 CI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가입 불가 알럿을 띄우고 로그인 수단 선택으로 돌려보냄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알럿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휴대폰번호로 적립한 오프라인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오프라인에서 적립한 스탬프를 매칭해 앱카드 회원으로 가입시킴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수정(앱카드 인증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 연결)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휴대폰번호가 다른 CI 계정에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그 번호에 기존 혜택이 있다는 고객센터 안내 알럿을 띄우고</a:t>
                      </a:r>
                    </a:p>
                    <a:p>
                      <a:pPr marL="103632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가입시키지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알럿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 · 만 14세 이상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약관 동의(KCP 본인인증 생략)를 받고 가입 완료 팝업을 띄움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수정(가입 수단에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추가)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 · 만 14세 미만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 본인인증 · 동의(14장)를 받은 뒤 가입시킴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보호자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화면 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인증의 휴대폰번호는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카드사에 등록된 현재 번호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이므로 KCP 인증 번호와 같은 기준으로 판정합니다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88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만 14세 미만 가입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14세 미만: 보호자 본인인증 · 동의 완료 뒤 가입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 번호 · 간편 로그인 · 앱카드 어느 수단이든 신규 가입이 생기는 지점에서 같은 기준으로 판정합니다.</a:t>
            </a:r>
          </a:p>
        </p:txBody>
      </p:sp>
      <p:graphicFrame>
        <p:nvGraphicFramePr>
          <p:cNvPr id="7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49942"/>
              </p:ext>
            </p:extLst>
          </p:nvPr>
        </p:nvGraphicFramePr>
        <p:xfrm>
          <a:off x="548640" y="1783080"/>
          <a:ext cx="11091672" cy="3634232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2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·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나이 판정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생년월일 8자리로 가입일 기준 만 나이를 계산함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민법 제158조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경로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휴대폰 번호 · 간편 로그인 4종 · 앱카드 · 오프라인 회원 전환의 신규 가입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만 19세 이상이며, 가입하는 아동과 CI가 달라야 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민법 제4조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인증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보호자는 KCP 휴대폰 본인인증으로 인증함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인증은 쓰지 않음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 본인인증이 끝나야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동의 체크와 가입 버튼이 켜짐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보호자 동의 화면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범위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보호자가 필수 약관 · 위치 기반 서비스 · 마케팅(선택)을 항목별로 동의함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개인정보 보호법 제22조의2</a:t>
                      </a:r>
                    </a:p>
                    <a:p>
                      <a:pPr algn="l"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위치정보법 제25조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62541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아동 정보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 동의 전에는 저장하지 않고, 인증 취소 · 실패 때 즉시 파기함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[법무팀 검토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330572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정보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이름 · 휴대폰번호 · 동의 일시 · 인증 거래번호만 저장함(CI 미저장)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[법무팀 검토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1687550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</a:t>
                      </a:r>
                    </a:p>
                    <a:p>
                      <a:pPr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도달 · 철회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만 14세가 되는 날 보호자 정보를 파기함</a:t>
                      </a: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보호자의 동의 철회는 고객센터가 받아 탈퇴로 처리함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[법무팀 검토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3686620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 동의 전에는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아동 정보를 저장하지 않고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보호자 본인인증이 끝나야 동의를 받습니다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거래번호 · 토큰 원칙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거래번호 · 토큰: 토큰은 메가MGC커피 서버에만 보관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거래번호만 Webview로 넘기고 토큰은 메가MGC커피 서버에만 보관하며, 토큰을 URL · 앱 로그에 남기지 않습니다.</a:t>
            </a:r>
            <a:endParaRPr lang="ko-KR" sz="1300" dirty="0"/>
          </a:p>
        </p:txBody>
      </p:sp>
      <p:graphicFrame>
        <p:nvGraphicFramePr>
          <p:cNvPr id="1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995338"/>
              </p:ext>
            </p:extLst>
          </p:nvPr>
        </p:nvGraphicFramePr>
        <p:xfrm>
          <a:off x="548640" y="1783080"/>
          <a:ext cx="11091672" cy="3686302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발급 · 보관하나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Webview에 넘기나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쓰나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(인증 거래번호, 16자)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인증 거래번호</a:t>
                      </a: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①로 받음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인증 모듈 호출, 인증 결과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②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(32자, 30분 · 1회용)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인증 거래번호</a:t>
                      </a: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① 응답으로 받아 보관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결과 조회 ②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(결제 거래번호, 20자)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②로 받음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인증 모듈 호출, 결제 ③~⑥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reqToken(64자)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② 응답으로 받아 보관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인증 결과 조회 ③, 승인 ④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인증 결과 조회</a:t>
                      </a: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②로 받아 보관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 목록 조회 ①, 결제 거래번호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②, 카드관리 데이터 적재 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storeAuthKey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12268" indent="-112268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고정 IP를 쓸 수 없을 때 메가MGC커피</a:t>
                      </a:r>
                    </a:p>
                    <a:p>
                      <a:pPr eaLnBrk="0"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서버가 핏콜라보에서 받음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모든 API 요청에 함께 보냄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45453"/>
            <a:ext cx="11091672" cy="21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브릿지 페이지 주소에는 메가MGC커피 내부 참조값(세션 등)만 붙이고, 앱 로그 · 분석 로그에는 토큰 원문을 남기지 않음</a:t>
            </a:r>
            <a:endParaRPr lang="ko-KR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88</a:t>
            </a:r>
          </a:p>
        </p:txBody>
      </p:sp>
      <p:sp>
        <p:nvSpPr>
          <p:cNvPr id="1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결제 정책(판단 · 경로)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 판단: 핏콜라보 응답 authYN으로 최종 결정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핏콜라보는 결제 거래번호 발급 요청을 받으면 등록 계정 · CI · 원클릭 여부를 확인해 authYN(인증 필요 여부)으로 알려 줍니다.</a:t>
            </a:r>
            <a:endParaRPr lang="ko-KR" sz="1300" dirty="0"/>
          </a:p>
        </p:txBody>
      </p:sp>
      <p:graphicFrame>
        <p:nvGraphicFramePr>
          <p:cNvPr id="1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42036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525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판단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eaLnBrk="0" marL="120904" indent="-120904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 ②에 payType(카드 구분) · acntId(간편결제 계정 ID) ·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isOneclick(원클릭 여부) · CI를 보냄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120904" indent="-120904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그 계정의 원클릭 가능 여부를 판단해 authYN=Y(바로 승인) 또는 N(인증 뒤 승인)으로 돌려줌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120904" indent="-120904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판단 조건(CI 일치 외) </a:t>
                      </a:r>
                      <a:r>
                        <a:rPr lang="en-US" sz="14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확인 필요]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경로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화면 5종(메가오더 · 함께오더 공용, 퀵오더, 홀케이크 · MD 예약, 선물 주문하기,</a:t>
                      </a: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메가선불카드 금액 충전)은 결제 경로 1개를 씀</a:t>
                      </a: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화면별 결제 전 체크를 통과한 뒤에만 결제 거래번호 발급 ②를 요청함(30장)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메가MGC커피는 일시불만 씀(Flipbook 기준)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호출값 installment(할부 개월)는 "00"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목록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앱은 카드사 9곳을 고정 목록으로 표시하고, 카드사 목록 조회 API는 쓰지 않음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eaLnBrk="0" marL="120904" indent="-120904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결제는 결제대행사에서 결제 키를 받아 결제 화면을 띄우고 승인함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120904" indent="-120904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앱카드는 결제 키 없이 핏콜라보 tid(결제 거래번호)로 인증 · 승인 · 취소 · 상태 조회를 모두 처리함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 여부는 화면 표시가 아니라 결제 거래번호 발급 응답의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authYN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정합니다</a:t>
            </a:r>
          </a:p>
        </p:txBody>
      </p:sp>
      <p:sp>
        <p:nvSpPr>
          <p:cNvPr id="16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결제 정책(결과 · 정산 · 취소)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결과: 결과 통지 없이 메가MGC커피 서버가 조회해 확정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묻고 응답으로 받는 단방향 구조라서, 메가MGC커피는 결과 수신 창구를 만들지 않습니다.</a:t>
            </a:r>
            <a:endParaRPr lang="ko-KR" sz="1300" dirty="0"/>
          </a:p>
        </p:txBody>
      </p:sp>
      <p:graphicFrame>
        <p:nvGraphicFramePr>
          <p:cNvPr id="1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007199"/>
              </p:ext>
            </p:extLst>
          </p:nvPr>
        </p:nvGraphicFramePr>
        <p:xfrm>
          <a:off x="548640" y="1783080"/>
          <a:ext cx="11091672" cy="36449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전달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핏콜라보는 승인 결과를 승인 요청의 응답에 담아 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메가MGC커피 서버로 결과를 따로 보내는 통지는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정산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핏콜라보는 승인을 대행한 뒤 결제대행사에 승인 · 정산 정보를 등록함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대금 정산은 현행 결제대행사 기준을 그대로 따름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25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취소만</a:t>
                      </a: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요청하고, 부분 취소는 하지 않음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취소 경로와 예약 미수령 폐기 기준은 18장을 따르며, 취소 기간 제한은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일부 쓴 메가선불카드 충전 · 선물은 현행 잔액 기준 환불 조건으로 잔액을 돌려줌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승인 취소는 쓰지 않은 충전 · 선물에만 요청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결제는 밀어서 결제로 확인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 결제에도 생체인증 · 비밀번호를 걸지 않음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한도는 현행 간편결제 · 신용카드 결제와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자동 등록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인증을 하면 그 카드가 결제 계정으로 자동 등록돼 첫 결제부터 원클릭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자동 등록의 고객 동의 범위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[법무팀 검토 필요]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결과 수신 창구를 만들지 않고, 응답이 없으면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조회로 확정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결제 정책(결제 화면별 기준)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화면별 기준: 다섯 결제 화면 모두 같은 결제 · 취소 기준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금액 · 증빙 · 확인 방식 · 취소 기준을 결제 화면과 관계없이 하나로 맞춥니다.</a:t>
            </a:r>
          </a:p>
        </p:txBody>
      </p:sp>
      <p:graphicFrame>
        <p:nvGraphicFramePr>
          <p:cNvPr id="7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49942"/>
              </p:ext>
            </p:extLst>
          </p:nvPr>
        </p:nvGraphicFramePr>
        <p:xfrm>
          <a:off x="548640" y="1783080"/>
          <a:ext cx="11091671" cy="4054398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1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62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·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전 체크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화면별 결제하기 체크를 모두 통과한 뒤 결제 거래번호 발급 ②를 요청(30장)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금액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제휴 멤버십 · 쿠폰 · 금액권 · 메가선불카드를 뺀 남은 금액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선물하기는 혜택 없이 총 결제금액 전액(선물 금액 × 받는 분 수)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일회용 컵 보증금(300원, 세종 · 제주 시행 매장)은 앱카드 금액에 넣고 비과세로 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· 증빙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메가선불카드는 다른 결제수단과 같은 기준으로 앱카드와 함께 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결제 금액은 현금영수증 발행 대상이 아니며, 영역 노출은 신용카드와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· 현금영수증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고객의 결제 인증 설정과 관계없이 밀어서 결제로 확인(선물 주문하기 포함)</a:t>
                      </a: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메가크루결제와는 함께 쓰지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퀵오더 표시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4996" indent="-94996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저장된 앱카드 계정을 카드사 · 카드번호 끝 4자리로 표시하고, 계정이 없어지면 결제수단 없음 상태로 둠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eaLnBrk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확인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1874504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경로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4996" indent="-94996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고객(주문완료 상태) · 매장 · 에이전트 자동 취소 · 상담원 · 선물 결제 취소 요청을 승인 취소 ⑤로 전체 취소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정책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6153081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미수령 폐기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결제금액을 환불하지 않으므로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취소를 요청하지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안내 문구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8389929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다인 선물 취소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받는 분이 여러 명이어도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1건 전체 취소만 허용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347614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충전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금액 충전에도 앱카드를 쓰며, 유효기간 5년 초과 · 보유 + 충전 50만원 초과면 결제 전에 막음</a:t>
                      </a: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뒤 충전이 실패하면 승인 취소 ⑤로 정리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MGC_PAY_007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504794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88</a:t>
            </a:r>
          </a:p>
        </p:txBody>
      </p:sp>
      <p:sp>
        <p:nvSpPr>
          <p:cNvPr id="73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카드사 9곳 코드 · 앱 등록값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 등록: Native에 카드사 9곳 앱 이름 사전 등록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코드는 결제 요청에 쓰고, 패키지명과 스킴은 Native가 카드사 앱을 찾아 열 때 씁니다.</a:t>
            </a:r>
            <a:endParaRPr lang="ko-KR" sz="1300" dirty="0"/>
          </a:p>
        </p:txBody>
      </p:sp>
      <p:graphicFrame>
        <p:nvGraphicFramePr>
          <p:cNvPr id="1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731895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378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코드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패키지명(queries)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</a:t>
                      </a:r>
                    </a:p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스킴(LSApplicationQueriesSchemes)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NH농협카드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1011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nh.smart.nhallonepay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nhallonepayansimclick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KB국민카드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2004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com.kbcard.cxh.appcard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kb-simplepay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com.wooricard.smartapp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com.wooricard.wcard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BC카드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2050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kvp.jjy.MispAndroid320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ispmobile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롯데카드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2055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com.lcacApp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lotteappcard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삼성카드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2066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net.ib.android.smcard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monimo.simplepay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현대카드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2077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com.hyundaicard.appcard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hyundaicardappcard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2081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com.hanaskcard.paycla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cloudpay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신한카드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2088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com.shcard.smartpay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shinhan-sr-ansimclick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5725287"/>
            <a:ext cx="11091672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로그인 규격 1.2.8 6.2.5의 목록은 이전 버전이므로 쓰지 않음</a:t>
            </a:r>
            <a:endParaRPr lang="ko-KR" sz="1050" dirty="0"/>
          </a:p>
          <a:p>
            <a:pPr algn="l" eaLnBrk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카드사 코드 · 패키지명 · 스킴이 바뀌면 핏콜라보 공지를 받아 CJ ONS가 고정 목록과 Native 등록값을 고쳐 앱을 배포함</a:t>
            </a:r>
            <a:endParaRPr lang="ko-KR" sz="1050" dirty="0"/>
          </a:p>
          <a:p>
            <a:pPr algn="l" eaLnBrk="0">
              <a:buNone/>
            </a:pPr>
            <a:r>
              <a:rPr lang="ko-KR" altLang="en-US" sz="105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[핏콜라보 공지 방식 확인 필요]</a:t>
            </a:r>
            <a:endParaRPr lang="ko-KR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88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카드 관리 정책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관리: 조회 · 등록 · 삭제는 핏콜라보 카드관리 페이지 담당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메가퀵결제 화면의 진입과 데이터 적재 호출만 만들고, 앱카드 조회 · 등록 · 삭제 화면은 핏콜라보가 제공합니다.</a:t>
            </a:r>
            <a:endParaRPr lang="ko-KR" sz="1300" dirty="0"/>
          </a:p>
        </p:txBody>
      </p:sp>
      <p:graphicFrame>
        <p:nvGraphicFramePr>
          <p:cNvPr id="1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1416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2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카드관리 페이지가 하는 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개발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90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메가퀵결제 화면에서 앱카드 관리를 누르면, 메가MGC커피 서버가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적재(insSessionData.mv)로 sessionKey(세션 키)를 받고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카드관리 페이지로 이동함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버튼, 데이터 적재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조회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CI로 등록된 앱카드 계정 목록을 보여 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등록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카드사를 고르면 인증 모듈 → 카드사 앱 인증으로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등록함(앱카드 로그인 · 결제 중 새 카드 인증 때도 자동 등록)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삭제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고른 앱카드 계정을 삭제함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12268" indent="-112268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닫기를 누르면 redirectUrl(복귀 주소)로 지정한 메가퀵결제 화면으로 돌아옴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redirectUrl 지정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복귀 포커스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12268" indent="-112268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앱에서 돌아올 때 nativeFocusHandler를 카드관리 페이지가 받아 처리함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결제와 같은 Native 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없는 기능 · 문의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 이름 변경 · 대표 카드 지정 · 약관 재표시 · 해지 기능 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해지 · 등록 카드 · 탈퇴 뒤 카드 계정 문의는 </a:t>
                      </a:r>
                      <a:r>
                        <a:rPr lang="en-US" sz="13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전담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[법무팀 해지권 검토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>
                        <a:buNone/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필요]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메가퀵결제 화면에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더하고, 카드 관리 화면은 개발하지 않습니다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개인정보 별표2 대조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개인정보: CI만 위탁, 계약 외 응답 항목은 미저장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결제 API · 카드 관리 API에 회원번호 · 주문자 이름을 보내지 않고, 고객 식별은 CI로만 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413644"/>
              </p:ext>
            </p:extLst>
          </p:nvPr>
        </p:nvGraphicFramePr>
        <p:xfrm>
          <a:off x="548640" y="1783080"/>
          <a:ext cx="11091672" cy="253034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별표2 항목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적용 · 규격 응답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65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→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(처리위탁)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CI만 위탁함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핏콜라보는 CI를 저장하지 않고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즉시 파기함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API · 결제 인증 모듈 · 카드</a:t>
                      </a: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 API에 회원번호 · 주문자</a:t>
                      </a: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이름을 보내지 않음</a:t>
                      </a:r>
                    </a:p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식별은 ci로만 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계약과 같음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116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30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(제3자 </a:t>
                      </a:r>
                      <a:r>
                        <a:rPr lang="en-US" sz="130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</a:t>
                      </a: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 · 성명 · 휴대폰번호 ·</a:t>
                      </a: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생년(4자리) · 내외국인을 받음</a:t>
                      </a:r>
                    </a:p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성별 · 이메일 · 주소는 제공</a:t>
                      </a: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항목이 아님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12268" indent="-112268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결과 조회 ② 응답에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gender(필수) · email(선택) · di가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들어옴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112268" indent="-112268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birthDate(생년월일) 8자리는 만 14세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판정에만 쓰고, 생년 4자리만 저장함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</a:t>
                      </a:r>
                    </a:p>
                    <a:p>
                      <a:pPr marL="112268" indent="0" eaLnBrk="0">
                        <a:buNone/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gender · email · di를</a:t>
                      </a:r>
                    </a:p>
                    <a:p>
                      <a:pPr marL="112268" indent="0" eaLnBrk="0">
                        <a:buNone/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저장하지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응답의 gender · email · di는 계약 제외 항목이므로 메가MGC커피 서버가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저장하지 않습니다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88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661153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661153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 eaLnBrk="0"/>
            <a:r>
              <a:rPr sz="1100" b="1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개인정보 흐름   </a:t>
            </a:r>
            <a:r>
              <a:rPr sz="110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메가MGC커피는 CI만 위탁하고, 핏콜라보가 돌려주는 5항목만 저장함</a:t>
            </a:r>
            <a:endParaRPr sz="950" b="0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13232" y="5118353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 eaLnBrk="0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회원 CI 보유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9368" y="5118353"/>
            <a:ext cx="2490216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CI로 인증 · 즉시 파기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5504" y="5118353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 eaLnBrk="0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5항목 저장 · gender · email · di 미저장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40024" y="5420105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185160" y="5026914"/>
            <a:ext cx="1682496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위탁: CI만</a:t>
            </a:r>
          </a:p>
          <a:p>
            <a:pPr algn="ctr" eaLnBrk="0"/>
            <a:r>
              <a:rPr sz="85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회원번호 · 이름 미전달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76160" y="5420105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21296" y="5026914"/>
            <a:ext cx="1682496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제공: CI · 성명 · 휴대폰</a:t>
            </a:r>
          </a:p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생년 · 내외국인</a:t>
            </a:r>
          </a:p>
        </p:txBody>
      </p:sp>
      <p:sp>
        <p:nvSpPr>
          <p:cNvPr id="29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현행 시스템 연결 ① 회원 · 로그인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회원 · 로그인: 로그인 요청 · 회원 테이블에 앱카드 값 추가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신규 가입 수단이므로, 현행 로그인 요청과 회원 테이블에 앱카드 계정 유형을 더하고 같은 CI 계정 로그인을 허용합니다.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554222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88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메가MGC커피 시스템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적용 기준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요청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 고유값 · 계정 유형을 로그인 요청</a:t>
                      </a: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(/api/login/social)으로 보내고 3종 분기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 유형에 앱카드 추가(계정 고유값은 CI)</a:t>
                      </a: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있으면 그 계정으로 로그인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5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[CJ ONS 확인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테이블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회원(APP_USER)마다 로그인유형코드 1개</a:t>
                      </a: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와 CI(암호화)를 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9314" indent="-99314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1명에 로그인 수단 여러 개 연결(구조 개선)</a:t>
                      </a:r>
                    </a:p>
                    <a:p>
                      <a:pPr eaLnBrk="0" marL="99314" indent="-99314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기존 회원의 로그인유형코드는 그대로 둠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5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[CJ ONS 확인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 미보유 회원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 없는 기존 회원은 재로그인 때 1회 수집</a:t>
                      </a: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(요구사항 FO_004 · 005)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앱에 CI 없는 기존 회원이 없어 중복 계정이</a:t>
                      </a: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생기지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재가입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탈퇴 후 30일이 지나야 재가입(새 회원ID)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신규 가입도 CI로 같은 제한 적용(13장</a:t>
                      </a: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 2)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5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확정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유지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토큰은 만료 없이 유지(FO_005),</a:t>
                      </a: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갱신 요청 /api/common/alive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토큰으로 로그인 유지(핏콜라보</a:t>
                      </a: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 인증 API 미사용)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5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확정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761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연결 기능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certificationComplete(토큰 전달)</a:t>
                      </a: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closeWindow · reqHomeFromOrd</a:t>
                      </a: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refreshApi · reqSendToken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9314" indent="-99314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브릿지 페이지 · 주문 결과에서 그대로 재사용</a:t>
                      </a:r>
                    </a:p>
                    <a:p>
                      <a:pPr eaLnBrk="0" marL="99314" indent="-99314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생체인증 요청(requestAuth · hasBio)은 쓰지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5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확정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계정 유형 값과 로그인유형코드 처리는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ONS가 현행 구조를 보고 확정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88</a:t>
            </a:r>
          </a:p>
        </p:txBody>
      </p:sp>
      <p:sp>
        <p:nvSpPr>
          <p:cNvPr id="20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현행 시스템 연결 ② 주문 · 결제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주문 · 결제: 앱카드 거래값 저장 위치 확정 필요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결제는 현행 결제대행사 검증값이 없고 거래값이 늘어나므로, 저장 위치와 금액 대조 기준을 함께 정합니다.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16071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88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메가MGC커피 시스템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적용 기준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74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결제 데이터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 결제(APP_ORD_DTL): 결제 유형 3종,</a:t>
                      </a:r>
                    </a:p>
                    <a:p>
                      <a:pPr marL="103632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코드, 승인 · 취소 번호, 거래번호 1칸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유형 · 결제수단 코드에 앱카드 추가</a:t>
                      </a: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 · approvalDate는</a:t>
                      </a:r>
                    </a:p>
                    <a:p>
                      <a:pPr marL="103632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승인번호 · 승인 일시 칸에 저장</a:t>
                      </a: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 · pgTno 저장 위치는 CJ ONS가 정함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5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[CJ ONS 확인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결제 설정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9314" indent="-99314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그룹 A 메가퀵결제 · B 신용카드 · C</a:t>
                      </a:r>
                    </a:p>
                    <a:p>
                      <a:pPr eaLnBrk="0"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간편결제, 다음 주문 결제수단 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9314" indent="-99314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그룹 값 추가</a:t>
                      </a:r>
                    </a:p>
                    <a:p>
                      <a:pPr eaLnBrk="0" marL="99314" indent="-99314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고른 앱카드 계정은 현행대로 다음 주문에 기억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5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[CJ ONS 확인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인증 설정 A 비밀번호 · B 생체인증 · C</a:t>
                      </a:r>
                    </a:p>
                    <a:p>
                      <a:pPr marL="103632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밀어서 결제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앱카드는 설정과 관계없이 밀어서 결제로</a:t>
                      </a:r>
                    </a:p>
                    <a:p>
                      <a:pPr marL="103632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확인(생체인증 · 비밀번호 미적용)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5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확정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761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검증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결제대행사는 검증값(가맹점 ID + 금액</a:t>
                      </a:r>
                    </a:p>
                    <a:p>
                      <a:pPr marL="103632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주문번호 + 꼬리값)으로 위변조 확인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앱카드는 검증값이 없어 메가MGC커피 서버가</a:t>
                      </a:r>
                    </a:p>
                    <a:p>
                      <a:pPr marL="103632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 ② · 승인 ④의 amount를</a:t>
                      </a:r>
                    </a:p>
                    <a:p>
                      <a:pPr marL="103632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금액과 대조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5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확정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761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복합 결제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쿠폰 · 교환권 · 금액권 · 선불카드 · 멤버십을</a:t>
                      </a:r>
                    </a:p>
                    <a:p>
                      <a:pPr marL="103632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 쓰고 결제수단 선택 순서 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9314" indent="-99314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amount(결제 금액)는 차감 후 남은 금액</a:t>
                      </a:r>
                    </a:p>
                    <a:p>
                      <a:pPr eaLnBrk="0" marL="99314" indent="-99314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쿠폰 · 금액권 · 선불카드는 </a:t>
                      </a:r>
                      <a:r>
                        <a:rPr lang="en-US" sz="115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차감</a:t>
                      </a: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하고, 승인</a:t>
                      </a:r>
                    </a:p>
                    <a:p>
                      <a:pPr eaLnBrk="0"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⑤ 뒤 복원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5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[CJ ONS 현행 차감</a:t>
                      </a:r>
                    </a:p>
                    <a:p>
                      <a:pPr eaLnBrk="0">
                        <a:buNone/>
                      </a:pPr>
                      <a:r>
                        <a:rPr lang="en-US" sz="115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시점 확인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6188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8873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화면에서 받은 금액이 아니라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서버의 주문 금액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결제 · 승인 금액을 대조합니다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88</a:t>
            </a:r>
          </a:p>
        </p:txBody>
      </p:sp>
      <p:sp>
        <p:nvSpPr>
          <p:cNvPr id="20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Flipbook 화면 1_1 · 1_2 · 2 · 3, 결제 화면 5종과 결제 전 체크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   화면 1_1 → 1_2 로그인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   화면 2 결제수단 목록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   화면 2 밀어서 결제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   화면 3 주문서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    결제 화면 5종 적용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   결제 전 체크 · 완료 이동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    주문 결과 상태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/ 88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1_1 → 1_2 로그인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화면: 앱카드 버튼을 누르면 핏콜라보 인증 모듈 표시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화면 1_1의 버튼을 만들고, 화면 1_2 인증 모듈은 핏콜라보가 제공하므로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메가MGC커피가 개발하지 않습니다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pic>
        <p:nvPicPr>
          <p:cNvPr id="6" name="Image 0" descr="로그인 수단 선택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762308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762308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화면 캡션"/>
          <p:cNvSpPr txBox="1"/>
          <p:nvPr/>
        </p:nvSpPr>
        <p:spPr>
          <a:xfrm>
            <a:off x="365760" y="5989319"/>
            <a:ext cx="21280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1_1 로그인(메가MGC커피)</a:t>
            </a:r>
            <a:endParaRPr lang="ko-KR" sz="1200" dirty="0"/>
          </a:p>
        </p:txBody>
      </p:sp>
      <p:pic>
        <p:nvPicPr>
          <p:cNvPr id="9" name="Image 1" descr="앱카드 인증 모듈 카드사 선택 화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0988" y="1783080"/>
            <a:ext cx="3817951" cy="39319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630988" y="1783080"/>
            <a:ext cx="3817951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화면 캡션"/>
          <p:cNvSpPr txBox="1"/>
          <p:nvPr/>
        </p:nvSpPr>
        <p:spPr>
          <a:xfrm>
            <a:off x="2448108" y="5989319"/>
            <a:ext cx="4183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1_2 인증 모듈(핏콜라보)</a:t>
            </a:r>
            <a:endParaRPr lang="ko-KR" sz="1200" dirty="0"/>
          </a:p>
        </p:txBody>
      </p:sp>
      <p:graphicFrame>
        <p:nvGraphicFramePr>
          <p:cNvPr id="2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783080"/>
          <a:ext cx="4828032" cy="386778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88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74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1_1 · 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쓰는 앱카드로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계속하기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9314" indent="-99314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Native 버튼이 브릿지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페이지를 열고, 페이지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안의 공통 웹 컴포넌트가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띄움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720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1_2 · 1, 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Dim 영역 · 닫기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9314" indent="-99314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모듈이 0003(취소)을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보내면, 공통 웹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컴포넌트가 인증 모듈과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페이지를 닫고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선택으로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돌아감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1_2 · 3~6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이용안내 · 카드사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 · 약관 동의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9314" indent="-99314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모듈이 처리하므로</a:t>
                      </a:r>
                    </a:p>
                    <a:p>
                      <a:pPr eaLnBrk="0"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개발은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74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이후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· 복귀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Webview가 카드사 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주소를 가로채 열고,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Android는 복귀 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포커스를 전달함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/ 88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2 결제수단 목록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퀵오더 결제수단: 앱카드 계정 → 카드사 선택 → 변경하기 순서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퀵오더 바텀시트는 고객의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계정을 먼저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보여 주고, 계정이 없으면 카드사 선택 칸부터 보여 줍니다.</a:t>
            </a:r>
            <a:endParaRPr lang="ko-KR" sz="1300" dirty="0"/>
          </a:p>
        </p:txBody>
      </p:sp>
      <p:pic>
        <p:nvPicPr>
          <p:cNvPr id="6" name="Image 0" descr="퀵오더 빠른결제 바텀시트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762308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762308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화면 캡션"/>
          <p:cNvSpPr txBox="1"/>
          <p:nvPr/>
        </p:nvSpPr>
        <p:spPr>
          <a:xfrm>
            <a:off x="365760" y="5989319"/>
            <a:ext cx="21280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1200" dirty="0"/>
          </a:p>
        </p:txBody>
      </p:sp>
      <p:pic>
        <p:nvPicPr>
          <p:cNvPr id="9" name="Image 1" descr="내가 쓰는 앱카드 선택 드롭다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5268" y="1783080"/>
            <a:ext cx="1763912" cy="39319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585268" y="1783080"/>
            <a:ext cx="1763912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화면 캡션"/>
          <p:cNvSpPr txBox="1"/>
          <p:nvPr/>
        </p:nvSpPr>
        <p:spPr>
          <a:xfrm>
            <a:off x="2402388" y="5989319"/>
            <a:ext cx="2129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선택 드롭다운</a:t>
            </a:r>
            <a:endParaRPr lang="ko-KR" sz="1200" dirty="0"/>
          </a:p>
        </p:txBody>
      </p:sp>
      <p:graphicFrame>
        <p:nvGraphicFramePr>
          <p:cNvPr id="2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783080"/>
          <a:ext cx="6885432" cy="3572936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5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정의와 연동 처리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989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07950" indent="-10795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계정이 있으면 계정 목록 → 카드사 선택 →</a:t>
                      </a:r>
                    </a:p>
                    <a:p>
                      <a:pPr eaLnBrk="0"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변경하기 순서</a:t>
                      </a:r>
                    </a:p>
                    <a:p>
                      <a:pPr eaLnBrk="0" marL="107950" indent="-10795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계정은 최근 사용 순, 처음 진입하면 첫 계정 선택</a:t>
                      </a:r>
                    </a:p>
                    <a:p>
                      <a:pPr eaLnBrk="0" marL="107950" indent="-10795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바텀시트가 열리면 메가MGC커피 서버가 계정 목록</a:t>
                      </a:r>
                    </a:p>
                    <a:p>
                      <a:pPr eaLnBrk="0"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① 호출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858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계정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(노출: 메가퀵결제)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 이미지 · 카드사명 · 카드명 · 마스킹</a:t>
                      </a: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번호를 보여 주고, 계정이 없으면 숨김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858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1b · 1b-1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쓰는 앱카드 선택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누르면 카드사 9곳 드롭다운이 위로 펼쳐짐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드롭다운 밖을 누르면 닫힘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858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1b-2 · 1c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선택 · 선택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고른 카드사 코드로 결제하면 인증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결제(payType 1)가 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999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변경하기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누르면 화면 3 주문서로 이동함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/ 88</a:t>
            </a:r>
          </a:p>
        </p:txBody>
      </p:sp>
      <p:sp>
        <p:nvSpPr>
          <p:cNvPr id="2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2 밀어서 결제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밀어서 결제: 끝까지 밀어야 메가MGC커피 서버가 결제 거래번호 요청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버튼은 고객이 슬라이더를 끝(value 100)까지 밀었을 때만 결제를 시작하고, 결과가 나올 때까지 잠깁니다.</a:t>
            </a:r>
            <a:endParaRPr lang="ko-KR" sz="1300" dirty="0"/>
          </a:p>
        </p:txBody>
      </p:sp>
      <p:graphicFrame>
        <p:nvGraphicFramePr>
          <p:cNvPr id="2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1" cy="318922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3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보는 흐름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처리하는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카드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①드래그 완료 → ②결제 진행 중 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③주문 완료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20904" indent="-120904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 ②(requestTid.mv)를</a:t>
                      </a:r>
                    </a:p>
                    <a:p>
                      <a:pPr eaLnBrk="0"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부름(payType 0)</a:t>
                      </a:r>
                    </a:p>
                    <a:p>
                      <a:pPr eaLnBrk="0" marL="120904" indent="-120904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authYN=Y이면 바로 승인 ④(appcardPayment.mv)를 부름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카드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①드래그 완료 → ②카드사 인증 →</a:t>
                      </a: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③결제 진행 중 → ④주문 완료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20904" indent="-120904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 ②를 부름(payType 1)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120904" indent="-120904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인증 뒤 결제 인증 결과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③(reqAuthDataPay.mv) · 승인 ④로 이어짐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상태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진행 중 문구를 보여 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Webview가 결제 요청 시점부터 인증 모듈 표시 또는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 eaLnBrk="0">
                        <a:buNone/>
                      </a:pPr>
                      <a:r>
                        <a:rPr lang="en-US" sz="14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응답까지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버튼을 잠금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input type="range" 슬라이더이며, thumb가 value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100에 닿으면 결제를 시작함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버튼을 잠그지 않으면 연속 실행으로 결제가 두 번 진행된 사례가 다른 가맹점에 있었습니다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/ 88</a:t>
            </a:r>
          </a:p>
        </p:txBody>
      </p:sp>
      <p:sp>
        <p:nvSpPr>
          <p:cNvPr id="24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3 주문서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주문서 결제수단: 앱카드 계정을 기존 메가퀵결제 계정보다 앞에 표시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주문서 결제수단은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계정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메가퀵결제 계정, 카드사 선택, 메가퀵결제 등록 순서로 놓입니다.</a:t>
            </a:r>
            <a:endParaRPr lang="ko-KR" sz="1300" dirty="0"/>
          </a:p>
        </p:txBody>
      </p:sp>
      <p:pic>
        <p:nvPicPr>
          <p:cNvPr id="6" name="Image 0" descr="주문하기 화면 결제수단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672283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672283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화면 캡션"/>
          <p:cNvSpPr txBox="1"/>
          <p:nvPr/>
        </p:nvSpPr>
        <p:spPr>
          <a:xfrm>
            <a:off x="365760" y="5989319"/>
            <a:ext cx="20380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주문서</a:t>
            </a:r>
            <a:endParaRPr lang="ko-KR" sz="1200" dirty="0"/>
          </a:p>
        </p:txBody>
      </p:sp>
      <p:graphicFrame>
        <p:nvGraphicFramePr>
          <p:cNvPr id="2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0" y="1783080"/>
          <a:ext cx="8714232" cy="2731176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3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정의와 연동 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90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목록(메가퀵결제)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12268" indent="-112268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가장 왼쪽 카드가 선택된 채로 진입하고, 드래그해도 선택 유지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112268" indent="-112268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순서: ①앱카드 계정 → ②메가퀵결제 계정 → ③카드사 선택 →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④메가퀵결제 등록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계정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(노출: 메가퀵결제)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 2와 같은 계정 목록 조회 결과를 함께 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1b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계정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12268" indent="-112268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결제대행사로 등록한 기존 간편결제라 앱카드 연동 범위가 아님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1c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쓰는 앱카드 선택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12268" indent="-112268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 2와 같지만, 버튼 아래 공간이 있어 드롭다운이 아래로 펼쳐짐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23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결제하기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 2 밀어서 결제와 같은 결제 요청을 보냄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본문"/>
          <p:cNvSpPr txBox="1"/>
          <p:nvPr/>
        </p:nvSpPr>
        <p:spPr>
          <a:xfrm>
            <a:off x="2926080" y="5440679"/>
            <a:ext cx="8714232" cy="383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결제수단을 바꿀 때 메가MGC커피는 바텀시트 또는 주문서 상태를 유지하고 결제수단만 바꿈</a:t>
            </a:r>
            <a:endParaRPr lang="ko-KR" sz="1050" dirty="0"/>
          </a:p>
          <a:p>
            <a:pPr algn="l" eaLnBrk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고객 화면에서는 앱카드 계정도 「메가퀵결제」로 표기하고, 카드 이미지 · 카드사명 · 카드번호로 구분</a:t>
            </a:r>
            <a:endParaRPr lang="ko-KR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/ 88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결제 화면 5종 적용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화면 5종: 결제수단 목록에 앱카드 추가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결제 화면은 같은 결제 경로를 쓰고, 화면마다 결제수단 목록과 결제 확인 위치만 맞춥니다.</a:t>
            </a:r>
            <a:endParaRPr lang="ko-KR" sz="1300" dirty="0"/>
          </a:p>
        </p:txBody>
      </p:sp>
      <p:graphicFrame>
        <p:nvGraphicFramePr>
          <p:cNvPr id="2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81279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결제수단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적용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 · 함께오더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4996" indent="-94996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주문하기 팝업(MGC_ORD_025)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94996" indent="-94996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픽업 예약 주문(MGC_ORD_159)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메가퀵결제 · 신용카드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· 메가크루결제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함께오더는 장바구니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위에 같은 팝업을 띄움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퀵오더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바텀시트(MGC_ORD_45)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메가퀵결제 · 신용카드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· 메가크루결제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저장된 결제수단에 앱카드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계정을 표시함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결제수단은 필수값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홀케이크 · MD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주문하기 (MGC_ORD_132 · 133)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4996" indent="-94996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메가퀵결제 · 신용카드 간편결제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전 개인정보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제3자 제공 동의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선물하기 · 선불카드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 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(MGC_ORD_112 · 113)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4996" indent="-94996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메가퀵결제 · 신용카드 간편결제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선불카드 구매는 선물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주문하기를 그대로 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메가선불카드 금액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4996" indent="-94996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금액 충전 팝업(MGC_PAY_007)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카드간편결제 · 신용카드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혜택 표시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2749847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66978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59663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결제 화면 모두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밀어서 결제로 확인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결제 경로는 하나입니다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 / 88</a:t>
            </a:r>
          </a:p>
        </p:txBody>
      </p:sp>
      <p:sp>
        <p:nvSpPr>
          <p:cNvPr id="3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결제 화면별 결제 전 체크 · 완료 이동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전 체크: 화면별 체크 통과 뒤에만 결제 거래번호 요청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결제하기를 누르면 화면설계서의 체크 로직을 먼저 돌리고, 통과하면 결제 거래번호 발급 ②로 넘어갑니다.</a:t>
            </a:r>
            <a:endParaRPr lang="ko-KR" sz="1300" dirty="0"/>
          </a:p>
        </p:txBody>
      </p:sp>
      <p:graphicFrame>
        <p:nvGraphicFramePr>
          <p:cNvPr id="2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1" cy="3496437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0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전 체크(화면설계서)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결제 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· 취소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 · 퀵오더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매장 오더 오픈 · 판매 · 품절 · 픽업시간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쿠폰 · 금액권 · 선불카드 사용 가능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제휴 멤버십 응답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 · 바텀시트 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전체화면 로딩 → 메인 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주문완료 팝업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주문하기 화면과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입력값 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함께오더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메가오더와 같음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판매 안함 · 품절이면 알럿 뒤 장바구니로 이동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장바구니 위 주문하기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 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메가오더와 같음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메가오더와 같음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홀케이크 · MD 예약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①예약기간 · 상품 상태 → ②매장 오더 오픈 → ③매장 품절 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eaLnBrk="0"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④예약일시 → ⑤개인정보 제3자 제공 동의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주문하기 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메가오더와 같음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메가오더와 같음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상품 판매 상태 · 판매 기간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보내는 분 · 받는 분 · 결제수단 필수값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 주문하기 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선물하기 메인 위 「보낸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선물」 팝업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 주문하기 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구매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선물하기와 같음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 주문하기 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①전체화면 로딩 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②메가선불카드 새로고침 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③주문완료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 주문하기 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0694684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충전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유효기간 5년 초과, 보유 + 충전 50만원 초과면 알럿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충전 금액 · 결제수단 필수값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금액 충전 팝업 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팝업 닫고 메가선불카드 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충전 완료 알럿 → 새로고침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금액 충전 팝업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입력값 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175593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6112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8797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뒤 주문 생성 · 충전이 실패하면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 ⑤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정리하고 실패 안내를 보여 줍니다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/ 88</a:t>
            </a:r>
          </a:p>
        </p:txBody>
      </p:sp>
      <p:sp>
        <p:nvSpPr>
          <p:cNvPr id="3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주문 결과 상태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결과: 앱카드 결제 실패 · 취소 안내 문구 추가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 상태는 현행과 같고, 앱카드 결제에서는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· 취소 안내 문구와 승인 식별값 보관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더해집니다.</a:t>
            </a:r>
            <a:endParaRPr lang="ko-KR" sz="1300" dirty="0"/>
          </a:p>
        </p:txBody>
      </p:sp>
      <p:graphicFrame>
        <p:nvGraphicFramePr>
          <p:cNvPr id="2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084705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39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 상태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앱카드에서 메가MGC커피가 처리하는 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완료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승인 뒤 매장에 주문이 전달됨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07950" indent="-10795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주문번호 · tid(결제 거래번호) ·</a:t>
                      </a:r>
                    </a:p>
                    <a:p>
                      <a:pPr eaLnBrk="0"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approvalNo(승인번호) · pgTno(결제대행사 거래번호)를 함께 보관함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실패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인증이나 승인이 실패했음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 결과 화면이 실패 안내 문구를 보여 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취소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07950" indent="-10795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· 매장 · 에이전트 자동 취소 · 선물</a:t>
                      </a:r>
                    </a:p>
                    <a:p>
                      <a:pPr eaLnBrk="0"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취소 요청으로 주문 취소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승인 취소 ⑤를 부르고, 주문 결과 화면이</a:t>
                      </a: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안내를 보여 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 중 ~ 픽업 완료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매장이 제조를 진행함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앱카드와 관계없이 현행 그대로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71855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64540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 상태는 늘지 않고, 실패 · 취소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 문구와 승인 식별값 보관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더해집니다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85564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4385564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결과 상태 흐름   </a:t>
            </a:r>
            <a:r>
              <a:rPr sz="11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 결제도 현행 상태를 그대로 쓰고, 취소는 승인 취소 ⑤로 처리함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4842764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실패하면 결제 실패 안내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21024" y="4842764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완료</a:t>
            </a:r>
          </a:p>
          <a:p>
            <a:pPr algn="ctr" eaLnBrk="0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주문번호 · tid · approvalNo 보관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28816" y="4842764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준비 중 ~ 픽업 완료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현행 그대로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36608" y="4842764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주문 취소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취소 ⑤ · 취소 안내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788920" y="5144516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696712" y="5144516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604504" y="5144516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49640" y="4934203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취소 요청 시</a:t>
            </a:r>
          </a:p>
        </p:txBody>
      </p:sp>
      <p:sp>
        <p:nvSpPr>
          <p:cNvPr id="3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연동 방식, 호출값, 결과 코드, API 9종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   인증 모듈 연동 방식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   공통 웹 컴포넌트 7단계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   로그인 인증 모듈 호출값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    결제 인증 모듈 호출값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7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    콜백과 결과 코드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   카드사 앱 이동 · 복귀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    핏콜라보 API 9종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621792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   로그인 API 키값</a:t>
            </a:r>
          </a:p>
        </p:txBody>
      </p:sp>
      <p:sp>
        <p:nvSpPr>
          <p:cNvPr id="13" name="간지 목록"/>
          <p:cNvSpPr txBox="1"/>
          <p:nvPr/>
        </p:nvSpPr>
        <p:spPr>
          <a:xfrm>
            <a:off x="621792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    결제 API 키값 ①</a:t>
            </a:r>
          </a:p>
        </p:txBody>
      </p:sp>
      <p:sp>
        <p:nvSpPr>
          <p:cNvPr id="14" name="간지 목록"/>
          <p:cNvSpPr txBox="1"/>
          <p:nvPr/>
        </p:nvSpPr>
        <p:spPr>
          <a:xfrm>
            <a:off x="6217920" y="5093207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    transNo와 tid 구분</a:t>
            </a:r>
          </a:p>
        </p:txBody>
      </p:sp>
      <p:sp>
        <p:nvSpPr>
          <p:cNvPr id="15" name="간지 목록"/>
          <p:cNvSpPr txBox="1"/>
          <p:nvPr/>
        </p:nvSpPr>
        <p:spPr>
          <a:xfrm>
            <a:off x="621792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    통신 규칙</a:t>
            </a:r>
          </a:p>
        </p:txBody>
      </p:sp>
      <p:sp>
        <p:nvSpPr>
          <p:cNvPr id="16" name="Text 1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/ 88</a:t>
            </a:r>
          </a:p>
        </p:txBody>
      </p:sp>
      <p:sp>
        <p:nvSpPr>
          <p:cNvPr id="17" name="간지 목록"/>
          <p:cNvSpPr txBox="1"/>
          <p:nvPr/>
        </p:nvSpPr>
        <p:spPr>
          <a:xfrm>
            <a:off x="621792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    결제 API 키값 ②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인증 모듈 연동 방식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방식: 인증 모듈을 공통 웹 컴포넌트로 표시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본인인증 · 로그인 모두 Webview에서 같은 공통 웹 컴포넌트로 인증 모듈을 띄우므로 Native 작업이 가장 적습니다.</a:t>
            </a:r>
            <a:endParaRPr lang="ko-KR" sz="1300" dirty="0"/>
          </a:p>
        </p:txBody>
      </p:sp>
      <p:graphicFrame>
        <p:nvGraphicFramePr>
          <p:cNvPr id="2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276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2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방식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요청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컴포넌트가 메가MGC커피 서버에 거래번호를 요청함</a:t>
                      </a: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transNo(인증 거래번호) · tid(결제 거래번호)만 내려주고 토큰은 보관함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표시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컴포넌트가 호출한 화면 위에 인증 모듈을 object/iframe으로 띄우고, 주소의 #/ 뒤에 호출값을 붙임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바텀시트 · 주문서는 그대로 남기고, 같은 화면에 인증 모듈을 두 번 만들지 않음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수신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모듈이 postMessage로 resultCode(결과 코드)를 보냄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컴포넌트는 인증 모듈 주소에서 온 결과만 처리하고, 리스너는 띄울 때 등록 · 닫을 때 해제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확정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- 0000이면 메가MGC커피 서버가 인증 결과 조회 ② 또는 결제 인증 결과 조회 ③ · 승인 ④로 확정함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- 0002 · 0003이면 인증 모듈을 닫고 원래 화면으로 돌아감(로그인은 로그인 수단 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포커스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Android: Native가 onResume에서 nativeFocusHandler(true)를 1회 부르면 공통 웹 컴포넌트가 인증 모듈에 전달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iOS: 인증 모듈이 포커스 변화를 스스로 감지하므로 Native 처리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작업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Native는 앱카드 버튼으로 브릿지 페이지를 열고, 카드사 앱 주소를 가로채 실행(앱이 없으면 스토어)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Native는 Android 복귀 알림만 하고, 인증 처리 로직은 두지 않음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6860661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/ 88</a:t>
            </a:r>
          </a:p>
        </p:txBody>
      </p:sp>
      <p:sp>
        <p:nvSpPr>
          <p:cNvPr id="29" name="도식 제목"/>
          <p:cNvSpPr txBox="1"/>
          <p:nvPr/>
        </p:nvSpPr>
        <p:spPr>
          <a:xfrm>
            <a:off x="548640" y="5169408"/>
            <a:ext cx="5486400" cy="218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공통 웹 컴포넌트 처리 순서</a:t>
            </a:r>
          </a:p>
        </p:txBody>
      </p:sp>
      <p:sp>
        <p:nvSpPr>
          <p:cNvPr id="30" name="도식 상자"/>
          <p:cNvSpPr/>
          <p:nvPr/>
        </p:nvSpPr>
        <p:spPr>
          <a:xfrm>
            <a:off x="548640" y="5425440"/>
            <a:ext cx="1658112" cy="548640"/>
          </a:xfrm>
          <a:prstGeom prst="rect">
            <a:avLst/>
          </a:prstGeom>
          <a:solidFill>
            <a:srgbClr val="3B2A20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인증이 필요한 화면</a:t>
            </a:r>
          </a:p>
          <a:p>
            <a:pPr algn="ctr" eaLnBrk="0"/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주문하기 · 본인인증 · 로그인</a:t>
            </a:r>
          </a:p>
        </p:txBody>
      </p:sp>
      <p:cxnSp>
        <p:nvCxnSpPr>
          <p:cNvPr id="31" name="도식 화살표"/>
          <p:cNvCxnSpPr/>
          <p:nvPr/>
        </p:nvCxnSpPr>
        <p:spPr>
          <a:xfrm>
            <a:off x="2225040" y="5699760"/>
            <a:ext cx="192024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도식 상자"/>
          <p:cNvSpPr/>
          <p:nvPr/>
        </p:nvSpPr>
        <p:spPr>
          <a:xfrm>
            <a:off x="2435352" y="5425440"/>
            <a:ext cx="1658112" cy="54864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거래번호 요청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메가MGC커피 서버 경유</a:t>
            </a:r>
          </a:p>
        </p:txBody>
      </p:sp>
      <p:cxnSp>
        <p:nvCxnSpPr>
          <p:cNvPr id="33" name="도식 화살표"/>
          <p:cNvCxnSpPr/>
          <p:nvPr/>
        </p:nvCxnSpPr>
        <p:spPr>
          <a:xfrm>
            <a:off x="4111751" y="5699760"/>
            <a:ext cx="192025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도식 상자"/>
          <p:cNvSpPr/>
          <p:nvPr/>
        </p:nvSpPr>
        <p:spPr>
          <a:xfrm>
            <a:off x="4322064" y="5425440"/>
            <a:ext cx="16581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#/ 뒤 호출값, 원래 화면 유지</a:t>
            </a:r>
          </a:p>
        </p:txBody>
      </p:sp>
      <p:cxnSp>
        <p:nvCxnSpPr>
          <p:cNvPr id="35" name="도식 화살표"/>
          <p:cNvCxnSpPr/>
          <p:nvPr/>
        </p:nvCxnSpPr>
        <p:spPr>
          <a:xfrm>
            <a:off x="5998464" y="5699760"/>
            <a:ext cx="192024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도식 상자"/>
          <p:cNvSpPr/>
          <p:nvPr/>
        </p:nvSpPr>
        <p:spPr>
          <a:xfrm>
            <a:off x="6208776" y="5425440"/>
            <a:ext cx="16581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 인증 · 복귀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Android 포커스 · iOS 자동</a:t>
            </a:r>
          </a:p>
        </p:txBody>
      </p:sp>
      <p:cxnSp>
        <p:nvCxnSpPr>
          <p:cNvPr id="37" name="도식 화살표"/>
          <p:cNvCxnSpPr/>
          <p:nvPr/>
        </p:nvCxnSpPr>
        <p:spPr>
          <a:xfrm>
            <a:off x="7885176" y="5699760"/>
            <a:ext cx="192024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도식 상자"/>
          <p:cNvSpPr/>
          <p:nvPr/>
        </p:nvSpPr>
        <p:spPr>
          <a:xfrm>
            <a:off x="8095488" y="5425440"/>
            <a:ext cx="16581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코드 수신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postMessage · 출처 검증</a:t>
            </a:r>
          </a:p>
        </p:txBody>
      </p:sp>
      <p:cxnSp>
        <p:nvCxnSpPr>
          <p:cNvPr id="39" name="도식 화살표"/>
          <p:cNvCxnSpPr/>
          <p:nvPr/>
        </p:nvCxnSpPr>
        <p:spPr>
          <a:xfrm>
            <a:off x="9771888" y="5699760"/>
            <a:ext cx="192024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도식 상자"/>
          <p:cNvSpPr/>
          <p:nvPr/>
        </p:nvSpPr>
        <p:spPr>
          <a:xfrm>
            <a:off x="9982200" y="5425440"/>
            <a:ext cx="1658112" cy="548640"/>
          </a:xfrm>
          <a:prstGeom prst="rect">
            <a:avLst/>
          </a:prstGeom>
          <a:solidFill>
            <a:srgbClr val="3B2A20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서버 확정</a:t>
            </a:r>
          </a:p>
          <a:p>
            <a:pPr algn="ctr" eaLnBrk="0"/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0000 → 조회 · 승인</a:t>
            </a:r>
          </a:p>
        </p:txBody>
      </p:sp>
      <p:sp>
        <p:nvSpPr>
          <p:cNvPr id="41" name="본문"/>
          <p:cNvSpPr txBox="1"/>
          <p:nvPr/>
        </p:nvSpPr>
        <p:spPr>
          <a:xfrm>
            <a:off x="548640" y="6028944"/>
            <a:ext cx="11091672" cy="201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0002(실패) · 0003(취소)이면 인증 모듈을 닫고 원래 화면으로 돌아가며, </a:t>
            </a:r>
            <a:r>
              <a:rPr sz="10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0000일 때만</a:t>
            </a:r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메가MGC커피 서버가 확정</a:t>
            </a:r>
          </a:p>
        </p:txBody>
      </p:sp>
      <p:sp>
        <p:nvSpPr>
          <p:cNvPr id="4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공통 웹 컴포넌트 7단계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컴포넌트: 7단계로 인증 모듈 표시 · 결과 전달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거래번호 요청부터 결과 전달까지 맡고,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확정은 언제나 메가MGC커피 서버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합니다.</a:t>
            </a:r>
            <a:endParaRPr lang="ko-KR" sz="1300" dirty="0"/>
          </a:p>
        </p:txBody>
      </p:sp>
      <p:graphicFrame>
        <p:nvGraphicFramePr>
          <p:cNvPr id="2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14451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8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주체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→ 메가MGC커피 서버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인증이 필요하면 거래번호를 요청하고, 메가MGC커피 서버는</a:t>
                      </a: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transNo(로그인) 또는 tid(결제)를 발급받음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호출한 화면 위에 인증 모듈을 object/iframe으로 띄우고, 다른 페이지로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이동하지 않음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· 카드사 앱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카드사를 고르고 약관에 동의한 뒤 카드사 앱에서 인증함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→ 공통 웹 컴포넌트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Android Native는 카드사 앱에서 돌아오면 현재 Webview의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nativeFocusHandler를 부름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결과 코드를 받고, 메시지가 인증 모듈 주소에서 왔는지 검증함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667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→ 메가MGC커피 서버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- 0000이면 메가MGC커피 서버에 알리고, 메가MGC커피 서버가 인증 결과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· 승인을 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- 0002 · 0003이면 인증 모듈을 닫고 원래 화면을 유지함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①로그인은 Native가 토큰을 받아 홈 또는 주문 화면으로, ②결제는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주문 결과 화면으로 이동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45453"/>
            <a:ext cx="11091672" cy="21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인증 모듈 주소는 해시(#/) 방식이라 호출값을 반드시 #/ 뒤에 붙이고, 주소와 출처 검증 값은 설정값으로 관리해 운영 전환 때 함께 바꿈</a:t>
            </a:r>
            <a:endParaRPr lang="ko-KR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/ 88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로그인 인증 모듈 호출값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인증 모듈 호출값: 인증 거래번호 · 기기 구분 값만 필요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메가MGC커피 서버에서 받은 transNo(인증 거래번호)를 인증 모듈 주소 뒤에 붙여 로그인 인증을 시작합니다.</a:t>
            </a:r>
            <a:endParaRPr lang="ko-KR" sz="1300" dirty="0"/>
          </a:p>
        </p:txBody>
      </p:sp>
      <p:graphicFrame>
        <p:nvGraphicFramePr>
          <p:cNvPr id="3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952496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적용값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transNo(인증 거래번호)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4996" indent="-94996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한 건을 가리키는 16자 번호이며, 메가MGC커피 서버가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 ①(reqTransNo.mv)로 받음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받은 값을 그대로 넣고,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뒤 5분 안에 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deviceType(기기 구분)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4996" indent="-94996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모듈이 화면과 카드사 앱 호출 방식을 고르는 값(1 iOS</a:t>
                      </a:r>
                    </a:p>
                    <a:p>
                      <a:pPr eaLnBrk="0"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 · 2 iOS App · 3 AOS Web · 4 AOS App · 5 PC)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 앱 Webview 2, Android 앱 Webview 4</a:t>
                      </a:r>
                    </a:p>
                    <a:p>
                      <a:pPr marL="94996" indent="0" eaLnBrk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↔ CJ ONS 확인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cardCode(카드사 코드)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값이 있으면 그 카드사 화면만, 없으면 카드사 9곳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화면을 보여 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4996" indent="-94996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보내지 않음(고객이 인증 모듈에서 카드사 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nativeYN(Native 호출 여부)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모듈을 부르는 위치 구분값이며, 생략하면 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N(Webview의 공통 웹 컴포넌트에서 호출)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callType(호출 구분)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- 01은 카드사 앱 안 앱카드iN에서 부를 때만 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보내지 않음(일반 호출)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storeTermYN(가맹점 약관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 여부)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Y면 인증 모듈에 가맹점 약관을 함께 보여 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N(인증 모듈에 메가MGC커피 약관을 넣지 않음)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deviceType(기기 구분) 값은 하이브리드 앱 기준으로 핏콜라보 · CJ ONS가 확정해야 합니다</a:t>
            </a:r>
          </a:p>
        </p:txBody>
      </p:sp>
      <p:sp>
        <p:nvSpPr>
          <p:cNvPr id="3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결제 인증 모듈 호출값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인증 모듈 호출값: tid · 금액 · 카드 구분 전달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카드(payType 0)는 계정 ID를 함께 보내고, 새 카드(payType 1)는 인증 뒤에 계정 ID를 받습니다.</a:t>
            </a:r>
            <a:endParaRPr lang="ko-KR" sz="1300" dirty="0"/>
          </a:p>
        </p:txBody>
      </p:sp>
      <p:graphicFrame>
        <p:nvGraphicFramePr>
          <p:cNvPr id="3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417408"/>
              </p:ext>
            </p:extLst>
          </p:nvPr>
        </p:nvGraphicFramePr>
        <p:xfrm>
          <a:off x="548640" y="1783080"/>
          <a:ext cx="11091672" cy="3549548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5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 · 메가MGC커피 적용값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tid(결제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 ②(requestTid.mv)로 받은 20자 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deviceType(기기 구분)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인증 모듈과 같은 값 </a:t>
                      </a:r>
                      <a:r>
                        <a:rPr lang="en-US" sz="105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↔ CJ ONS 확인 필요]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storeId(가맹점 ID)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발급한 메가MGC커피 가맹점 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amount(결제 금액) ·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금액(원)과 메가MGC커피 주문번호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instType(할부 구분) · installment(할부 개월)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일시불만 쓰므로 installment는 "00"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cardCode(카드사 코드)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고른 카드사 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storeUserNo(회원번호)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05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보내지 않음</a:t>
                      </a: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(개인정보는 CI만 전달)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payType(카드 구분)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 기존 카드 · 1 새 카드(아래 기준)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acntId(간편결제 계정 ID) · userNo(간편결제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payType 0이면 필수, payType 1이면 보내지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termYN(약관 동의 기본값) · nativeYN(Native </a:t>
                      </a:r>
                      <a:r>
                        <a:rPr lang="en-US" sz="10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</a:t>
                      </a: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여부</a:t>
                      </a: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termYN=N(고객이 약관 동의를 직접 체크), nativeYN=N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 / 88</a:t>
            </a:r>
          </a:p>
        </p:txBody>
      </p:sp>
      <p:sp>
        <p:nvSpPr>
          <p:cNvPr id="32" name="본문"/>
          <p:cNvSpPr txBox="1"/>
          <p:nvPr/>
        </p:nvSpPr>
        <p:spPr>
          <a:xfrm>
            <a:off x="548640" y="5554599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기존 카드(payType 0)는 앱카드 로그인 인증 · 이전 앱카드 결제 · 카드관리 페이지 등록으로 이미 등록된 카드이며, 주문하기 진입 때 계정 목록 조회 ①로</a:t>
            </a:r>
          </a:p>
          <a:p>
            <a:pPr algn="l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받아 화면 2 · 3의 1a에 보임</a:t>
            </a:r>
          </a:p>
          <a:p>
            <a:pPr algn="l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새 카드(payType 1)는 고객이 내가 쓰는 앱카드 선택에서 카드사를 고른 경우이며, 인증 뒤 결제 인증 결과 조회 ③으로 계정 ID를 받음</a:t>
            </a:r>
          </a:p>
        </p:txBody>
      </p:sp>
      <p:sp>
        <p:nvSpPr>
          <p:cNvPr id="3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콜백과 결과 코드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코드: 0000만 메가MGC커피 서버 확인 단계로 전달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모듈의 결과 코드는 화면 처리용이며, 로그인 · 결제의 최종 확정은 메가MGC커피 서버의 조회 · 승인 응답으로 합니다.</a:t>
            </a:r>
            <a:endParaRPr lang="ko-KR" sz="1300" dirty="0"/>
          </a:p>
        </p:txBody>
      </p:sp>
      <p:graphicFrame>
        <p:nvGraphicFramePr>
          <p:cNvPr id="3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187833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5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39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 할 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성공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모듈을 닫고 메가MGC커피 서버에 알리며, </a:t>
                      </a:r>
                      <a:r>
                        <a:rPr lang="en-US" sz="125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코드만으로 로그인 · 결제를 확정하지 않음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스토어 이동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설치하기를 누르면 함께 온 scheme(스토어 주소)을 열고, 인증 모듈은 닫지 않음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실패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모듈을 닫고, 실패 알럿 아래 줄에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resultMessage(카드사 앱 미인증 · 유효기간 만료 카드 등)를 붙임(61장)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0003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취소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모듈을 닫고 이전 화면으로 돌아가며, 0001 직후의 0003은 스토어 이동에 따른 종료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53180"/>
          <a:ext cx="11091672" cy="166420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8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콜백 필드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 시점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resultCode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 · 0001 · 0002 · 0003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resultMessage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 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결과 · 오류 안내 메시지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scheme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앱 스토어 주소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userNo · acntId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새 카드 결제 인증(payType 1)일 때 카드사 앱 인증 뒤에 전달됨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819140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745988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모듈의 0000은 화면 처리용이며, 로그인 · 승인 확정은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 응답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합니다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카드사 앱 이동 · 복귀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 이동: Webview가 주소를 가로채 열고 Android만 복귀 알림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앱에서 메가MGC커피 앱으로 돌아오는 전용 바로가기는 필요 없고,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 알림은 Android 앱만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보냅니다.</a:t>
            </a:r>
            <a:endParaRPr lang="ko-KR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iOS는 별도 복귀 처리가 없고,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복귀 때 포커스를 한 번 전달합니다</a:t>
            </a:r>
          </a:p>
        </p:txBody>
      </p:sp>
      <p:sp>
        <p:nvSpPr>
          <p:cNvPr id="13" name="설명 제목"/>
          <p:cNvSpPr txBox="1"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이동: Webview가 카드사 앱 주소를 가로챔</a:t>
            </a:r>
          </a:p>
        </p:txBody>
      </p:sp>
      <p:sp>
        <p:nvSpPr>
          <p:cNvPr id="14" name="설명"/>
          <p:cNvSpPr txBox="1"/>
          <p:nvPr/>
        </p:nvSpPr>
        <p:spPr>
          <a:xfrm>
            <a:off x="548640" y="2052574"/>
            <a:ext cx="5486400" cy="11262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11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①Android는 shouldOverrideUrlLoading, ②iOS는</a:t>
            </a:r>
          </a:p>
          <a:p>
            <a:pPr marL="94996" indent="0" algn="l" eaLnBrk="0"/>
            <a:r>
              <a:rPr sz="11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decidePolicyFor에서 카드사 앱 주소를 외부 앱으로 열어 줌</a:t>
            </a:r>
          </a:p>
          <a:p>
            <a:pPr algn="l" eaLnBrk="0"/>
            <a:r>
              <a:rPr sz="11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Android 주소는 intent 형식이며, 카드사 앱이 없으면 패키지명으로</a:t>
            </a:r>
          </a:p>
          <a:p>
            <a:pPr marL="94996" indent="0" algn="l" eaLnBrk="0"/>
            <a:r>
              <a:rPr sz="11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Play 스토어를 열어 줌</a:t>
            </a:r>
          </a:p>
          <a:p>
            <a:pPr algn="l" eaLnBrk="0"/>
            <a:r>
              <a:rPr sz="11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현행 Webview에 가로채기가 없으면 CJ ONS가 추가함</a:t>
            </a:r>
          </a:p>
          <a:p>
            <a:pPr marL="94996" indent="0" algn="l" eaLnBrk="0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[CJ ONS 확인 필요]</a:t>
            </a:r>
          </a:p>
        </p:txBody>
      </p:sp>
      <p:sp>
        <p:nvSpPr>
          <p:cNvPr id="15" name="설명 제목"/>
          <p:cNvSpPr txBox="1"/>
          <p:nvPr/>
        </p:nvSpPr>
        <p:spPr>
          <a:xfrm>
            <a:off x="548640" y="337083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복귀: Android Native는 onResume에서 한 번만 알림</a:t>
            </a:r>
          </a:p>
        </p:txBody>
      </p:sp>
      <p:sp>
        <p:nvSpPr>
          <p:cNvPr id="16" name="설명"/>
          <p:cNvSpPr txBox="1"/>
          <p:nvPr/>
        </p:nvSpPr>
        <p:spPr>
          <a:xfrm>
            <a:off x="548640" y="3640327"/>
            <a:ext cx="5486400" cy="5814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11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복귀 1회에 nativeFocusHandler(true)를 한 번만 부르고, blur는</a:t>
            </a:r>
          </a:p>
          <a:p>
            <a:pPr marL="94996" indent="0" algn="l" eaLnBrk="0"/>
            <a:r>
              <a:rPr sz="11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보내지 않음</a:t>
            </a:r>
          </a:p>
          <a:p>
            <a:pPr algn="l" eaLnBrk="0"/>
            <a:r>
              <a:rPr sz="11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함수 이름 nativeFocusHandler는 바꿀 수 없음</a:t>
            </a:r>
          </a:p>
        </p:txBody>
      </p:sp>
      <p:sp>
        <p:nvSpPr>
          <p:cNvPr id="17" name="설명 제목"/>
          <p:cNvSpPr txBox="1"/>
          <p:nvPr/>
        </p:nvSpPr>
        <p:spPr>
          <a:xfrm>
            <a:off x="548640" y="441375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iOS 하이브리드 앱은 처리할 것이 없음</a:t>
            </a:r>
          </a:p>
        </p:txBody>
      </p:sp>
      <p:sp>
        <p:nvSpPr>
          <p:cNvPr id="18" name="설명"/>
          <p:cNvSpPr txBox="1"/>
          <p:nvPr/>
        </p:nvSpPr>
        <p:spPr>
          <a:xfrm>
            <a:off x="548640" y="4683251"/>
            <a:ext cx="5486400" cy="3997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11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인증 모듈이 화면 포커스 변화를 스스로 감지함</a:t>
            </a:r>
          </a:p>
          <a:p>
            <a:pPr algn="l" eaLnBrk="0"/>
            <a:r>
              <a:rPr sz="11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포커스가 오지 않는 인앱 브라우저는 인증 모듈의 확인 버튼으로 조회함</a:t>
            </a:r>
          </a:p>
        </p:txBody>
      </p:sp>
      <p:sp>
        <p:nvSpPr>
          <p:cNvPr id="19" name="도식 상자"/>
          <p:cNvSpPr/>
          <p:nvPr/>
        </p:nvSpPr>
        <p:spPr>
          <a:xfrm>
            <a:off x="6400800" y="1783080"/>
            <a:ext cx="52395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모듈(Webview 안)</a:t>
            </a:r>
          </a:p>
          <a:p>
            <a:pPr algn="ctr" eaLnBrk="0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고객이 카드사를 고르면 카드사 앱 주소를 열어 줌</a:t>
            </a:r>
          </a:p>
        </p:txBody>
      </p:sp>
      <p:cxnSp>
        <p:nvCxnSpPr>
          <p:cNvPr id="20" name="도식 화살표"/>
          <p:cNvCxnSpPr/>
          <p:nvPr/>
        </p:nvCxnSpPr>
        <p:spPr>
          <a:xfrm>
            <a:off x="9020556" y="2331720"/>
            <a:ext cx="0" cy="210312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도식 상자"/>
          <p:cNvSpPr/>
          <p:nvPr/>
        </p:nvSpPr>
        <p:spPr>
          <a:xfrm>
            <a:off x="6400800" y="2542032"/>
            <a:ext cx="5239512" cy="54864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Webview가 주소 가로채기</a:t>
            </a:r>
          </a:p>
          <a:p>
            <a:pPr algn="ctr" eaLnBrk="0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Android shouldOverrideUrlLoading · iOS decidePolicyFor</a:t>
            </a:r>
          </a:p>
        </p:txBody>
      </p:sp>
      <p:cxnSp>
        <p:nvCxnSpPr>
          <p:cNvPr id="22" name="도식 화살표"/>
          <p:cNvCxnSpPr/>
          <p:nvPr/>
        </p:nvCxnSpPr>
        <p:spPr>
          <a:xfrm>
            <a:off x="9020556" y="3090672"/>
            <a:ext cx="0" cy="210312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도식 상자"/>
          <p:cNvSpPr/>
          <p:nvPr/>
        </p:nvSpPr>
        <p:spPr>
          <a:xfrm>
            <a:off x="6400800" y="3300984"/>
            <a:ext cx="52395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 실행 · 카드 인증</a:t>
            </a:r>
          </a:p>
          <a:p>
            <a:pPr algn="ctr" eaLnBrk="0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앱이 없으면 스토어로 이동(결과 코드 0001)</a:t>
            </a:r>
          </a:p>
        </p:txBody>
      </p:sp>
      <p:cxnSp>
        <p:nvCxnSpPr>
          <p:cNvPr id="24" name="도식 화살표"/>
          <p:cNvCxnSpPr/>
          <p:nvPr/>
        </p:nvCxnSpPr>
        <p:spPr>
          <a:xfrm flipH="1">
            <a:off x="7680960" y="3849624"/>
            <a:ext cx="1339596" cy="210312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도식 화살표"/>
          <p:cNvCxnSpPr/>
          <p:nvPr/>
        </p:nvCxnSpPr>
        <p:spPr>
          <a:xfrm>
            <a:off x="9020556" y="3849624"/>
            <a:ext cx="1339596" cy="210312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도식 상자"/>
          <p:cNvSpPr/>
          <p:nvPr/>
        </p:nvSpPr>
        <p:spPr>
          <a:xfrm>
            <a:off x="6400800" y="4059936"/>
            <a:ext cx="2514600" cy="640080"/>
          </a:xfrm>
          <a:prstGeom prst="rect">
            <a:avLst/>
          </a:prstGeom>
          <a:solidFill>
            <a:srgbClr val="3B2A20"/>
          </a:solidFill>
          <a:ln w="9525">
            <a:solidFill>
              <a:srgbClr val="C9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Android</a:t>
            </a:r>
          </a:p>
          <a:p>
            <a:pPr algn="ctr" eaLnBrk="0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Native가 onResume에서</a:t>
            </a:r>
          </a:p>
          <a:p>
            <a:pPr algn="ctr" eaLnBrk="0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nativeFocusHandler(true) 1회</a:t>
            </a:r>
          </a:p>
        </p:txBody>
      </p:sp>
      <p:sp>
        <p:nvSpPr>
          <p:cNvPr id="27" name="도식 상자"/>
          <p:cNvSpPr/>
          <p:nvPr/>
        </p:nvSpPr>
        <p:spPr>
          <a:xfrm>
            <a:off x="9125712" y="4059936"/>
            <a:ext cx="2514600" cy="640080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iOS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인증 모듈이 포커스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변화를 스스로 감지</a:t>
            </a:r>
          </a:p>
        </p:txBody>
      </p:sp>
      <p:cxnSp>
        <p:nvCxnSpPr>
          <p:cNvPr id="28" name="도식 화살표"/>
          <p:cNvCxnSpPr/>
          <p:nvPr/>
        </p:nvCxnSpPr>
        <p:spPr>
          <a:xfrm>
            <a:off x="7680960" y="4700016"/>
            <a:ext cx="1339596" cy="210312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도식 화살표"/>
          <p:cNvCxnSpPr/>
          <p:nvPr/>
        </p:nvCxnSpPr>
        <p:spPr>
          <a:xfrm flipH="1">
            <a:off x="9020556" y="4700016"/>
            <a:ext cx="1339596" cy="210312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도식 상자"/>
          <p:cNvSpPr/>
          <p:nvPr/>
        </p:nvSpPr>
        <p:spPr>
          <a:xfrm>
            <a:off x="6400800" y="4910328"/>
            <a:ext cx="52395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모듈이 결과 코드 전달</a:t>
            </a:r>
          </a:p>
          <a:p>
            <a:pPr algn="ctr" eaLnBrk="0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0000이면 공통 웹 컴포넌트가 메가MGC커피 서버에 알림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핏콜라보 API 9종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API 9종: 메가MGC커피 서버만 호출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번호는 이 장이 원본이며, 다른 장의 로그인 ① · 결제 ② 같은 표기는 모두 이 목록을 가리킵니다.</a:t>
            </a:r>
          </a:p>
        </p:txBody>
      </p:sp>
      <p:graphicFrame>
        <p:nvGraphicFramePr>
          <p:cNvPr id="3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43738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472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경로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/reqTransNo.mv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거래번호 · 인증 토큰을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인증이 끝난 고객의 CI 등 회원 정보를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/api/getPayCardInfo.mv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CI로 등록된 앱카드 계정 목록을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/prepay/requestTid.mv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거래번호와 인증 필요 여부를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/reqAuthDataPay.mv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결제 6.6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인증이 끝난 계정 ID를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/mobileCert/appcardPayment.mv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승인을 요청해 승인번호를 받음(재호출 금지)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/ext/appcardCancel.mv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승인을 전체 취소함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/mobileCert/reqCondition.mv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· 취소 상태로 미확인 거래를 확정함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/api/insSessionData.mv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카드관리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페이지 진입용 세션 키를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 / 88</a:t>
            </a:r>
          </a:p>
        </p:txBody>
      </p:sp>
      <p:sp>
        <p:nvSpPr>
          <p:cNvPr id="35" name="본문"/>
          <p:cNvSpPr txBox="1"/>
          <p:nvPr/>
        </p:nvSpPr>
        <p:spPr>
          <a:xfrm>
            <a:off x="548640" y="5330190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로그인 유지는 메가MGC커피 자체 토큰으로 하므로, 핏콜라보 규격의 토큰 인증 API는 쓰지 않음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로그인 API 키값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API 2종: 인증 거래번호 · 인증 토큰을 짝으로 송·수신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인증 거래번호 발급 ①에서 받은 transNo(인증 거래번호) · token(인증 토큰)을 인증 결과 조회 ②에 그대로 보냅니다.</a:t>
            </a:r>
            <a:endParaRPr lang="ko-KR" sz="1300" dirty="0"/>
          </a:p>
        </p:txBody>
      </p:sp>
      <p:graphicFrame>
        <p:nvGraphicFramePr>
          <p:cNvPr id="3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074671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841347421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보내는 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받는 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(reqTransNo.mv)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4996" indent="-94996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인증 한 건을 시작할 인증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· 인증 토큰을 받음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4996" indent="-94996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storeId(가맹점 ID)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94996" indent="-94996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transType(거래 구분: L 로그인 R 가입)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transNo(인증 거래번호, 16자)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token(인증 토큰, 32자, 30분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1회용, 메가MGC커피 서버 보관)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6065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(reqAuthData.mv)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인증이 끝난 고객의 회원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정보를 받음(인증 후 3분 안)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storeId(가맹점 ID)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transNo(인증 거래번호)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token(인증 토큰)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ci(연계정보) · di(중복가입확인정보)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name(성명) · phoneNo(휴대폰번호)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birthDate(생년월일) · gender(성별)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nation(내외국인) · email(이메일, 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- 3분 초과 1500, token 불일치 1402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결과 조회 ② 응답의 gender · email · di는 메가MGC커피 서버가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저장하지 않습니다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/ 88</a:t>
            </a:r>
          </a:p>
        </p:txBody>
      </p:sp>
      <p:sp>
        <p:nvSpPr>
          <p:cNvPr id="36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결제 API 키값 ①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API ①~③: 결제 거래번호 · 결제 토큰 · 계정 ID 연속 사용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결제 거래번호 발급 ②에서 받은 tid(결제 거래번호) · reqToken(결제 토큰)을 승인 ④까지 보관합니다.</a:t>
            </a:r>
            <a:endParaRPr lang="ko-KR" sz="1300" dirty="0"/>
          </a:p>
        </p:txBody>
      </p:sp>
      <p:graphicFrame>
        <p:nvGraphicFramePr>
          <p:cNvPr id="3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459099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902449517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보내는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479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(getPayCardInfo.mv)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CI로 등록된 앱카드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목록을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userType(조회 구분, 1 = CI)</a:t>
                      </a: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ci(연계정보)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oneclickOnOff(원클릭 사용 여부)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cardList(계정 목록): acntId(간편결제 계정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ID) · userNo(간편결제 회원번호)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cardCode(카드사 코드) · isOneclick(원클릭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48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(requestTid.mv)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한 건의 결제 거래번호와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필요 여부를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amount(결제 금액) · orderNo(주문번호)</a:t>
                      </a:r>
                    </a:p>
                    <a:p>
                      <a:pPr eaLnBrk="0"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goodsName(상품명)</a:t>
                      </a:r>
                    </a:p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pgType(결제대행사 구분) instType(할부 구분)</a:t>
                      </a:r>
                    </a:p>
                    <a:p>
                      <a:pPr eaLnBrk="0"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installment(할부 개월)</a:t>
                      </a:r>
                    </a:p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cardCode(카드사 코드) isOneclick(원클릭 여부)</a:t>
                      </a:r>
                    </a:p>
                    <a:p>
                      <a:pPr eaLnBrk="0"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payType(카드 구분)</a:t>
                      </a:r>
                    </a:p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ci(연계정보)</a:t>
                      </a:r>
                    </a:p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acntId(간편결제 계정 ID) userNo(간편결제 회원번호)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거래번호, 20자)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authYN(인증 필요 여부: Y 바로 승인 · N 인증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뒤 승인)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reqToken(결제 토큰, 64자)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(reqAuthDataPay.mv)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결제에서 카드사 인증이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끝난 계정 ID를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 ·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reqToken(결제 토큰)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acntId(간편결제 계정 ID)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userNo(간편결제 회원번호)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 / 88</a:t>
            </a:r>
          </a:p>
        </p:txBody>
      </p:sp>
      <p:sp>
        <p:nvSpPr>
          <p:cNvPr id="3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548640" y="6035040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storeUserNo(회원번호) · userName(주문자 이름)은 규격의 선택 항목이며, 메가MGC커피 서버는 </a:t>
            </a:r>
            <a:r>
              <a:rPr sz="105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보내지 않음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결제 API 키값 ②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API ④~⑥ · 카드 관리 API: 승인번호 · 세션 키 처리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④ 응답의 approvalNo(승인번호)는 승인 취소 ⑤의 필수값이므로 메가MGC커피 서버가 주문과 함께 저장합니다.</a:t>
            </a:r>
            <a:endParaRPr lang="ko-KR" sz="1300" dirty="0"/>
          </a:p>
        </p:txBody>
      </p:sp>
      <p:graphicFrame>
        <p:nvGraphicFramePr>
          <p:cNvPr id="3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48691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574047042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보내는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479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④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(appcardPayment.mv)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승인을 요청해 승인번호를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받음(재호출 금지)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 · amount(결제 금액) ·</a:t>
                      </a:r>
                    </a:p>
                    <a:p>
                      <a:pPr eaLnBrk="0"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orderNo(주문번호) · 세액 항목</a:t>
                      </a:r>
                    </a:p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cardCode(카드사 코드)</a:t>
                      </a:r>
                    </a:p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acntId(간편결제 계정 ID) userNo(간편결제 회원번호)</a:t>
                      </a:r>
                    </a:p>
                    <a:p>
                      <a:pPr eaLnBrk="0"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reqToken(결제 토큰)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approvalNo(승인번호) approvalDate(승인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pgTno(결제대행사 거래번호) mid(결제대행사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ID) PG(결제대행사 구분)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⑤ 승인 취소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(appcardCancel.mv)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승인을 전체 취소함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 ·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amount(결제 금액)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approvalNo(승인번호, 필수)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type(취소 구분, 0 = 전체 취소) · 세액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cancelTid(취소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cancelPgTno(결제대행사 취소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⑥ 거래 상태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(reqCondition.mv)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· 취소 상태로 미확인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거래를 확정함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state(거래 상태) stateDesc(상태 설명)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approvalNo(승인번호) cancelState(취소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84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 ① 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(insSessionData.mv)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페이지 진입용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 키를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storeId(가맹점 ID) · deviceType(기기 구분)</a:t>
                      </a: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userType(조회 구분, 0 = CI) · ci(연계정보)</a:t>
                      </a: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redirectUrl(복귀 주소: 메가퀵결제 화면)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sessionKey(세션 키)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token(인증 토큰)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2691747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 / 88</a:t>
            </a:r>
          </a:p>
        </p:txBody>
      </p:sp>
      <p:sp>
        <p:nvSpPr>
          <p:cNvPr id="37" name="본문"/>
          <p:cNvSpPr txBox="1"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조회 구분 값은 API마다 달라, 계정 목록 조회는 userType 1이 CI이고 카드관리 데이터 적재는 userType 0이 CI</a:t>
            </a:r>
          </a:p>
          <a:p>
            <a:pPr algn="l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승인 ④ · 데이터 적재 ①에도 storeUserNo(회원번호)를 보내지 않음</a:t>
            </a:r>
          </a:p>
        </p:txBody>
      </p:sp>
      <p:sp>
        <p:nvSpPr>
          <p:cNvPr id="3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transNo와 tid 구분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거래번호 구분: 인증 거래번호(transNo) · 결제 거래번호(tid)는 별개 값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거래번호는 발급 API · 길이 · 함께 받는 토큰 · 만료 코드가 모두 다르므로, 메가MGC커피 서버는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 저장하고 관리합니다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graphicFrame>
        <p:nvGraphicFramePr>
          <p:cNvPr id="3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545157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7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transNo(16자)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tid(20자)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/reqTransNo.mv(로그인 ①)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/prepay/requestTid.mv(결제 ②)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 받는 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token(인증 토큰, 32자, 30분 · 1회용)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reqToken(결제 토큰, 64자) · authYN(인증 필요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호출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4.1 로그인 호출값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4.2 결제 호출값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이후 쓰는 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 · 승인 · 취소 · 거래 상태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 코드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1200(기본 5분, 인증 모듈 2.0.4 · 연동 요약서)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1403(간편결제 7장, 유효시간 수치 없음)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745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만료되면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reqTransNo부터 다시</a:t>
                      </a:r>
                    </a:p>
                    <a:p>
                      <a:pPr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requestTid를 다시</a:t>
                      </a:r>
                    </a:p>
                    <a:p>
                      <a:pPr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발급해 재시도함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5404484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승인 뒤 받는 pgTno(결제대행사 거래번호) · cancelTid · cancelPgTno도 별개 값</a:t>
            </a:r>
            <a:endParaRPr lang="ko-KR" sz="1050" dirty="0"/>
          </a:p>
          <a:p>
            <a:pPr algn="l" eaLnBrk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인증 모듈 2.1.2 결과 코드 표에는 1200이 없어, 1200 유지 여부 </a:t>
            </a:r>
            <a:r>
              <a:rPr lang="ko-KR" altLang="en-US" sz="105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[핏콜라보 확인 필요]</a:t>
            </a:r>
            <a:endParaRPr lang="ko-KR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만료 코드가 다르므로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transNo는 1200, tid는 1403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받으면 각각 다시 발급합니다</a:t>
            </a:r>
          </a:p>
        </p:txBody>
      </p:sp>
      <p:sp>
        <p:nvSpPr>
          <p:cNvPr id="3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통신 규칙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공통 규격: POST · form-urlencoded 요청, JSON 응답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공통 HTTP 호출부를 한 번 만들어 API 9종에 함께 쓰고, 핏콜라보는 등록된 공인 IP만 받아 줍니다.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· 응답 형식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 서버는 POST, Content-Type application/x-www-form-urlencoded; charset=UTF-8로 보냄</a:t>
            </a:r>
            <a:endParaRPr lang="ko-KR" sz="1200" dirty="0"/>
          </a:p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핏콜라보는 JSON(resultCode · resultMessage · resultData)으로 응답하고, HTTP 200이 성공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79450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통신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3098800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서버와 핏콜라보 서버는 HTTPS(TLS 1.2 이상)로 통신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60781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허용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912108"/>
            <a:ext cx="110916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메가MGC커피는 개발 · 스테이징 · 운영 메가MGC커피 서버의 공인 IP를 핏콜라보에 알려야 함</a:t>
            </a:r>
            <a:endParaRPr lang="ko-KR" sz="1200" dirty="0"/>
          </a:p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고정 IP를 쓸 수 없으면 메가MGC커피 서버가 storeAuthKey를 모든 요청에 붙이고, 등록되지 않은 IP는 9998을 받음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61924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대기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92353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승인 요청과 승인 취소의 응답을 30초~1분 기다림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45998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38683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핏콜라보는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등록된 공인 IP만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받으므로, 방화벽 등록이 연동 시작 조건입니다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결제 · 취소 · 카드 관리의 흐름도와 송수신 다이어그램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    로그인 흐름도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    로그인 송수신 16단계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    로그인 단계별 규칙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    주문 중 로그인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    결제 흐름도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    결제 송수신 18단계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    결제 단계별 규칙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621792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    원클릭과 인증 결제 비교</a:t>
            </a:r>
          </a:p>
        </p:txBody>
      </p:sp>
      <p:sp>
        <p:nvSpPr>
          <p:cNvPr id="13" name="간지 목록"/>
          <p:cNvSpPr txBox="1"/>
          <p:nvPr/>
        </p:nvSpPr>
        <p:spPr>
          <a:xfrm>
            <a:off x="621792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    현행 결제와의 차이</a:t>
            </a:r>
          </a:p>
        </p:txBody>
      </p:sp>
      <p:sp>
        <p:nvSpPr>
          <p:cNvPr id="14" name="간지 목록"/>
          <p:cNvSpPr txBox="1"/>
          <p:nvPr/>
        </p:nvSpPr>
        <p:spPr>
          <a:xfrm>
            <a:off x="621792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    취소 흐름도</a:t>
            </a:r>
          </a:p>
        </p:txBody>
      </p:sp>
      <p:sp>
        <p:nvSpPr>
          <p:cNvPr id="15" name="간지 목록"/>
          <p:cNvSpPr txBox="1"/>
          <p:nvPr/>
        </p:nvSpPr>
        <p:spPr>
          <a:xfrm>
            <a:off x="621792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    취소 송수신</a:t>
            </a:r>
          </a:p>
        </p:txBody>
      </p:sp>
      <p:sp>
        <p:nvSpPr>
          <p:cNvPr id="16" name="간지 목록"/>
          <p:cNvSpPr txBox="1"/>
          <p:nvPr/>
        </p:nvSpPr>
        <p:spPr>
          <a:xfrm>
            <a:off x="621792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    카드 관리 송수신 9단계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 / 88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로그인 흐름도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흐름: 앱카드 인증 뒤 메가MGC커피 서버가 CI로 기존 계정 조회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결과의 CI로 같은 계정이 있으면 그 계정으로 로그인하고, 없으면 가입 판정(13장)을 거쳐 앱카드 회원으로 가입시킵니다.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77705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04553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후 3분 안에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인증 결과를 조회하고, CI로 기존 계정을 찾습니다</a:t>
            </a:r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 / 88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38528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앱카드 로그인 선택</a:t>
            </a:r>
          </a:p>
          <a:p>
            <a:pPr algn="ctr" eaLnBrk="0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로그인 수단 · Native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938528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브릿지 페이지(Webview)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 발급 ①(reqTransNo.mv)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1938528"/>
            <a:ext cx="169164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호출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 인증 · 복귀</a:t>
            </a:r>
          </a:p>
        </p:txBody>
      </p:sp>
      <p:sp>
        <p:nvSpPr>
          <p:cNvPr id="14" name="Diamond 13"/>
          <p:cNvSpPr/>
          <p:nvPr/>
        </p:nvSpPr>
        <p:spPr>
          <a:xfrm>
            <a:off x="6903720" y="1892807"/>
            <a:ext cx="160020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코드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0000?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1938528"/>
            <a:ext cx="201168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조회 ②(reqAuthData.mv)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인증 후 3분 안에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852928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실패 · 취소 안내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0001~0003, 1500</a:t>
            </a:r>
          </a:p>
        </p:txBody>
      </p:sp>
      <p:sp>
        <p:nvSpPr>
          <p:cNvPr id="17" name="Diamond 16"/>
          <p:cNvSpPr/>
          <p:nvPr/>
        </p:nvSpPr>
        <p:spPr>
          <a:xfrm>
            <a:off x="9052560" y="2807208"/>
            <a:ext cx="155448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조회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성공?</a:t>
            </a:r>
          </a:p>
        </p:txBody>
      </p:sp>
      <p:sp>
        <p:nvSpPr>
          <p:cNvPr id="18" name="Diamond 17"/>
          <p:cNvSpPr/>
          <p:nvPr/>
        </p:nvSpPr>
        <p:spPr>
          <a:xfrm>
            <a:off x="8915400" y="3721608"/>
            <a:ext cx="182880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같은 CI로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가입한 계정?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80" y="3785615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계정 로그인 · 토큰 발급</a:t>
            </a:r>
          </a:p>
        </p:txBody>
      </p:sp>
      <p:sp>
        <p:nvSpPr>
          <p:cNvPr id="21" name="Diamond 20"/>
          <p:cNvSpPr/>
          <p:nvPr/>
        </p:nvSpPr>
        <p:spPr>
          <a:xfrm>
            <a:off x="2697480" y="3721608"/>
            <a:ext cx="155448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중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85615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진행 중이던</a:t>
            </a:r>
          </a:p>
          <a:p>
            <a:pPr algn="ctr" eaLnBrk="0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 화면 복귀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06040" y="4736592"/>
            <a:ext cx="1737360" cy="502920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홈 이동(Native)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4700016"/>
            <a:ext cx="196596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판정 · 약관(Webview)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13장 순서 · KCP 생략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788920"/>
            <a:ext cx="5760720" cy="5029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transNo만 Webview로, token은 메가MGC커피 서버에만 보관</a:t>
            </a:r>
          </a:p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로그인 유지는 메가MGC커피 자체 토큰으로 함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37744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57200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583679" y="2221991"/>
            <a:ext cx="320041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503920" y="2221991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49640" y="2020823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03820" y="255117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49540" y="2551176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829800" y="250545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8613648" y="3136391"/>
            <a:ext cx="438912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49640" y="2935223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829800" y="3465576"/>
            <a:ext cx="0" cy="25603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875520" y="3465576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6400800" y="4069080"/>
            <a:ext cx="251460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503920" y="386791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829800" y="4416552"/>
            <a:ext cx="0" cy="283464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875520" y="441655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4251960" y="4069079"/>
            <a:ext cx="27432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2377440" y="4069079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423160" y="386791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474720" y="4416552"/>
            <a:ext cx="0" cy="32004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520440" y="441655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0081259" y="5266944"/>
            <a:ext cx="0" cy="201168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5463540" y="5468112"/>
            <a:ext cx="4617719" cy="0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463540" y="4352544"/>
            <a:ext cx="0" cy="1115568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로그인 송수신 16단계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송·수신: 로그인 1회에 메가MGC커피 서버 ↔ 핏콜라보 2회 호출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인증 거래번호 발급 ①과 인증 결과 조회 ②를 부르고, 로그인 유지는 자체 토큰으로 합니다.</a:t>
            </a:r>
            <a:endParaRPr lang="ko-KR" sz="1300" dirty="0"/>
          </a:p>
        </p:txBody>
      </p:sp>
      <p:pic>
        <p:nvPicPr>
          <p:cNvPr id="6" name="Image 0" descr="로그인 송수신 다이어그램 17단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346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4334676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 / 88</a:t>
            </a:r>
          </a:p>
        </p:txBody>
      </p:sp>
      <p:sp>
        <p:nvSpPr>
          <p:cNvPr id="9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로그인 단계별 규칙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단계별 규칙: 단계마다 보내는 쪽 · 받는 쪽 · 규칙 정의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인증 후 3분 안에 인증 결과를 조회하고, token은 메가MGC커피 서버에만 두며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Webview에는 transNo만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넘깁니다.</a:t>
            </a:r>
          </a:p>
        </p:txBody>
      </p:sp>
      <p:graphicFrame>
        <p:nvGraphicFramePr>
          <p:cNvPr id="4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98769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 ①(reqTransNo.mv)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서버만 핏콜라보를 부르고, storeId ·</a:t>
                      </a:r>
                    </a:p>
                    <a:p>
                      <a:pPr eaLnBrk="0"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transType(L)을 보내 transNo · token을 받음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49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6~7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</a:t>
                      </a:r>
                    </a:p>
                    <a:p>
                      <a:pPr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전달, 인증 모듈 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호출값은 transNo · deviceType · nativeYN=N이고,</a:t>
                      </a: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token은 메가MGC커피 서버가 보관함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49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8~9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↔ 카드사 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인증 뒤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①Android는 복귀 때 포커스를 전달하고, ②iOS는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모듈이 감지함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49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→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 성공 · 0001 스토어 이동 · 0002 실패 · 0003 취소,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1200은 transNo 만료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149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11~12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②(reqAuthData.mv)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 · token을 보내며, 3분을 넘기면 1500, token이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다르면 1402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저장: ci · name · phoneNo · 생년 · nation</a:t>
                      </a:r>
                    </a:p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미저장: gender · email · di</a:t>
                      </a:r>
                    </a:p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생년월일 8자리는 만 14세 판정에만 씀 </a:t>
                      </a:r>
                      <a:r>
                        <a:rPr lang="en-US" sz="105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[법무팀 검토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확인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CI로 같은 계정이 있으면 그 계정으로</a:t>
                      </a:r>
                    </a:p>
                    <a:p>
                      <a:pPr eaLnBrk="0"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로그인시키고, 없으면 가입 판정(13장)을 거쳐 가입시킴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Native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결과, 토큰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Native는 홈 또는 진행 중이던 주문 화면으로 이동함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 / 88</a:t>
            </a:r>
          </a:p>
        </p:txBody>
      </p:sp>
      <p:sp>
        <p:nvSpPr>
          <p:cNvPr id="4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주문 중 로그인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주문: 로그인 완료 뒤 진행 중이던 주문으로 복귀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결제는 로그인 때 받은 CI로 계정을 조회하므로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로그인한 회원만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쓸 수 있습니다.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진입: 비로그인 고객이 상품 상세에서 주문하기를 누름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46장 로그인 흐름과 같은 순서로 앱카드 로그인 진행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59638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복귀: 로그인이 끝나면 진행 중이던 주문으로 돌아감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2900680"/>
            <a:ext cx="110916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Webview는 로그인 완료 화면 대신 원래 주문하기 화면을 열고 결제를 이어 감</a:t>
            </a:r>
            <a:endParaRPr lang="ko-KR" sz="1200" dirty="0"/>
          </a:p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이를 위해 Webview는 로그인하는 동안 주문 정보를 유지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60781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보관: 메가MGC커피 서버는 로그인 때 받은 CI를 결제에도 씀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912108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CI로 계정 목록을 조회하고 원클릭 조건을 확인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42112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확인: 현행 앱에 주문 중 로그인 복귀 기능이 있는지 봐야 함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72541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기능이 없으면 CJ ONS가 Native · Webview에 새로 만듦 </a:t>
            </a:r>
            <a:r>
              <a:rPr lang="ko-KR" altLang="en-US" sz="12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[CJ ONS 확인 필요]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26186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18871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주문 복귀 기능이 현행에 없으면 Native · Webview에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만들어야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결제 흐름도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분기: authYN 응답에 따라 원클릭 · 인증 결제로 구분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결제는 결제 거래번호 발급 응답의 authYN에 따라 바로 승인하거나 인증 모듈을 거쳐 승인하고, 주문 생성까지 확인합니다.</a:t>
            </a:r>
          </a:p>
        </p:txBody>
      </p:sp>
      <p:pic>
        <p:nvPicPr>
          <p:cNvPr id="6" name="Image 0" descr="앱카드 결제 흐름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393003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3930033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48640" y="5877705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04553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없으면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승인을 다시 부르지 않고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거래 상태를 조회하며, 주문이 없으면 승인을 취소합니다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 / 88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결제 송수신 18단계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결제: 인증 결제일 때만 인증 모듈 · 카드사 앱 호출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거래번호 발급 응답이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authYN=N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(새 카드 등)이면 인증 모듈 호출과 결제 인증 결과 조회(7~14단계)가 더해집니다.</a:t>
            </a:r>
          </a:p>
        </p:txBody>
      </p:sp>
      <p:pic>
        <p:nvPicPr>
          <p:cNvPr id="6" name="Image 0" descr="결제 송수신 다이어그램 18단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346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4334676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 / 88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결제 단계별 규칙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단계별 규칙: 메가MGC커피 서버가 지킬 단계별 기준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없으면 메가MGC커피 서버는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승인을 다시 부르지 않고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거래 상태 조회 ⑥으로 결과를 확인합니다.</a:t>
            </a:r>
          </a:p>
        </p:txBody>
      </p:sp>
      <p:graphicFrame>
        <p:nvGraphicFramePr>
          <p:cNvPr id="4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31107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50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 ①(getPayCardInfo.mv)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 1(CI) · ci를 보내 계정 목록을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할부는 쓰지 않고, 카드사 목록은 앱 고정 목록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↔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 ②(requestTid.mv)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payType 0(기존 카드, 계정 ID 포함) 또는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1(새 카드, 카드사 코드)을 보냄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Webview는 요청하는 순간부터 결제 버튼을 잠금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7~11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인증 모듈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↔ 카드사 앱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결제(authYN=N일 때만)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호출값은 tid · amount · orderNo · payType · termYN=N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화면은 그대로 두고, tid가 만료되면 1403을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12~14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↔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 ③(reqAuthDataPay.mv)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0678" indent="-90678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 · orderNo · reqToken을 보내 acntId · userNo를 받음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핏콜라보 →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④(appcardPayment.mv), 승인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응답을 30초~1분 기다리고, 다시 부르지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OnePG 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↔ OnePG 연동 일정 검토 필요]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결과(approvalNo · pgTno)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approvalNo를 저장하고, 응답이</a:t>
                      </a: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없으면 거래 상태 조회 ⑥을 부름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생성 뒤 주문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승인은 됐는데 주문이 없으면 메가MGC커피 서버가</a:t>
                      </a: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 ⑤를 부름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 / 88</a:t>
            </a:r>
          </a:p>
        </p:txBody>
      </p:sp>
      <p:sp>
        <p:nvSpPr>
          <p:cNvPr id="4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원클릭과 인증 결제 비교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방식 비교: 원클릭은 바로 승인, 인증 결제는 카드사 앱 인증 뒤 승인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결제는 결제 거래번호 발급까지 같고,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호출과 결제 인증 결과 조회 여부만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다릅니다.</a:t>
            </a:r>
            <a:endParaRPr lang="ko-KR" sz="1300" dirty="0"/>
          </a:p>
        </p:txBody>
      </p:sp>
      <p:graphicFrame>
        <p:nvGraphicFramePr>
          <p:cNvPr id="4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793617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원클릭(기존 카드)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결제(새 카드 · 조건 미충족)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1a 앱카드 계정을 고르고 결제함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1b에서 카드사를 고르고 결제함</a:t>
                      </a:r>
                    </a:p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원클릭에 authYN=N이 오면 같은 tid로 인증함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②에 보내는 값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payType=0, isOneclick=Y, 고른 계정의</a:t>
                      </a: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 · userNo, 로그인 CI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payType=1, 고른 카드사 코드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띄우지 않음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컴포넌트가 결제 화면 위에 띄우고, 계정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ID는 보내지 않음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전 조회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하지 않음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인증 결과 조회 ③으로</a:t>
                      </a: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 · userNo를 받음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이후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주문을 만들고,</a:t>
                      </a: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실패하면 승인을 취소함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원클릭과 같고, 이 카드는 다음 결제부터 계정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목록에 나옴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안내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위 토스트 '이 카드는 카드사 인증이 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 더 필요해요'(61장)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4918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7603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카드는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인증 결과 조회 ③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계정 ID를 받아야 승인 ④를 부를 수 있습니다</a:t>
            </a:r>
          </a:p>
        </p:txBody>
      </p:sp>
      <p:sp>
        <p:nvSpPr>
          <p:cNvPr id="4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현행 결제와의 차이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결제 흐름 연결: 결제 키 대신 결제 거래번호로 처리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일반 결제 7단계 중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키 발급 · 결제 화면 호출 · 인증 결과 수신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단계가 앱카드에서 달라집니다.</a:t>
            </a:r>
            <a:endParaRPr lang="ko-KR" sz="1300" dirty="0"/>
          </a:p>
        </p:txBody>
      </p:sp>
      <p:pic>
        <p:nvPicPr>
          <p:cNvPr id="6" name="Image 0" descr="현행 일반 결제 흐름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5760720" cy="213903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5760720" cy="2139038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4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783080"/>
          <a:ext cx="5102352" cy="3509162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88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결제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쿠폰 · 결제수단 선택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결제수단에 앱카드 계정을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보여 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결제대행사에서 결제 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거래번호(tid)를 받음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결제대행사 결제 화면 호출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9314" indent="-99314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인증이 필요할 때만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Webview에 인증 모듈을 띄움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앱 · 간편결제 앱</a:t>
                      </a: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Android Native가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포커스로 복귀를 알림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결과 수신 후 승인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인증</a:t>
                      </a: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결과를 조회한 뒤 승인함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 완료 · 결제 실패 표시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9314" indent="-99314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실패 · 취소 안내 문구를 더함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88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홈 이동, 홈 정보 갱신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현행과 같음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키 발급과 결제 화면 호출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단계는 앱카드 결제에서 빠집니다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취소 흐름도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흐름: 취소 요청 5경로 · 주기 작업 모두 승인 취소 ⑤로 처리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요청은 승인 취소(결제 ⑤)로, 결과 미확인 거래는 메가MGC커피 서버 주기 작업이 거래 상태 조회(결제 ⑥)로 정리합니다.</a:t>
            </a:r>
          </a:p>
        </p:txBody>
      </p:sp>
      <p:pic>
        <p:nvPicPr>
          <p:cNvPr id="6" name="Image 0" descr="취소 · 결과 미확인 거래 정리 흐름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393003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3930033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48640" y="5877705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04553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취소는 기간 제한 없이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취소로만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처리하고, 승인번호가 없으면 거래 상태부터 조회합니다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 / 88</a:t>
            </a:r>
          </a:p>
        </p:txBody>
      </p:sp>
      <p:sp>
        <p:nvSpPr>
          <p:cNvPr id="1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취소 송수신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결과: 메가MGC커피 서버가 핏콜라보 응답으로 확정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취소에는 approvalNo가 필수이므로, 승인 응답을 못 받은 건은 메가MGC커피 서버가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조회로 승인번호부터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찾습니다.</a:t>
            </a:r>
            <a:endParaRPr lang="ko-KR" sz="1300" dirty="0"/>
          </a:p>
        </p:txBody>
      </p:sp>
      <p:pic>
        <p:nvPicPr>
          <p:cNvPr id="6" name="Image 0" descr="취소 송수신 다이어그램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346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4334676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 / 88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카드 관리 송수신 9단계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관리 흐름: 메가MGC커피 서버가 sessionKey를 받아 페이지 열기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메가퀵결제에서 앱카드 관리로 들어가면 메가MGC커피 서버가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적재 API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부르고, 닫으면 메가퀵결제로 돌아옵니다.</a:t>
            </a:r>
            <a:endParaRPr lang="ko-KR" sz="1300" dirty="0"/>
          </a:p>
        </p:txBody>
      </p:sp>
      <p:pic>
        <p:nvPicPr>
          <p:cNvPr id="6" name="Image 0" descr="카드 관리 송수신 다이어그램 9단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76" y="1783080"/>
            <a:ext cx="10697199" cy="255535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5876" y="1783080"/>
            <a:ext cx="10697199" cy="2555353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5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1313"/>
          <a:ext cx="11091672" cy="953643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88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값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 · deviceType · userType 0(CI) · ci · redirectUrl(메가퀵결제 화면)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88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 열기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Webview가 카드관리 페이지 주소에 sessionKey · token · storeId를 붙여 웹 화면 이동으로 열어 줌(iframe 아님)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88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복귀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페이지가 nativeFocusHandler를 받으므로 Android Native는 결제 때와 같은 복귀 처리를 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2623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75308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카드관리 페이지를 닫으면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redirectUrl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메가퀵결제 화면에 돌아옵니다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 · 만료 · 무응답 · 취소 실패의 처리 기준과 고객 안내 문구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    인증 · 로그인 예외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   결제 · 취소 예외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    고객 안내 문구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    재호출 기준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    구현 포인트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    다른 가맹점 이슈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 / 88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인증 · 로그인 예외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· 로그인 예외: 대부분 처음부터 다시 시작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거래번호가 만료되거나 조회 시간이 지나면, 메가MGC커피 서버는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 발급부터 다시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진행합니다.</a:t>
            </a:r>
            <a:endParaRPr lang="ko-KR" sz="1300" dirty="0"/>
          </a:p>
        </p:txBody>
      </p:sp>
      <p:graphicFrame>
        <p:nvGraphicFramePr>
          <p:cNvPr id="5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158109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8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· 상황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0001 카드사 앱 미설치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컴포넌트가 scheme(스토어 주소)을 열고 인증 모듈은 유지함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 인증 실패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컴포넌트가 인증 모듈을 닫고, 실패 알럿에 resultMessage를 붙여 다시 시도 안내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0003 고객 취소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모듈을 닫고 직전 화면으로 돌아감(로그인은 로그인 수단 선택)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 transNo 만료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reqTransNo부터 다시 발급함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1500 조회 시간 초과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뒤 3분이 지났으므로 메가MGC커피 서버가 reqTransNo부터 다시 시작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1402 token 불일치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16586" indent="-116586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발급 때와 다른 token을 보냈으므로 인증 거래번호 발급부터 다시 진행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1400 인증 미완료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①로그인은 처음부터 다시 하고, ②결제는 메가MGC커피 서버가 승인을 요청하지 않음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9998 허용되지 않은 IP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메가MGC커피가 핏콜라보에 메가MGC커피 서버 공인 IP 등록을 요청함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거래번호가 만료되면 메가MGC커피 서버가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reqTransNo부터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다시 발급합니다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결제 · 취소 예외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예외: 메가MGC커피 서버는 주문을 임의로 확정하지 않음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응답이 늦거나 오류가 나면 메가MGC커피 서버는 성공 · 실패를 짐작하지 않고 거래 상태 조회로 확인합니다.</a:t>
            </a:r>
            <a:endParaRPr lang="ko-KR" sz="1300" dirty="0"/>
          </a:p>
        </p:txBody>
      </p:sp>
      <p:graphicFrame>
        <p:nvGraphicFramePr>
          <p:cNvPr id="5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29844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8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· 상황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1403 tid 만료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requestTid를 다시 발급하고, 인증 결제는 처음부터 다시 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8000 체크카드 할부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메가MGC커피는 일시불만 쓰므로 일시불로 보냄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거절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주문을 확정하지 않고 응답의 거절 사유(contents)를 확인함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응답 지연 · 9999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승인을 다시 부르지 않고, 30초~1분 기다린 뒤 거래 상태 조회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⑥(reqCondition.mv)으로 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주문 생성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appcardCancel로 전체 취소한 뒤 주문을 실패로 처리함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authYN=N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12268" indent="-112268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 조건이 맞지 않으면 공통 웹 컴포넌트가 받은 tid 그대로 인증 모듈을 띄움(재발급 없음)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9001 구문 오류 · 기취소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바로 성공으로 처리하지 않고, 거래 상태 조회 ⑥으로 cancelState 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A009 · A020 · A057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A009는 기취소, A020 · A057은 취소 불가이므로 메가MGC커피 서버가 응답 사유 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늦으면 승인을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부르지 않고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거래 상태 조회로 확인합니다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고객 안내 문구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안내 문구: 예외 때 고객 화면에는 정해진 문구만 표시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 · 거래번호 같은 내부 값은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화면에 보이지 않고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카드사 사유는 알럿 아래 줄에만 붙입니다.</a:t>
            </a:r>
            <a:endParaRPr lang="ko-KR" sz="1300" dirty="0"/>
          </a:p>
        </p:txBody>
      </p:sp>
      <p:graphicFrame>
        <p:nvGraphicFramePr>
          <p:cNvPr id="5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5439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· 상황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화면 문구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보이는 곳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 인증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인증에 실패했어요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 + 카드사 사유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0003 고객 취소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문구 없이 직전 화면으로 돌아감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 · 1500 인증 만료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시간이 지나 처음부터 다시 진행해 주세요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1400 · 1402 인증 미완료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인증이 끝나지 않아 다시 진행해 주세요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9998 연동 오류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일시적인 오류로 잠시 뒤 다시 시도해 주세요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1403 결제 거래번호 만료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시간이 지나 처음부터 다시 결제해 주세요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거절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카드사에서 결제를 승인하지 않았어요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 + 거절 사유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응답 지연 · 9999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결과를 확인하고 있어요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전체화면 로딩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주문 생성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접수에 실패해 결제를 취소했어요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 화면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761079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authYN=N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카드는 카드사 인증이 한 번 더 필요해요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위 토스트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4019136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9001 · A009 기취소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 취소된 결제예요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0282939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A020 · A057 취소 불가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결제를 취소할 수 없어 고객센터로 문의해 주세요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848652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 / 88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재호출 기준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재호출 기준: 승인만 재호출 금지, 나머지 API는 재호출 가능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승인을 다시 부르면 같은 주문이 두 번 승인될 수 있으므로, 메가MGC커피 서버는 승인 결과를 거래 상태 조회로만 확인합니다.</a:t>
            </a:r>
            <a:endParaRPr lang="ko-KR" sz="1300" dirty="0"/>
          </a:p>
        </p:txBody>
      </p:sp>
      <p:graphicFrame>
        <p:nvGraphicFramePr>
          <p:cNvPr id="5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4892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부르기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④(appcardPayment.mv)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응답을 못 받아도 다시 부르지 않고 거래 상태 조회 ⑥으로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결과를 확인함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 ⑤(appcardCancel.mv)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이미 취소된 건이면 9001이 오므로 거래 상태 조회로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cancelState를 확인함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API(로그인 ② · 결제 ① · ③ · ⑥)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같은 값을 다시 보내 결과를 다시 받음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발급(로그인 ① · 결제 ②)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만료되면 새로 발급받고, 결과 미확인 결제가 있는 주문은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새로 발급하지 않음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248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516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바로 확인하지 못한 거래는 메가MGC커피 서버 주기 작업이 같은 기준으로 모아 정리합니다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 / 88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388612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48640" y="4388612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응답이 없을 때   </a:t>
            </a:r>
            <a:r>
              <a:rPr sz="11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승인은 다시 부르지 않고 거래 상태 조회로 결과를 확정함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3232" y="4845812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 ④ 요청</a:t>
            </a:r>
          </a:p>
          <a:p>
            <a:pPr algn="ctr" eaLnBrk="0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21024" y="4845812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30초~1분 대기</a:t>
            </a:r>
          </a:p>
          <a:p>
            <a:pPr algn="ctr" eaLnBrk="0"/>
            <a:r>
              <a:rPr sz="9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승인 재호출 금지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28816" y="4845812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거래 상태 조회 ⑥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재호출 가능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436608" y="4845812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 확정</a:t>
            </a:r>
          </a:p>
          <a:p>
            <a:pPr algn="ctr" eaLnBrk="0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 확정 또는 승인 취소 ⑤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2788920" y="5147564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734056" y="4937252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응답 없음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696712" y="5147564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604504" y="5147564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구현 포인트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기준: Webview · 메가MGC커피 서버가 지킬 8가지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Webview는 인증 모듈을 한 번만 띄우고 메시지 출처를 검증하며, 메가MGC커피 서버는 민감값 보관과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 대조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승인을 확정합니다.</a:t>
            </a:r>
          </a:p>
        </p:txBody>
      </p:sp>
      <p:graphicFrame>
        <p:nvGraphicFramePr>
          <p:cNvPr id="5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03879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포인트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표시 시점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컴포넌트는 바텀시트 · 전체화면이 그려진 뒤 인증 모듈을 띄우고, object/WebView를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번 만들지 않음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포커스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Android Native는 복귀 1회에 focus(true)만 한 번 보냄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리스너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컴포넌트는 인증 모듈을 띄울 때 리스너를 한 번 등록하고, 인증 모듈이 끝나면 해제함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 0000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화면의 성공 코드만으로 로그인 · 승인을 확정하지 않고, 메가MGC커피 서버 응답으로 확정함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 출처 검증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컴포넌트는 인증 모듈 주소에서 왔고 결과 코드가 있는 메시지만 처리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민감값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16586" indent="-116586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token · reqToken · storeAuthKey를 관리하고, 앱 · 분석 로그에 원문을 남기지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상태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Webview는 결제 버튼 · 슬라이더를 실행 뒤 잠그고, 성공 · 실패가 확정되면 다시 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대조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결제 거래번호 발급 ② · 승인 ④의 amount를 메가MGC커피 서버의 주문</a:t>
                      </a: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금액과 대조하고, 화면 값으로 결제하지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375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643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8가지 기준은 스테이징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항목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에도 그대로 넣어 오픈 전에 확인합니다</a:t>
            </a:r>
          </a:p>
        </p:txBody>
      </p:sp>
      <p:sp>
        <p:nvSpPr>
          <p:cNvPr id="5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다른 가맹점 이슈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가맹점 사고 사례: 반복된 사고 3가지와 예방 방법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사고는 모두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Webview와 메가MGC커피 서버의 기본 처리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막을 수 있으며, 같은 항목을 스테이징 테스트에서 확인합니다.</a:t>
            </a:r>
          </a:p>
        </p:txBody>
      </p:sp>
      <p:graphicFrame>
        <p:nvGraphicFramePr>
          <p:cNvPr id="5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072259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사고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막는 방법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화면이 갑자기 닫힘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브라우저 · 웹뷰가 넣은 빈 메시지를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모듈의 닫기 결과로 처리했음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메시지 출처를 검증하고, 결과 코드가 있는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메시지만 처리함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결제가 두 번 진행됨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결제 버튼을 연속으로 눌렀음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요청 시점부터 인증 모듈 표시 · 승인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응답까지 버튼을 잠금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승인됐는데 주문이 없음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뒤 주문 생성이 실패했음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승인을 취소하고,</a:t>
                      </a: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응답이 없던 건은 거래 상태 조회로 정리함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58647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51332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사고 모두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 잠금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인증 모듈 1회 표시 · 상태 조회 정리로 막을 수 있습니다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4096004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48640" y="4096004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사고를 막는 지점   </a:t>
            </a:r>
            <a:r>
              <a:rPr sz="11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흐름의 세 지점에서 기본 처리로 사고를 막음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3232" y="4553204"/>
            <a:ext cx="2490216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버튼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실행 뒤 잠금 → 두 번 결제 방지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49368" y="4553204"/>
            <a:ext cx="2490216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화면 완성 뒤 1회 → 화면 닫힘 방지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85504" y="4553204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 응답</a:t>
            </a:r>
          </a:p>
          <a:p>
            <a:pPr algn="ctr" eaLnBrk="0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상태 조회 · 승인 취소 → 주문 없는 승인 정리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3240024" y="4854956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376160" y="4854956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승인 대행과 결제대행사(OnePG) 등록 · 정산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    현행과 앱카드 역할 비교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    거래 식별값 보관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    pgType 리스크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 / 88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 · 현행과 앱카드 역할 비교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· 정산 역할: 승인은 핏콜라보, 결제대행사는 승인 등록 수신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결제는 결제대행사가 승인하지만, 앱카드 결제는 핏콜라보가 승인한 뒤 결제대행사에 등록하며 정산 구조는 같습니다.</a:t>
            </a:r>
            <a:endParaRPr lang="ko-KR" sz="1300" dirty="0"/>
          </a:p>
        </p:txBody>
      </p:sp>
      <p:graphicFrame>
        <p:nvGraphicFramePr>
          <p:cNvPr id="5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76701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현행(일반 · 등록 카드 결제)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결제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149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취소 요청 대상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결제대행사(PG)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</a:t>
                      </a: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취소 API를 부름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인증 · 승인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결제대행사(PG)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건에 한함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정산 정보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결제대행사가 보유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승인 뒤 결제대행사에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 · 결제대행사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거래번호로 연결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5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대금 정산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→ 결제대행사 →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현행과 같음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정산 구조 같음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역할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정산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결과 등록을 받음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승인 등록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 eaLnBrk="0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방식 확인 필요]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149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화면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결제 화면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앱카드 결제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화면(밀어서 결제 포함)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모듈만 핏콜라보 제공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구조는 그대로이므로, 결제대행사 쪽 과제는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등록을 받는 연동 하나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좁혀집니다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 / 88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 · 거래 식별값 보관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식별값: 주문번호 · tid · 승인번호 · pgTno를 함께 보관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값을 함께 저장해야 메가MGC커피 주문, 핏콜라보 거래, 결제대행사 거래를 서로 찾아 맞출 수 있습니다.</a:t>
            </a:r>
            <a:endParaRPr lang="ko-KR" sz="1300" dirty="0"/>
          </a:p>
        </p:txBody>
      </p:sp>
      <p:graphicFrame>
        <p:nvGraphicFramePr>
          <p:cNvPr id="6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1" cy="2154936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6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0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생기는 시점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곳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orderNo(메가MGC커피 주문번호)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거래번호 발급 ② 요청 때 메가MGC커피가 만듦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20904" indent="-120904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모든 결제 API와 주문을 잇는 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tid(핏콜라보 결제 거래번호)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20904" indent="-120904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거래번호 발급 ②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20904" indent="-120904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③~⑥, 거래 상태 조회의 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 · approvalDate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20904" indent="-120904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④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취소의 필수값</a:t>
                      </a: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매출 대사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pgTno · mid · PG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20904" indent="-120904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④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20904" indent="-120904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결제대행사 거래와 정산 대사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cancelTid · cancelPgTno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20904" indent="-120904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취소 ⑤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20904" indent="-120904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취소 거래 대사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0593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73278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값을 함께 보관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주문 · 핏콜라보 거래 · 결제대행사 거래를 서로 맞출 수 있습니다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4315460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48640" y="4315460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거래 식별값이 생기는 곳   </a:t>
            </a:r>
            <a:r>
              <a:rPr sz="11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네 값은 생기는 곳이 달라 메가MGC커피 서버가 함께 모아 저장함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3232" y="4772660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 eaLnBrk="0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orderNo 생성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21024" y="4772660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tid 발급 · approvalNo 승인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28816" y="4772660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pgTno 승인 등록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36608" y="4772660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결제 데이터</a:t>
            </a:r>
          </a:p>
          <a:p>
            <a:pPr algn="ctr" eaLnBrk="0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네 값 함께 저장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788920" y="50744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734056" y="486410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②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696712" y="50744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641848" y="486410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604504" y="50744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549640" y="486410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④ 응답</a:t>
            </a:r>
          </a:p>
        </p:txBody>
      </p:sp>
      <p:sp>
        <p:nvSpPr>
          <p:cNvPr id="7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 · pgType 리스크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pgType: 결제대행사 구분값 목록에 OnePG 추가 필요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핏콜라보가 결제 거래번호 발급 ②의 필수값 pgType 목록에 OnePG를 추가해야, 앱카드 승인을 OnePG에 등록할 수 있습니다.</a:t>
            </a:r>
          </a:p>
        </p:txBody>
      </p:sp>
      <p:graphicFrame>
        <p:nvGraphicFramePr>
          <p:cNvPr id="6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2580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2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eaLnBrk="0" marL="120904" indent="-120904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 목록(KICC · 이니시스 · KCP · 나이스 · 스마트로 · 토스 · KSNET · 신한은행)에 OnePG가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중계 규격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eaLnBrk="0" marL="120904" indent="-120904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결제대행사가 할부 정보 조회 · 가맹점 번호 조회 · 승인 등록 · 거래 상태 조회 · 취소 5종을 만드는 구조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OnePG 쪽 중계 API는 기본 개발 범위에 넣지 않고, 핏콜라보 · CJ ONS 협의에서 필요하다고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정한 경우에만 개발 과제로 넣음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대상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pgType에 OnePG를 추가하는 개발 일정과 승인 등록 연동 방식을 회신함</a:t>
                      </a: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ONS는 협의 안건으로 OnePG 쪽 중계 API 필요 여부를 공유함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ID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결제대행사 정보와 신용카드 가맹점 번호를 핏콜라보에 넘겨야 가맹점 ID(storeId)가 발급됨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3902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6587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핏콜라보의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pgType OnePG 추가 일정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정해져야 결제대행사 연동 공수를 확정할 수 있습니다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4643120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48640" y="4643120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pgType 추가 후 흐름   </a:t>
            </a:r>
            <a:r>
              <a:rPr sz="11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핏콜라보가 OnePG를 추가하면 현행 정산 구조를 그대로 씀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3232" y="5100320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 eaLnBrk="0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결제 ② pgType = OnePG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49368" y="5100320"/>
            <a:ext cx="2490216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승인 대행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85504" y="5100320"/>
            <a:ext cx="2490216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 · 정산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3240024" y="5402072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3185160" y="5008879"/>
            <a:ext cx="1682496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pgType 목록에</a:t>
            </a:r>
          </a:p>
          <a:p>
            <a:pPr algn="ctr" eaLnBrk="0"/>
            <a:r>
              <a:rPr sz="85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OnePG 추가 필요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376160" y="5402072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321296" y="5191760"/>
            <a:ext cx="168249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</p:txBody>
      </p:sp>
      <p:sp>
        <p:nvSpPr>
          <p:cNvPr id="7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매트릭스 · 착수 전 확인 · B.O · 테스트 · 오픈 · 심사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    작업 매트릭스(메가MGC커피 서버)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    작업 매트릭스(Native · Webview)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    착수 전 확인 13건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    B.O · 로그 · 데이터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    연동 준비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    스테이징 테스트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3093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    오픈 전 점검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63093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    앱 심사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 / 88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작업 매트릭스(메가MGC커피 서버)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매트릭스(서버): 메가MGC커피 서버 작업 최다, Native 최소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결제수단 코드 반영 · 취소 경로 연결 · 미확인 거래 정리도 메가MGC커피 서버가 맡습니다.</a:t>
            </a:r>
          </a:p>
        </p:txBody>
      </p:sp>
      <p:graphicFrame>
        <p:nvGraphicFramePr>
          <p:cNvPr id="6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61891"/>
        </p:xfrm>
        <a:graphic>
          <a:graphicData uri="http://schemas.openxmlformats.org/drawingml/2006/table">
            <a:tbl>
              <a:tblPr/>
              <a:tblGrid>
                <a:gridCol w="6702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AOS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HTTP 호출부(POST · form-urlencoded · JSON)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방화벽 · 공인 IP 등록, 가맹점 ID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API 2종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 · reqToken · tid · CI를 메가MGC커피 서버에 보관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가입 수단 · 가입 판정 연결(KCP 미사용, 13 · 14장)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API(계정 조회 · 거래번호 · 인증 조회 · 승인 · 취소 · 상태 조회)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 승인 방지(주문당 결제 1건)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요청 경로 연결(고객 · 매장 · 에이전트 자동 · 상담 · 선물 · 충전 실패)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미확인 거래 주기 정리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코드 하위 반영(B.O 조회 · 매출 리포트)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회원 · 주문 데이터 반영, 금액 대조(22 · 23장)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050"/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050"/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050"/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 로그인 허용(로그인 수단 연결 구조 개선)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결제대행사 중계 API(협의에서 필요하다고 정한 경우)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 / 88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작업 매트릭스(Native · Webview)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· Webview 작업: 공통 웹 컴포넌트 · 결제수단 화면 신규 개발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Native는 로그인 버튼과 카드사 앱 처리만 맡고, 인증 화면 · 카드 조회 · 등록 · 삭제 화면 · 할부는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개발하지 않습니다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graphicFrame>
        <p:nvGraphicFramePr>
          <p:cNvPr id="6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95841"/>
        </p:xfrm>
        <a:graphic>
          <a:graphicData uri="http://schemas.openxmlformats.org/drawingml/2006/table">
            <a:tbl>
              <a:tblPr/>
              <a:tblGrid>
                <a:gridCol w="6702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AOS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 버튼 · 브릿지 페이지 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9곳 스킴 · 패키지 등록, Webview 주소 가로채기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포커스 전달(onResume → nativeFocusHandler)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· 브릿지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 분기 · postMessage 출처 검증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중 로그인 뒤 주문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UI(결제 화면 5종: 메가오더 · 퀵오더 · 예약 · 선물 · 충전)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화면별 결제 전 체크 뒤 결제 요청, 완료 화면 이동(30장)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밀어서 결제 · 중복 실행 잠금, 실패 · 취소 안내 문구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앱카드 관리 진입 · 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473526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 앱카드 인증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미만 보호자 동의 순서(보호자 본인인증 뒤 동의 활성)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0995171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71996"/>
            <a:ext cx="11091672" cy="191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●는 작업 대상이며, 현행에 주소 가로채기 · 주문 복귀 기능이 없으면 Native 작업이 늘어남</a:t>
            </a:r>
            <a:endParaRPr lang="ko-KR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 / 88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착수 전 확인 13건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 전 확인: 개발 과제 13개의 확인 사항 먼저 해결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13건 중 확인 사항이 없는 2건은 바로 착수하고, 나머지는 담당 답변을 받아야 설계를 확정할 수 있습니다.</a:t>
            </a:r>
          </a:p>
        </p:txBody>
      </p:sp>
      <p:graphicFrame>
        <p:nvGraphicFramePr>
          <p:cNvPr id="6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19194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0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과제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영역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착수 전 확인 사항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등록 · 이동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Webview가 카드사 앱 주소 이동을 처리하는지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 버튼 · 브릿지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·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가입 · 같은 CI 계정 로그인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구조 개선 범위 · 공수, 같은 CI 복수 계정 여부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중 로그인 뒤 주문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·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기능이 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 앱카드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·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본인인증(KCP) 화면에 앱카드 선택을 넣는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 방식(밀어서 결제 통일)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화면 5종 결제수단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선불카드 충전 한도 · 유효기간 체크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· 인증 결제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 판단 조건(CI 일치 외), tid 유효시간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승인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결제대행사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OnePG 추가 개발 일정(핏콜라보), 연동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요청 경로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에이전트 자동 취소 · 충전 실패 때 승인 취소 ⑤ 호출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진입 · 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·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API 규격서 v1.0.4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방화벽 · 공인 IP · 가맹점 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결제대행사 가맹점 번호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카드사별 실카드 공동 테스트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카드사별 테스트 계획 · 일정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 / 88</a:t>
            </a:r>
          </a:p>
        </p:txBody>
      </p:sp>
      <p:sp>
        <p:nvSpPr>
          <p:cNvPr id="6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B.O · 로그 · 데이터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B.O · 리포트: 앱카드 결제수단 코드 반영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B.O 주문 조회 값 · 결제수단 코드 · 로그 기준은 정해졌고, 매출 리포트 항목과 GA4 이벤트는 마케팅1팀이 정합니다.</a:t>
            </a:r>
            <a:endParaRPr lang="ko-KR" sz="1300" dirty="0"/>
          </a:p>
        </p:txBody>
      </p:sp>
      <p:graphicFrame>
        <p:nvGraphicFramePr>
          <p:cNvPr id="6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47167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9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B.O 주문 조회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B.O 주문 조회에 앱카드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· 주문번호 · tid · 승인번호 · pgTno · 카드사를 보여 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확정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 리포트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결제수단별 매출에서 앱카드를 따로 집계함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 정의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>
                        <a:buNone/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[마케팅1팀 확인 필요]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 · 상담 취소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B.O · 매장 취소 경로가 승인 취소 ⑤를 부르도록 연결함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확정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미확인 거래 정리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주기 작업의 실행 이력과 처리</a:t>
                      </a: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결과(정상 · 취소 · 실패)를 기록함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주기 · 실패 처리 담당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>
                        <a:buNone/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[CJ ONS 확인 필요]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로그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토큰 원문을 남기지 않고 CI 등 개인정보를 가림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문의 대응을 위해 요청 전문과 transNo · tid는 추적되게 남김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확정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GA4 · 분석 로그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12268" indent="-112268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· 가입 판정 · 결제 단계 이벤트를 새로 설계함</a:t>
                      </a:r>
                    </a:p>
                    <a:p>
                      <a:pPr eaLnBrk="0" marL="112268" indent="-112268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가입 판정 결과와 만 14세 미만 여부를 넣고, 토큰 원문은 넣지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[마케팅1팀 확인 필요]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결제수단 코드가 B.O 조회 ·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리포트까지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반영돼야 정산 대사가 됩니다</a:t>
            </a:r>
          </a:p>
        </p:txBody>
      </p:sp>
      <p:sp>
        <p:nvSpPr>
          <p:cNvPr id="6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연동 준비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준비: 가맹점 ID 발급 · 방화벽 개방이 시작 조건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결제대행사 정보와 메가MGC커피 서버 공인 IP를 핏콜라보에 넘기고, 핏콜라보는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ID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남은 규격 자료를 넘깁니다.</a:t>
            </a:r>
            <a:endParaRPr lang="ko-KR" sz="1300" dirty="0"/>
          </a:p>
        </p:txBody>
      </p:sp>
      <p:graphicFrame>
        <p:nvGraphicFramePr>
          <p:cNvPr id="6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646045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8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 항목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주는 쪽 → 받는 쪽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ID 발급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메가MGC커피가 결제대행사 정보 · 가맹점 번호를 넘기면 핏콜라보가</a:t>
                      </a: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storeId(가맹점 ID)를 발급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→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접근 허용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ONS가 메가MGC커피 서버 → 핏콜라보 서버 방화벽을 열어 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ONS가 공인 IP 3종(개발 · 스테이징 · 운영 서버)을 알림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→ 핏콜라보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 값 관리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ONS가 핏콜라보 서버 호스트 · 인증 모듈 주소 · 출처 검증 값을 환경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설정값으로 관리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남은 자료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16586" indent="-116586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메가MGC커피가 거래 상태 코드 전체 목록 · 카드관리페이지 API 규격서 v1.0.4를 받음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4563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7248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ID는 메가MGC커피가 결제대행사 정보를 넘겨야 발급되므로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먼저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준비합니다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4564888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48640" y="4564888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연동 준비 순서   </a:t>
            </a:r>
            <a:r>
              <a:rPr sz="11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가맹점 ID와 방화벽이 열려야 스테이징 테스트를 시작할 수 있음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3232" y="5022088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결제대행사 정보 · 가맹점 번호 전달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21024" y="5022088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가맹점 ID(storeId) 발급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28816" y="5022088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CJ ONS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메가MGC커피 서버 공인 IP 전달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436608" y="5022088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방화벽 허용 · 남은 규격 전달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788920" y="5323840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696712" y="5323840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604504" y="5323840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스테이징 테스트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 테스트: 실제 승인이 나므로 본인 카드로 결제 후 취소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담당자는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카드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카드사 앱에 등록한 iOS · Android 기기로 소액 결제하고, 메가MGC커피가 만든 승인 취소로 정리합니다.</a:t>
            </a:r>
            <a:endParaRPr lang="ko-KR" sz="1300" dirty="0"/>
          </a:p>
        </p:txBody>
      </p:sp>
      <p:graphicFrame>
        <p:nvGraphicFramePr>
          <p:cNvPr id="6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097325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7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신규 가입 · 재로그인, 같은 CI 기존 계정 로그인</a:t>
                      </a: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비로그인 주문하기 → 로그인 → 주문 이어 가기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새 카드 인증 결제 뒤 다음 결제에서 계정 목록 표시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기존 카드 원클릭, authYN=N일 때 인증 결제 전환, 결제 화면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5종(메가오더 · 함께오더, 퀵오더, 예약, 선물 · 선불카드 구매, 충전)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· 매장 경로의 전체 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 생성 실패를 가정한 승인 취소, 거래 상태 조회로 상태 확인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예외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앱 미설치 → 설치하기 → 스토어 이동 · 복귀(0001)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화면 닫기(0003) · 인증 실패(0002)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 · Android 실기기에서 카드사 9곳 앱 이동 · 복귀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다른 출처 메시지 무시, 결제 버튼 연속 실행 때 중복 요청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085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관리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페이지 열기, 조회 · 등록 · 삭제, 닫은 뒤 메가퀵결제 복귀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45454"/>
            <a:ext cx="11091672" cy="21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핏콜라보는 카드사별 실카드 공동 테스트를 지원하며(계획 · 참여 · 로그 확인), 테스트가 끝나면 남은 승인 건을 모두 취소함</a:t>
            </a:r>
            <a:endParaRPr lang="ko-KR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 / 88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오픈 전 점검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 전 확인: 운영 값 전환 4가지 점검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 값이 하나라도 남아 있으면 운영에서 인증 · 결제가 실패하므로, 배포 전에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가지를 모두 확인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· 출처 검증 값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 호스트, 인증 모듈 주소, 메시지 출처 검증 값이 스테이징 값에서 운영 값으로 바뀌었는지 확인함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64210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방화벽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2946400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메가MGC커피 서버 공인 IP가 등록되고 운영 방화벽이 열렸는지 확인함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50113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가맹점 정보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805428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가맹점 ID와 결제대행사 정보(pgType · 가맹점 번호)가 운영 값인지 확인함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36016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 · 무응답 정리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66445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금액과 주문 금액이 같은지, 승인 응답을 못 받은 건 정리가 동작하는지 확인함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2009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1277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 값이 하나라도 남으면 운영에서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· 결제가 실패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앱 심사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심사: 앱카드 전 과정 영상 · 다른 로그인 계정 제출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담당자는 국내 카드사 앱과 본인 명의 카드가 없어 앱카드 로그인 · 결제를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확인할 수 없습니다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· 캡처 제출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①인증 모듈 → ②카드사 앱 이동 · 인증 → ③앱 복귀 → ④로그인 · 결제 완료까지의 영상이나 캡처를 냄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64210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Store Connect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2946400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심사 정보에 영상 · 캡처를 붙이고, 국내 카드사 앱 본인 인증이라 직접 확인할 수 없다고 메모에 적음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50113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Console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805428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액세스 설명에 같은 내용을 적고 영상은 링크로 넣음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36016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심사용 계정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66445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앱카드가 아닌 방식으로 로그인할 수 있는 심사용 계정을 함께 냄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2009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1277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담당자가 직접 확인할 수 없으므로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과정 영상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다른 로그인 계정을 함께 냅니다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회신 · CJ ONS 확인 · 법무 확인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    핏콜라보 회신 대기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    CJ ONS 확인 12건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    법무 확인 6건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 / 88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 · 핏콜라보 회신 대기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회신: 결제대행사 승인 등록 방식이 최우선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 3건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설계를 막는 항목이고, 2 · 3순위는 개발 중에 받아도 되는 항목입니다.</a:t>
            </a:r>
            <a:endParaRPr lang="ko-KR" sz="1300" dirty="0"/>
          </a:p>
        </p:txBody>
      </p:sp>
      <p:graphicFrame>
        <p:nvGraphicFramePr>
          <p:cNvPr id="7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50716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5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핏콜라보에 받을 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OnePG 추가 개발 일정과 승인 등록 연동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카드관리페이지 API 규격서 v1.0.4 원본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개정 규격서(storeUserNo · userName 선택), 응답 성별 · 이메일 · di 제외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API 범위를 연동 가이드 기준으로 맞춘 공수 재제시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 만료 1200이 인증 모듈 2.1.2에서도 유지되는지, tid 유효시간 수치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거래 상태 코드 전체 목록, 원클릭 추가 판단 조건(CI 일치 외), 일시불 instType 고정값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 목록 조회 ① 응답의 카드 표시값, 승인 세액의 비과세(컵 보증금) 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949766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 목록 API 이름의 목록 · 본문 불일치, 1200 · 1500 의미 불일치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규격 1.2.8의 카드사 앱 목록 갱신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하이브리드 Webview의 deviceType 값, 카드사 취소 반영 기간(고객 안내 문구)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pgType OnePG 추가 회신이 늦으면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연동 일정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전체가 밀립니다</a:t>
            </a:r>
          </a:p>
        </p:txBody>
      </p:sp>
      <p:sp>
        <p:nvSpPr>
          <p:cNvPr id="74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 · CJ ONS 확인 12건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 확인: 현행 앱 기능 · 데이터 구조 · OnePG 범위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ONS의 답에 따라 앱 작업량과 결제대행사 범위가 달라지므로 공수 재산정 전에 받으며, 전체 목록 원장은 docx 11-2입니다.</a:t>
            </a:r>
            <a:endParaRPr lang="ko-KR" sz="1300" dirty="0"/>
          </a:p>
        </p:txBody>
      </p:sp>
      <p:graphicFrame>
        <p:nvGraphicFramePr>
          <p:cNvPr id="7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54398"/>
        </p:xfrm>
        <a:graphic>
          <a:graphicData uri="http://schemas.openxmlformats.org/drawingml/2006/table">
            <a:tbl>
              <a:tblPr/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답에 따라 달라지는 것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카드사 앱 주소 이동을 가로채는지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없으면 iOS · Android에 가로채기 처리를 더함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등록 카드사 앱 목록, 카드사 추가 때 갱신 방식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 국민 · 삼성 · 현대, Android 삼성 · 우리의 신규 등록 여부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 자동 취소 · 충전 실패의 결제 취소 연결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자동 취소 · 충전 실패 때 승인 취소 ⑤ 호출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비로그인 주문 중 로그인 뒤 주문 복귀 기능이 있는지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없으면 Native · Webview에 복귀 기능을 새로 만듦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결제대행사 중계 API 필요 여부(협의 안건)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필요하면 개발 과제에 넣고 공수를 다시 산정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미확인 거래 주기 작업 간격 · 실패 처리 담당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미확인 거래 정리 시간, 실패 건 처리 주체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구조 개선(같은 CI 로그인), 같은 CI 복수 계정 여부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연결 방식 · 공수, 복수 계정이면 계정 선택 화면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결제 데이터 저장 위치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유형 값, tid · pgTno 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복합 결제 차감 시점 · 취소 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뒤 차감, 승인 취소 뒤 복원(23장)을 적용할 수 있는지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인증 값의 본인인증 · 가입 판정 연결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본인인증 화면 공수, 가입 판정 재사용 범위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기능 차단 장치 · 롤백 · 구버전 앱 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장애 때 앱카드만 내리는 방법, 강제 업데이트 범위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521236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로그인의 회원 테이블 반영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 유형 값, 로그인유형코드 추가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17475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 / 88</a:t>
            </a:r>
          </a:p>
        </p:txBody>
      </p:sp>
      <p:sp>
        <p:nvSpPr>
          <p:cNvPr id="75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 · 법무 확인 6건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 검토: 개인정보 · 원클릭 책임 · 해지권 등 6가지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번호는 검토 요청 대상이며, 적용 여부는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법무팀이 판단합니다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graphicFrame>
        <p:nvGraphicFramePr>
          <p:cNvPr id="7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137408"/>
        </p:xfrm>
        <a:graphic>
          <a:graphicData uri="http://schemas.openxmlformats.org/drawingml/2006/table">
            <a:tbl>
              <a:tblPr/>
              <a:tblGrid>
                <a:gridCol w="749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요청 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근거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응답의 생년월일 8자리를 만 14세 판정에만 쓰는 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별표2, 로그인 6.3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인증 생략 결제의 부정사용 책임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전자금융거래법 제9조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페이지가 해지 · 약관 재표시를 제공하지 않는 점과 이용자 해지권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전자금융거래법 제24조 취지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미만 가입: 동의 전 아동 정보 미저장, 보호자 정보 저장 범위 · 파기 시점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보호법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제22조의2 · 위치정보법 제25조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인증만으로 결제 계정이 자동 등록되는 점의 고객 동의 범위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약관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처리방침의 핏콜라보 수탁 · 제공 항목 개정과 기존 회원 고지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보호법 제26조 · 제30조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397242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적용 여부는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 판단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받은 뒤 공유용 자료에 반영합니다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 불일치, 용어, 통합 플로우 · 프로세스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    문서 간 불일치 ①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    문서 간 불일치 ②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    용어 ① 화면 · 구성 요소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    용어 ② 거래번호 · 식별값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 / 88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87    통합 플로우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    통합 프로세스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문서 간 불일치 ①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 불일치 ①: API 이름 · 코드 · 범위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이름 · 코드 의미 · 결제 범위 · 할부는 문서마다 달라, 규격 본문과 연동 가이드를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적용 기준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개발합니다.</a:t>
            </a:r>
          </a:p>
        </p:txBody>
      </p:sp>
      <p:graphicFrame>
        <p:nvGraphicFramePr>
          <p:cNvPr id="7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385693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적용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API 이름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간편결제 1.3.6 목록: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getPayCardInfos.mv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간편결제 본문 · 연동 가이드: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getPayCardInfo.mv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본문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getPayCardInfo.mv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2.0.4 · 연동 요약서: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· 만료(5분)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1.2.8: tid 조회 실패,</a:t>
                      </a: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2.1.2: 기재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 만료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 eaLnBrk="0">
                        <a:buNone/>
                      </a:pPr>
                      <a:r>
                        <a:rPr lang="en-US" sz="125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확인 필요]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1500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1.2.8: 인증 뒤 3분 초과 조회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2.0.4: 다른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1.2.8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API 범위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공수 검토의견: 핏콜라보 연동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4개 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연동 가이드: 결제 5종 + 상태 조회 +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적재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연동 가이드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번호 조회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공수 검토의견: 해당 API 없음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중계 규격: 결제대행사가 만드는 5종에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OnePG 범위(협의 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필요할 때만 개발)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연동 요약서: 할부 조회 · UI 조건부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Flipbook: 일시불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일시불(installment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"00")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0491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73176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적용 기준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먼저 개발하고, 핏콜라보 회신이 오면 이 표를 고칩니다</a:t>
            </a:r>
          </a:p>
        </p:txBody>
      </p:sp>
      <p:sp>
        <p:nvSpPr>
          <p:cNvPr id="7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문서 간 불일치 ②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 불일치 ②: 정책 · 값 · 표기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deviceType · 회원 구조 등은 정책 판단이나 현행 확인이 끝나야 적용 기준을 확정합니다.</a:t>
            </a:r>
          </a:p>
        </p:txBody>
      </p:sp>
      <p:graphicFrame>
        <p:nvGraphicFramePr>
          <p:cNvPr id="7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7278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962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A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적용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목록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1.2.8 6.2.5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2.1.2 6장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2.1.2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deviceType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예제: 3(AOS Web)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연동 가이드 예시: 2(iOS App)</a:t>
                      </a: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하이브리드는 2 · 4로 보임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↔ CJ ONS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계약 별표2: 위탁 CI만, 제공 5항목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규격: 결제 storeUserNo · userName</a:t>
                      </a: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(선택), 로그인 gender · email · di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4996" indent="-94996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CI만 전송, gender · email ·</a:t>
                      </a:r>
                    </a:p>
                    <a:p>
                      <a:pPr eaLnBrk="0"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 미저장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주문 결제수단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 프로그램 목록: 일반 결제만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화면설계서 MGC_ORD_132 · 133: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카드 표기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Flipbook 화면 2: 앱카드 빠른결제 계정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Flipbook 화면 3: 앱카드 퀵결제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메가퀵결제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업체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백로그 · 화면설계서 화면명: NICE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4996" indent="-94996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외부IF리스트 · 화면설계서 설명: KCP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KCP(현행 CI 인증)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재가입 기간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구조 안내: 1개월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화면설계서 알럿: 30일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- 30일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809245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구조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4996" indent="-94996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화면설계서: 휴대폰 계정에 SNS 토큰 추가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구조 안내: 회원마다</a:t>
                      </a: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로그인유형코드 1개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[CJ ONS 확인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1161365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미수령 폐기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94996" indent="-94996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연동 요약서: 사전예약 폐기 취소 경로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화면설계서: 결제금액 환불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환불 없음(취소 미요청)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981521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 / 88</a:t>
            </a:r>
          </a:p>
        </p:txBody>
      </p:sp>
      <p:sp>
        <p:nvSpPr>
          <p:cNvPr id="79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용어 ① 화면 · 구성 요소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①: 화면과 구성 요소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Native 로그인 버튼과 Webview 화면 · 공통 웹 컴포넌트를 만들고,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· 카드관리 페이지는 핏콜라보가 줍니다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graphicFrame>
        <p:nvGraphicFramePr>
          <p:cNvPr id="7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849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 네이티브 화면으로, 로그인 수단 선택 · 전체메뉴 · 홈이 해당함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 안에서 여는 웹 화면으로,</a:t>
                      </a: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 · 본인인증 · 약관 · 주문하기 · 주문 결과 · 메가퀵결제 · 카드관리 페이지가 해당함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Native 로그인 버튼이 여는 Webview 페이지이며, 공통 웹 컴포넌트를 담아 인증 모듈을</a:t>
                      </a: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띄움(메가MGC커피 개발)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호출 · 결과 수신 · 출처 검증 · 포커스 수신 · 메가MGC커피 서버 호출을 담은 공통</a:t>
                      </a: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스크립트(메가MGC커피 개발)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주는 카드사 선택 · 약관 동의 · 카드사 앱 인증 웹 페이지(화면 1_2)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주는 앱카드 조회 · 등록 · 삭제 웹 페이지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메가MGC커피의 현행 결제대행사 등록 간편결제(전체메뉴 &gt; 결제에서 관리)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화면에서는 앱카드 계정도 「메가퀵결제」로 표기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ONS가 운영하는 결제대행사(PG)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가입 수단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인증으로 가입 · 로그인하는 수단(CI는 KCP 없이 받고, 신규 가입은 13장 판정을 따름)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 / 88</a:t>
            </a:r>
          </a:p>
        </p:txBody>
      </p:sp>
      <p:sp>
        <p:nvSpPr>
          <p:cNvPr id="80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용어 ② 거래번호 · 식별값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②: 거래번호 · 토큰 · 식별값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거래번호(transNo)와 결제 거래번호(tid)는 발급 API · 길이 · 토큰이 다르고,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토큰은 메가MGC커피 서버만 보관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</a:p>
        </p:txBody>
      </p:sp>
      <p:graphicFrame>
        <p:nvGraphicFramePr>
          <p:cNvPr id="8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23240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· token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20904" indent="-120904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인증 거래번호(16자)와 함께 받는 1회용 토큰(32자)이며, token은 메가MGC커피 서버만 보관함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reqToken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20904" indent="-120904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거래번호(20자)와 함께 받는 토큰(64자)이며, reqToken은 메가MGC커피 서버만 보관함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authYN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거래번호 발급 응답으로, Y는 인증 없이 승인(원클릭), N은 인증 뒤 승인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메가MGC커피가 보내는 카드 구분으로, 0은 기존 카드, 1은 새 카드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 · userNo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간편결제 계정 ID와 간편결제 회원번호이며, 기존 카드 결제에 필요함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 · storeUserNo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storeId는 핏콜라보가 발급한 가맹점 ID이고, storeUserNo(회원번호)는 보내지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 · pgTno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승인번호와 결제대행사 거래번호이며, approvalNo는 승인 취소에 꼭 필요함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본인확인 연계정보로, 회원을 찾고 앱카드 계정을 조회하는 유일한 회원 식별값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transNo · tid만 Webview로 넘기고, token · reqToken은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서버에만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둡니다</a:t>
            </a:r>
          </a:p>
        </p:txBody>
      </p:sp>
      <p:sp>
        <p:nvSpPr>
          <p:cNvPr id="8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통합 플로우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플로우: 가입 · 로그인부터 결제 완료까지 고객 행동 · 판단 순서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고객은 앱카드 인증으로 로그인한 뒤 같은 주문으로 돌아가고, 결제는 authYN(인증 필요 여부)에 따라 승인됩니다.</a:t>
            </a:r>
          </a:p>
        </p:txBody>
      </p:sp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87 / 88</a:t>
            </a:r>
          </a:p>
        </p:txBody>
      </p:sp>
      <p:sp>
        <p:nvSpPr>
          <p:cNvPr id="8" name="범례"/>
          <p:cNvSpPr txBox="1"/>
          <p:nvPr/>
        </p:nvSpPr>
        <p:spPr>
          <a:xfrm>
            <a:off x="10954512" y="365760"/>
            <a:ext cx="6858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고객 안내</a:t>
            </a:r>
          </a:p>
        </p:txBody>
      </p:sp>
      <p:sp>
        <p:nvSpPr>
          <p:cNvPr id="9" name="도식 상자"/>
          <p:cNvSpPr/>
          <p:nvPr/>
        </p:nvSpPr>
        <p:spPr>
          <a:xfrm>
            <a:off x="10625328" y="384048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0" name="범례"/>
          <p:cNvSpPr txBox="1"/>
          <p:nvPr/>
        </p:nvSpPr>
        <p:spPr>
          <a:xfrm>
            <a:off x="10149840" y="365760"/>
            <a:ext cx="36576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11" name="도식 상자"/>
          <p:cNvSpPr/>
          <p:nvPr/>
        </p:nvSpPr>
        <p:spPr>
          <a:xfrm>
            <a:off x="9820656" y="384048"/>
            <a:ext cx="274320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2" name="범례"/>
          <p:cNvSpPr txBox="1"/>
          <p:nvPr/>
        </p:nvSpPr>
        <p:spPr>
          <a:xfrm>
            <a:off x="9345168" y="365760"/>
            <a:ext cx="36576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처리</a:t>
            </a:r>
          </a:p>
        </p:txBody>
      </p:sp>
      <p:sp>
        <p:nvSpPr>
          <p:cNvPr id="13" name="도식 상자"/>
          <p:cNvSpPr/>
          <p:nvPr/>
        </p:nvSpPr>
        <p:spPr>
          <a:xfrm>
            <a:off x="9015984" y="384048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4" name="범례"/>
          <p:cNvSpPr txBox="1"/>
          <p:nvPr/>
        </p:nvSpPr>
        <p:spPr>
          <a:xfrm>
            <a:off x="8220456" y="365760"/>
            <a:ext cx="6858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시작 · 끝</a:t>
            </a:r>
          </a:p>
        </p:txBody>
      </p:sp>
      <p:sp>
        <p:nvSpPr>
          <p:cNvPr id="15" name="도식 상자"/>
          <p:cNvSpPr/>
          <p:nvPr/>
        </p:nvSpPr>
        <p:spPr>
          <a:xfrm>
            <a:off x="7891272" y="384048"/>
            <a:ext cx="274320" cy="164592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6" name="구역 이름"/>
          <p:cNvSpPr txBox="1"/>
          <p:nvPr/>
        </p:nvSpPr>
        <p:spPr>
          <a:xfrm>
            <a:off x="548640" y="1755648"/>
            <a:ext cx="3657600" cy="218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· 로그인</a:t>
            </a:r>
          </a:p>
        </p:txBody>
      </p:sp>
      <p:sp>
        <p:nvSpPr>
          <p:cNvPr id="17" name="도식 상자"/>
          <p:cNvSpPr/>
          <p:nvPr/>
        </p:nvSpPr>
        <p:spPr>
          <a:xfrm>
            <a:off x="548640" y="2112264"/>
            <a:ext cx="1371600" cy="56692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주문하기 선택</a:t>
            </a:r>
          </a:p>
          <a:p>
            <a:pPr algn="ctr" eaLnBrk="0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비로그인 고객</a:t>
            </a:r>
          </a:p>
        </p:txBody>
      </p:sp>
      <p:sp>
        <p:nvSpPr>
          <p:cNvPr id="18" name="도식 상자"/>
          <p:cNvSpPr/>
          <p:nvPr/>
        </p:nvSpPr>
        <p:spPr>
          <a:xfrm>
            <a:off x="2168652" y="2112264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앱카드로 계속하기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브릿지 페이지 열기</a:t>
            </a:r>
          </a:p>
        </p:txBody>
      </p:sp>
      <p:sp>
        <p:nvSpPr>
          <p:cNvPr id="19" name="도식 상자"/>
          <p:cNvSpPr/>
          <p:nvPr/>
        </p:nvSpPr>
        <p:spPr>
          <a:xfrm>
            <a:off x="3788664" y="2112264"/>
            <a:ext cx="1371600" cy="566928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인증 거래번호 발급 ①</a:t>
            </a:r>
          </a:p>
        </p:txBody>
      </p:sp>
      <p:sp>
        <p:nvSpPr>
          <p:cNvPr id="20" name="도식 상자"/>
          <p:cNvSpPr/>
          <p:nvPr/>
        </p:nvSpPr>
        <p:spPr>
          <a:xfrm>
            <a:off x="5408676" y="2112264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 인증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인증 뒤 앱 복귀</a:t>
            </a:r>
          </a:p>
        </p:txBody>
      </p:sp>
      <p:sp>
        <p:nvSpPr>
          <p:cNvPr id="21" name="도식 상자"/>
          <p:cNvSpPr/>
          <p:nvPr/>
        </p:nvSpPr>
        <p:spPr>
          <a:xfrm>
            <a:off x="7028688" y="2039112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0000?</a:t>
            </a:r>
          </a:p>
        </p:txBody>
      </p:sp>
      <p:sp>
        <p:nvSpPr>
          <p:cNvPr id="22" name="도식 상자"/>
          <p:cNvSpPr/>
          <p:nvPr/>
        </p:nvSpPr>
        <p:spPr>
          <a:xfrm>
            <a:off x="8648700" y="2039112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같은 CI</a:t>
            </a:r>
          </a:p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계정?</a:t>
            </a:r>
          </a:p>
        </p:txBody>
      </p:sp>
      <p:sp>
        <p:nvSpPr>
          <p:cNvPr id="23" name="도식 상자"/>
          <p:cNvSpPr/>
          <p:nvPr/>
        </p:nvSpPr>
        <p:spPr>
          <a:xfrm>
            <a:off x="10268712" y="2112264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계정 로그인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인증 결과 조회 ②</a:t>
            </a:r>
          </a:p>
        </p:txBody>
      </p:sp>
      <p:cxnSp>
        <p:nvCxnSpPr>
          <p:cNvPr id="24" name="도식 연결선"/>
          <p:cNvCxnSpPr/>
          <p:nvPr/>
        </p:nvCxnSpPr>
        <p:spPr>
          <a:xfrm>
            <a:off x="1920240" y="2395728"/>
            <a:ext cx="248412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도식 연결선"/>
          <p:cNvCxnSpPr/>
          <p:nvPr/>
        </p:nvCxnSpPr>
        <p:spPr>
          <a:xfrm>
            <a:off x="3540252" y="2395728"/>
            <a:ext cx="248412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도식 연결선"/>
          <p:cNvCxnSpPr/>
          <p:nvPr/>
        </p:nvCxnSpPr>
        <p:spPr>
          <a:xfrm>
            <a:off x="5160264" y="2395728"/>
            <a:ext cx="248412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도식 연결선"/>
          <p:cNvCxnSpPr/>
          <p:nvPr/>
        </p:nvCxnSpPr>
        <p:spPr>
          <a:xfrm>
            <a:off x="6780276" y="2395728"/>
            <a:ext cx="248412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도식 연결선"/>
          <p:cNvCxnSpPr/>
          <p:nvPr/>
        </p:nvCxnSpPr>
        <p:spPr>
          <a:xfrm>
            <a:off x="8400288" y="2395728"/>
            <a:ext cx="248412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도식 연결선"/>
          <p:cNvCxnSpPr/>
          <p:nvPr/>
        </p:nvCxnSpPr>
        <p:spPr>
          <a:xfrm>
            <a:off x="10020300" y="2395728"/>
            <a:ext cx="248412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분기 이름"/>
          <p:cNvSpPr txBox="1"/>
          <p:nvPr/>
        </p:nvSpPr>
        <p:spPr>
          <a:xfrm>
            <a:off x="8418576" y="2176272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31" name="분기 이름"/>
          <p:cNvSpPr txBox="1"/>
          <p:nvPr/>
        </p:nvSpPr>
        <p:spPr>
          <a:xfrm>
            <a:off x="10038588" y="2176272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32" name="도식 상자"/>
          <p:cNvSpPr/>
          <p:nvPr/>
        </p:nvSpPr>
        <p:spPr>
          <a:xfrm>
            <a:off x="7028688" y="324612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실패 · 취소 안내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 수단 선택으로</a:t>
            </a:r>
          </a:p>
        </p:txBody>
      </p:sp>
      <p:sp>
        <p:nvSpPr>
          <p:cNvPr id="33" name="도식 상자"/>
          <p:cNvSpPr/>
          <p:nvPr/>
        </p:nvSpPr>
        <p:spPr>
          <a:xfrm>
            <a:off x="8648700" y="3246120"/>
            <a:ext cx="1371600" cy="47548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판정(13장)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KCP 생략 · 약관 동의</a:t>
            </a:r>
          </a:p>
        </p:txBody>
      </p:sp>
      <p:sp>
        <p:nvSpPr>
          <p:cNvPr id="34" name="도식 상자"/>
          <p:cNvSpPr/>
          <p:nvPr/>
        </p:nvSpPr>
        <p:spPr>
          <a:xfrm>
            <a:off x="10268712" y="3246120"/>
            <a:ext cx="1371600" cy="47548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로그인 완료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메가MGC커피 토큰 발급</a:t>
            </a:r>
          </a:p>
        </p:txBody>
      </p:sp>
      <p:cxnSp>
        <p:nvCxnSpPr>
          <p:cNvPr id="35" name="도식 연결선"/>
          <p:cNvCxnSpPr/>
          <p:nvPr/>
        </p:nvCxnSpPr>
        <p:spPr>
          <a:xfrm>
            <a:off x="7714488" y="2752344"/>
            <a:ext cx="0" cy="493776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분기 이름"/>
          <p:cNvSpPr txBox="1"/>
          <p:nvPr/>
        </p:nvSpPr>
        <p:spPr>
          <a:xfrm>
            <a:off x="7760208" y="2752344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7" name="도식 연결선"/>
          <p:cNvCxnSpPr/>
          <p:nvPr/>
        </p:nvCxnSpPr>
        <p:spPr>
          <a:xfrm>
            <a:off x="9334500" y="2752344"/>
            <a:ext cx="0" cy="493776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분기 이름"/>
          <p:cNvSpPr txBox="1"/>
          <p:nvPr/>
        </p:nvSpPr>
        <p:spPr>
          <a:xfrm>
            <a:off x="9380220" y="2752344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9" name="도식 연결선"/>
          <p:cNvCxnSpPr/>
          <p:nvPr/>
        </p:nvCxnSpPr>
        <p:spPr>
          <a:xfrm>
            <a:off x="10020300" y="3483863"/>
            <a:ext cx="248412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도식 연결선"/>
          <p:cNvCxnSpPr/>
          <p:nvPr/>
        </p:nvCxnSpPr>
        <p:spPr>
          <a:xfrm>
            <a:off x="10954512" y="2679192"/>
            <a:ext cx="0" cy="566928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구역 이름"/>
          <p:cNvSpPr txBox="1"/>
          <p:nvPr/>
        </p:nvSpPr>
        <p:spPr>
          <a:xfrm>
            <a:off x="548640" y="3767328"/>
            <a:ext cx="3657600" cy="218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</a:t>
            </a:r>
          </a:p>
        </p:txBody>
      </p:sp>
      <p:sp>
        <p:nvSpPr>
          <p:cNvPr id="42" name="도식 상자"/>
          <p:cNvSpPr/>
          <p:nvPr/>
        </p:nvSpPr>
        <p:spPr>
          <a:xfrm>
            <a:off x="10268712" y="4178808"/>
            <a:ext cx="1371600" cy="56692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주문하기 복귀</a:t>
            </a:r>
          </a:p>
          <a:p>
            <a:pPr algn="ctr" eaLnBrk="0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계정 목록 조회 ①</a:t>
            </a:r>
          </a:p>
        </p:txBody>
      </p:sp>
      <p:cxnSp>
        <p:nvCxnSpPr>
          <p:cNvPr id="43" name="도식 연결선"/>
          <p:cNvCxnSpPr/>
          <p:nvPr/>
        </p:nvCxnSpPr>
        <p:spPr>
          <a:xfrm>
            <a:off x="10954512" y="3721608"/>
            <a:ext cx="0" cy="45720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도식 상자"/>
          <p:cNvSpPr/>
          <p:nvPr/>
        </p:nvSpPr>
        <p:spPr>
          <a:xfrm>
            <a:off x="8648700" y="4105656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카드</a:t>
            </a:r>
          </a:p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선택?</a:t>
            </a:r>
          </a:p>
        </p:txBody>
      </p:sp>
      <p:sp>
        <p:nvSpPr>
          <p:cNvPr id="45" name="도식 상자"/>
          <p:cNvSpPr/>
          <p:nvPr/>
        </p:nvSpPr>
        <p:spPr>
          <a:xfrm>
            <a:off x="7028688" y="4178808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밀어서 결제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거래번호 발급 ②</a:t>
            </a:r>
          </a:p>
        </p:txBody>
      </p:sp>
      <p:sp>
        <p:nvSpPr>
          <p:cNvPr id="46" name="도식 상자"/>
          <p:cNvSpPr/>
          <p:nvPr/>
        </p:nvSpPr>
        <p:spPr>
          <a:xfrm>
            <a:off x="5408676" y="4105656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authYN</a:t>
            </a:r>
          </a:p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= Y?</a:t>
            </a:r>
          </a:p>
        </p:txBody>
      </p:sp>
      <p:sp>
        <p:nvSpPr>
          <p:cNvPr id="47" name="도식 상자"/>
          <p:cNvSpPr/>
          <p:nvPr/>
        </p:nvSpPr>
        <p:spPr>
          <a:xfrm>
            <a:off x="3788664" y="4178808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무응답은 상태 조회 ⑥</a:t>
            </a:r>
          </a:p>
        </p:txBody>
      </p:sp>
      <p:sp>
        <p:nvSpPr>
          <p:cNvPr id="48" name="도식 상자"/>
          <p:cNvSpPr/>
          <p:nvPr/>
        </p:nvSpPr>
        <p:spPr>
          <a:xfrm>
            <a:off x="2168652" y="4105656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생성</a:t>
            </a:r>
          </a:p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성공?</a:t>
            </a:r>
          </a:p>
        </p:txBody>
      </p:sp>
      <p:sp>
        <p:nvSpPr>
          <p:cNvPr id="49" name="도식 상자"/>
          <p:cNvSpPr/>
          <p:nvPr/>
        </p:nvSpPr>
        <p:spPr>
          <a:xfrm>
            <a:off x="548640" y="4178808"/>
            <a:ext cx="1371600" cy="56692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완료</a:t>
            </a:r>
          </a:p>
          <a:p>
            <a:pPr algn="ctr" eaLnBrk="0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결과 화면</a:t>
            </a:r>
          </a:p>
        </p:txBody>
      </p:sp>
      <p:cxnSp>
        <p:nvCxnSpPr>
          <p:cNvPr id="50" name="도식 연결선"/>
          <p:cNvCxnSpPr/>
          <p:nvPr/>
        </p:nvCxnSpPr>
        <p:spPr>
          <a:xfrm flipH="1">
            <a:off x="10020300" y="4462272"/>
            <a:ext cx="248412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도식 연결선"/>
          <p:cNvCxnSpPr/>
          <p:nvPr/>
        </p:nvCxnSpPr>
        <p:spPr>
          <a:xfrm flipH="1">
            <a:off x="8400288" y="4462272"/>
            <a:ext cx="248412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도식 연결선"/>
          <p:cNvCxnSpPr/>
          <p:nvPr/>
        </p:nvCxnSpPr>
        <p:spPr>
          <a:xfrm flipH="1">
            <a:off x="6780276" y="4462272"/>
            <a:ext cx="248412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도식 연결선"/>
          <p:cNvCxnSpPr/>
          <p:nvPr/>
        </p:nvCxnSpPr>
        <p:spPr>
          <a:xfrm flipH="1">
            <a:off x="5160264" y="4462272"/>
            <a:ext cx="248412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도식 연결선"/>
          <p:cNvCxnSpPr/>
          <p:nvPr/>
        </p:nvCxnSpPr>
        <p:spPr>
          <a:xfrm flipH="1">
            <a:off x="3540252" y="4462272"/>
            <a:ext cx="248412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도식 연결선"/>
          <p:cNvCxnSpPr/>
          <p:nvPr/>
        </p:nvCxnSpPr>
        <p:spPr>
          <a:xfrm flipH="1">
            <a:off x="1920240" y="4462272"/>
            <a:ext cx="248412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분기 이름"/>
          <p:cNvSpPr txBox="1"/>
          <p:nvPr/>
        </p:nvSpPr>
        <p:spPr>
          <a:xfrm>
            <a:off x="8465820" y="4242816"/>
            <a:ext cx="164592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57" name="분기 이름"/>
          <p:cNvSpPr txBox="1"/>
          <p:nvPr/>
        </p:nvSpPr>
        <p:spPr>
          <a:xfrm>
            <a:off x="5225796" y="4242816"/>
            <a:ext cx="164592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58" name="분기 이름"/>
          <p:cNvSpPr txBox="1"/>
          <p:nvPr/>
        </p:nvSpPr>
        <p:spPr>
          <a:xfrm>
            <a:off x="1985772" y="4242816"/>
            <a:ext cx="164592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59" name="도식 상자"/>
          <p:cNvSpPr/>
          <p:nvPr/>
        </p:nvSpPr>
        <p:spPr>
          <a:xfrm>
            <a:off x="8648700" y="5285232"/>
            <a:ext cx="1371600" cy="47548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선택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payType 1(새 카드)</a:t>
            </a:r>
          </a:p>
        </p:txBody>
      </p:sp>
      <p:cxnSp>
        <p:nvCxnSpPr>
          <p:cNvPr id="60" name="도식 연결선"/>
          <p:cNvCxnSpPr/>
          <p:nvPr/>
        </p:nvCxnSpPr>
        <p:spPr>
          <a:xfrm>
            <a:off x="9334500" y="4818888"/>
            <a:ext cx="0" cy="466344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분기 이름"/>
          <p:cNvSpPr txBox="1"/>
          <p:nvPr/>
        </p:nvSpPr>
        <p:spPr>
          <a:xfrm>
            <a:off x="9380220" y="4818888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62" name="도식 연결선"/>
          <p:cNvCxnSpPr/>
          <p:nvPr/>
        </p:nvCxnSpPr>
        <p:spPr>
          <a:xfrm flipH="1">
            <a:off x="7714488" y="5522976"/>
            <a:ext cx="934212" cy="0"/>
          </a:xfrm>
          <a:prstGeom prst="line">
            <a:avLst/>
          </a:prstGeom>
          <a:ln w="15875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도식 연결선"/>
          <p:cNvCxnSpPr/>
          <p:nvPr/>
        </p:nvCxnSpPr>
        <p:spPr>
          <a:xfrm flipV="1">
            <a:off x="7714488" y="4745736"/>
            <a:ext cx="0" cy="77724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도식 상자"/>
          <p:cNvSpPr/>
          <p:nvPr/>
        </p:nvSpPr>
        <p:spPr>
          <a:xfrm>
            <a:off x="5408676" y="5285232"/>
            <a:ext cx="1371600" cy="475488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결제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인증 결과 조회 ③</a:t>
            </a:r>
          </a:p>
        </p:txBody>
      </p:sp>
      <p:cxnSp>
        <p:nvCxnSpPr>
          <p:cNvPr id="65" name="도식 연결선"/>
          <p:cNvCxnSpPr/>
          <p:nvPr/>
        </p:nvCxnSpPr>
        <p:spPr>
          <a:xfrm>
            <a:off x="6094476" y="4818888"/>
            <a:ext cx="0" cy="466344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분기 이름"/>
          <p:cNvSpPr txBox="1"/>
          <p:nvPr/>
        </p:nvSpPr>
        <p:spPr>
          <a:xfrm>
            <a:off x="6140196" y="4818888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67" name="도식 연결선"/>
          <p:cNvCxnSpPr/>
          <p:nvPr/>
        </p:nvCxnSpPr>
        <p:spPr>
          <a:xfrm flipH="1">
            <a:off x="4474464" y="5522976"/>
            <a:ext cx="934212" cy="0"/>
          </a:xfrm>
          <a:prstGeom prst="line">
            <a:avLst/>
          </a:prstGeom>
          <a:ln w="15875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도식 연결선"/>
          <p:cNvCxnSpPr/>
          <p:nvPr/>
        </p:nvCxnSpPr>
        <p:spPr>
          <a:xfrm flipV="1">
            <a:off x="4474464" y="4745736"/>
            <a:ext cx="0" cy="77724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도식 상자"/>
          <p:cNvSpPr/>
          <p:nvPr/>
        </p:nvSpPr>
        <p:spPr>
          <a:xfrm>
            <a:off x="2168652" y="5285232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취소 ⑤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실패 안내</a:t>
            </a:r>
          </a:p>
        </p:txBody>
      </p:sp>
      <p:cxnSp>
        <p:nvCxnSpPr>
          <p:cNvPr id="70" name="도식 연결선"/>
          <p:cNvCxnSpPr/>
          <p:nvPr/>
        </p:nvCxnSpPr>
        <p:spPr>
          <a:xfrm>
            <a:off x="2854452" y="4818888"/>
            <a:ext cx="0" cy="466344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분기 이름"/>
          <p:cNvSpPr txBox="1"/>
          <p:nvPr/>
        </p:nvSpPr>
        <p:spPr>
          <a:xfrm>
            <a:off x="2900172" y="4818888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sp>
        <p:nvSpPr>
          <p:cNvPr id="72" name="본문"/>
          <p:cNvSpPr txBox="1"/>
          <p:nvPr/>
        </p:nvSpPr>
        <p:spPr>
          <a:xfrm>
            <a:off x="548640" y="5897880"/>
            <a:ext cx="11091672" cy="201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로그인 고객은 결제 구역의 주문하기 복귀부터 시작하고, 승인 ④는 응답이 없어도 다시 부르지 않음</a:t>
            </a:r>
          </a:p>
        </p:txBody>
      </p:sp>
      <p:sp>
        <p:nvSpPr>
          <p:cNvPr id="73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통합 프로세스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프로세스: 가입 · 로그인부터 결제 완료까지 시스템별 처리 · 데이터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핏콜라보 API를 모두 부르고, Webview는 거래번호만 받아 인증 모듈을 띄웁니다.</a:t>
            </a:r>
          </a:p>
        </p:txBody>
      </p:sp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 / 88</a:t>
            </a:r>
          </a:p>
        </p:txBody>
      </p:sp>
      <p:sp>
        <p:nvSpPr>
          <p:cNvPr id="8" name="도식 상자"/>
          <p:cNvSpPr/>
          <p:nvPr/>
        </p:nvSpPr>
        <p:spPr>
          <a:xfrm>
            <a:off x="1746504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 로그인 요청</a:t>
            </a:r>
          </a:p>
        </p:txBody>
      </p:sp>
      <p:cxnSp>
        <p:nvCxnSpPr>
          <p:cNvPr id="9" name="도식 연결선"/>
          <p:cNvCxnSpPr/>
          <p:nvPr/>
        </p:nvCxnSpPr>
        <p:spPr>
          <a:xfrm>
            <a:off x="2880360" y="1975104"/>
            <a:ext cx="109728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도식 상자"/>
          <p:cNvSpPr/>
          <p:nvPr/>
        </p:nvSpPr>
        <p:spPr>
          <a:xfrm>
            <a:off x="2990088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 카드사 인증</a:t>
            </a:r>
          </a:p>
        </p:txBody>
      </p:sp>
      <p:cxnSp>
        <p:nvCxnSpPr>
          <p:cNvPr id="11" name="도식 연결선"/>
          <p:cNvCxnSpPr/>
          <p:nvPr/>
        </p:nvCxnSpPr>
        <p:spPr>
          <a:xfrm>
            <a:off x="4123944" y="1975104"/>
            <a:ext cx="109728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도식 상자"/>
          <p:cNvSpPr/>
          <p:nvPr/>
        </p:nvSpPr>
        <p:spPr>
          <a:xfrm>
            <a:off x="4233672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 인증 결과</a:t>
            </a:r>
          </a:p>
        </p:txBody>
      </p:sp>
      <p:cxnSp>
        <p:nvCxnSpPr>
          <p:cNvPr id="13" name="도식 연결선"/>
          <p:cNvCxnSpPr/>
          <p:nvPr/>
        </p:nvCxnSpPr>
        <p:spPr>
          <a:xfrm>
            <a:off x="5367528" y="1975104"/>
            <a:ext cx="109728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도식 상자"/>
          <p:cNvSpPr/>
          <p:nvPr/>
        </p:nvSpPr>
        <p:spPr>
          <a:xfrm>
            <a:off x="5477255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 계정 연결</a:t>
            </a:r>
          </a:p>
        </p:txBody>
      </p:sp>
      <p:cxnSp>
        <p:nvCxnSpPr>
          <p:cNvPr id="15" name="도식 연결선"/>
          <p:cNvCxnSpPr/>
          <p:nvPr/>
        </p:nvCxnSpPr>
        <p:spPr>
          <a:xfrm>
            <a:off x="6611112" y="1975104"/>
            <a:ext cx="109728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도식 상자"/>
          <p:cNvSpPr/>
          <p:nvPr/>
        </p:nvSpPr>
        <p:spPr>
          <a:xfrm>
            <a:off x="6720840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 결제수단 표시</a:t>
            </a:r>
          </a:p>
        </p:txBody>
      </p:sp>
      <p:cxnSp>
        <p:nvCxnSpPr>
          <p:cNvPr id="17" name="도식 연결선"/>
          <p:cNvCxnSpPr/>
          <p:nvPr/>
        </p:nvCxnSpPr>
        <p:spPr>
          <a:xfrm>
            <a:off x="7854696" y="1975104"/>
            <a:ext cx="109728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도식 상자"/>
          <p:cNvSpPr/>
          <p:nvPr/>
        </p:nvSpPr>
        <p:spPr>
          <a:xfrm>
            <a:off x="7964424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 결제 요청</a:t>
            </a:r>
          </a:p>
        </p:txBody>
      </p:sp>
      <p:cxnSp>
        <p:nvCxnSpPr>
          <p:cNvPr id="19" name="도식 연결선"/>
          <p:cNvCxnSpPr/>
          <p:nvPr/>
        </p:nvCxnSpPr>
        <p:spPr>
          <a:xfrm>
            <a:off x="9098280" y="1975104"/>
            <a:ext cx="109728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도식 상자"/>
          <p:cNvSpPr/>
          <p:nvPr/>
        </p:nvSpPr>
        <p:spPr>
          <a:xfrm>
            <a:off x="9208008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 인증 결제</a:t>
            </a:r>
          </a:p>
        </p:txBody>
      </p:sp>
      <p:cxnSp>
        <p:nvCxnSpPr>
          <p:cNvPr id="21" name="도식 연결선"/>
          <p:cNvCxnSpPr/>
          <p:nvPr/>
        </p:nvCxnSpPr>
        <p:spPr>
          <a:xfrm>
            <a:off x="10341864" y="1975104"/>
            <a:ext cx="109728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도식 상자"/>
          <p:cNvSpPr/>
          <p:nvPr/>
        </p:nvSpPr>
        <p:spPr>
          <a:xfrm>
            <a:off x="10451592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 승인 · 완료</a:t>
            </a:r>
          </a:p>
        </p:txBody>
      </p:sp>
      <p:sp>
        <p:nvSpPr>
          <p:cNvPr id="23" name="레인"/>
          <p:cNvSpPr/>
          <p:nvPr/>
        </p:nvSpPr>
        <p:spPr>
          <a:xfrm>
            <a:off x="548640" y="228600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4" name="레인 이름"/>
          <p:cNvSpPr/>
          <p:nvPr/>
        </p:nvSpPr>
        <p:spPr>
          <a:xfrm>
            <a:off x="548640" y="228600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고객 · Native</a:t>
            </a:r>
          </a:p>
        </p:txBody>
      </p:sp>
      <p:sp>
        <p:nvSpPr>
          <p:cNvPr id="25" name="레인"/>
          <p:cNvSpPr/>
          <p:nvPr/>
        </p:nvSpPr>
        <p:spPr>
          <a:xfrm>
            <a:off x="548640" y="301752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6" name="레인 이름"/>
          <p:cNvSpPr/>
          <p:nvPr/>
        </p:nvSpPr>
        <p:spPr>
          <a:xfrm>
            <a:off x="548640" y="301752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</a:t>
            </a:r>
          </a:p>
        </p:txBody>
      </p:sp>
      <p:sp>
        <p:nvSpPr>
          <p:cNvPr id="27" name="레인"/>
          <p:cNvSpPr/>
          <p:nvPr/>
        </p:nvSpPr>
        <p:spPr>
          <a:xfrm>
            <a:off x="548640" y="3749039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8" name="레인 이름"/>
          <p:cNvSpPr/>
          <p:nvPr/>
        </p:nvSpPr>
        <p:spPr>
          <a:xfrm>
            <a:off x="548640" y="3749039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</a:t>
            </a:r>
          </a:p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서버</a:t>
            </a:r>
          </a:p>
        </p:txBody>
      </p:sp>
      <p:sp>
        <p:nvSpPr>
          <p:cNvPr id="29" name="레인"/>
          <p:cNvSpPr/>
          <p:nvPr/>
        </p:nvSpPr>
        <p:spPr>
          <a:xfrm>
            <a:off x="548640" y="448056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30" name="레인 이름"/>
          <p:cNvSpPr/>
          <p:nvPr/>
        </p:nvSpPr>
        <p:spPr>
          <a:xfrm>
            <a:off x="548640" y="448056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</p:txBody>
      </p:sp>
      <p:sp>
        <p:nvSpPr>
          <p:cNvPr id="31" name="레인"/>
          <p:cNvSpPr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32" name="레인 이름"/>
          <p:cNvSpPr/>
          <p:nvPr/>
        </p:nvSpPr>
        <p:spPr>
          <a:xfrm>
            <a:off x="548640" y="521208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</a:t>
            </a:r>
          </a:p>
        </p:txBody>
      </p:sp>
      <p:sp>
        <p:nvSpPr>
          <p:cNvPr id="33" name="도식 상자"/>
          <p:cNvSpPr/>
          <p:nvPr/>
        </p:nvSpPr>
        <p:spPr>
          <a:xfrm>
            <a:off x="1746504" y="235915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앱카드로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계속하기</a:t>
            </a:r>
          </a:p>
        </p:txBody>
      </p:sp>
      <p:sp>
        <p:nvSpPr>
          <p:cNvPr id="34" name="도식 상자"/>
          <p:cNvSpPr/>
          <p:nvPr/>
        </p:nvSpPr>
        <p:spPr>
          <a:xfrm>
            <a:off x="1746504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거래번호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발급 ①</a:t>
            </a:r>
          </a:p>
        </p:txBody>
      </p:sp>
      <p:sp>
        <p:nvSpPr>
          <p:cNvPr id="35" name="도식 상자"/>
          <p:cNvSpPr/>
          <p:nvPr/>
        </p:nvSpPr>
        <p:spPr>
          <a:xfrm>
            <a:off x="1746504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transNo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token 발급</a:t>
            </a:r>
          </a:p>
        </p:txBody>
      </p:sp>
      <p:cxnSp>
        <p:nvCxnSpPr>
          <p:cNvPr id="36" name="도식 연결선"/>
          <p:cNvCxnSpPr/>
          <p:nvPr/>
        </p:nvCxnSpPr>
        <p:spPr>
          <a:xfrm>
            <a:off x="2313432" y="2944368"/>
            <a:ext cx="0" cy="877823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도식 연결선"/>
          <p:cNvCxnSpPr/>
          <p:nvPr/>
        </p:nvCxnSpPr>
        <p:spPr>
          <a:xfrm>
            <a:off x="2313432" y="4407407"/>
            <a:ext cx="0" cy="146305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도식 상자"/>
          <p:cNvSpPr/>
          <p:nvPr/>
        </p:nvSpPr>
        <p:spPr>
          <a:xfrm>
            <a:off x="2990088" y="3090672"/>
            <a:ext cx="1133856" cy="585216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transNo 전달</a:t>
            </a:r>
          </a:p>
        </p:txBody>
      </p:sp>
      <p:sp>
        <p:nvSpPr>
          <p:cNvPr id="39" name="도식 상자"/>
          <p:cNvSpPr/>
          <p:nvPr/>
        </p:nvSpPr>
        <p:spPr>
          <a:xfrm>
            <a:off x="2990088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선택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약관 동의</a:t>
            </a:r>
          </a:p>
        </p:txBody>
      </p:sp>
      <p:sp>
        <p:nvSpPr>
          <p:cNvPr id="40" name="도식 상자"/>
          <p:cNvSpPr/>
          <p:nvPr/>
        </p:nvSpPr>
        <p:spPr>
          <a:xfrm>
            <a:off x="2990088" y="5285232"/>
            <a:ext cx="113385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본인 카드 인증</a:t>
            </a:r>
          </a:p>
        </p:txBody>
      </p:sp>
      <p:cxnSp>
        <p:nvCxnSpPr>
          <p:cNvPr id="41" name="도식 연결선"/>
          <p:cNvCxnSpPr/>
          <p:nvPr/>
        </p:nvCxnSpPr>
        <p:spPr>
          <a:xfrm>
            <a:off x="3557016" y="3675887"/>
            <a:ext cx="0" cy="877825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도식 연결선"/>
          <p:cNvCxnSpPr/>
          <p:nvPr/>
        </p:nvCxnSpPr>
        <p:spPr>
          <a:xfrm>
            <a:off x="3557016" y="5138928"/>
            <a:ext cx="0" cy="146304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도식 상자"/>
          <p:cNvSpPr/>
          <p:nvPr/>
        </p:nvSpPr>
        <p:spPr>
          <a:xfrm>
            <a:off x="4233672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0000 수신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서버에 알림</a:t>
            </a:r>
          </a:p>
        </p:txBody>
      </p:sp>
      <p:sp>
        <p:nvSpPr>
          <p:cNvPr id="44" name="도식 상자"/>
          <p:cNvSpPr/>
          <p:nvPr/>
        </p:nvSpPr>
        <p:spPr>
          <a:xfrm>
            <a:off x="4233672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결과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조회 ②</a:t>
            </a:r>
          </a:p>
        </p:txBody>
      </p:sp>
      <p:sp>
        <p:nvSpPr>
          <p:cNvPr id="45" name="도식 상자"/>
          <p:cNvSpPr/>
          <p:nvPr/>
        </p:nvSpPr>
        <p:spPr>
          <a:xfrm>
            <a:off x="4233672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ci · 회원 정보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제공</a:t>
            </a:r>
          </a:p>
        </p:txBody>
      </p:sp>
      <p:cxnSp>
        <p:nvCxnSpPr>
          <p:cNvPr id="46" name="도식 연결선"/>
          <p:cNvCxnSpPr/>
          <p:nvPr/>
        </p:nvCxnSpPr>
        <p:spPr>
          <a:xfrm>
            <a:off x="4800600" y="3675887"/>
            <a:ext cx="0" cy="146304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도식 연결선"/>
          <p:cNvCxnSpPr/>
          <p:nvPr/>
        </p:nvCxnSpPr>
        <p:spPr>
          <a:xfrm>
            <a:off x="4800600" y="4407407"/>
            <a:ext cx="0" cy="146305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도식 상자"/>
          <p:cNvSpPr/>
          <p:nvPr/>
        </p:nvSpPr>
        <p:spPr>
          <a:xfrm>
            <a:off x="5477255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CI 계정 확인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 · 가입</a:t>
            </a:r>
          </a:p>
        </p:txBody>
      </p:sp>
      <p:sp>
        <p:nvSpPr>
          <p:cNvPr id="49" name="도식 상자"/>
          <p:cNvSpPr/>
          <p:nvPr/>
        </p:nvSpPr>
        <p:spPr>
          <a:xfrm>
            <a:off x="5477255" y="235915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화면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복귀</a:t>
            </a:r>
          </a:p>
        </p:txBody>
      </p:sp>
      <p:cxnSp>
        <p:nvCxnSpPr>
          <p:cNvPr id="50" name="도식 연결선"/>
          <p:cNvCxnSpPr/>
          <p:nvPr/>
        </p:nvCxnSpPr>
        <p:spPr>
          <a:xfrm flipV="1">
            <a:off x="6044183" y="2944368"/>
            <a:ext cx="0" cy="877823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도식 상자"/>
          <p:cNvSpPr/>
          <p:nvPr/>
        </p:nvSpPr>
        <p:spPr>
          <a:xfrm>
            <a:off x="6720840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주문하기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계정 표시</a:t>
            </a:r>
          </a:p>
        </p:txBody>
      </p:sp>
      <p:sp>
        <p:nvSpPr>
          <p:cNvPr id="52" name="도식 상자"/>
          <p:cNvSpPr/>
          <p:nvPr/>
        </p:nvSpPr>
        <p:spPr>
          <a:xfrm>
            <a:off x="6720840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계정 목록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조회 ①</a:t>
            </a:r>
          </a:p>
        </p:txBody>
      </p:sp>
      <p:sp>
        <p:nvSpPr>
          <p:cNvPr id="53" name="도식 상자"/>
          <p:cNvSpPr/>
          <p:nvPr/>
        </p:nvSpPr>
        <p:spPr>
          <a:xfrm>
            <a:off x="6720840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cardList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제공</a:t>
            </a:r>
          </a:p>
        </p:txBody>
      </p:sp>
      <p:cxnSp>
        <p:nvCxnSpPr>
          <p:cNvPr id="54" name="도식 연결선"/>
          <p:cNvCxnSpPr/>
          <p:nvPr/>
        </p:nvCxnSpPr>
        <p:spPr>
          <a:xfrm>
            <a:off x="7287768" y="3675887"/>
            <a:ext cx="0" cy="146304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도식 연결선"/>
          <p:cNvCxnSpPr/>
          <p:nvPr/>
        </p:nvCxnSpPr>
        <p:spPr>
          <a:xfrm>
            <a:off x="7287768" y="4407407"/>
            <a:ext cx="0" cy="146305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도식 상자"/>
          <p:cNvSpPr/>
          <p:nvPr/>
        </p:nvSpPr>
        <p:spPr>
          <a:xfrm>
            <a:off x="7964424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밀어서 결제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payType 전달</a:t>
            </a:r>
          </a:p>
        </p:txBody>
      </p:sp>
      <p:sp>
        <p:nvSpPr>
          <p:cNvPr id="57" name="도식 상자"/>
          <p:cNvSpPr/>
          <p:nvPr/>
        </p:nvSpPr>
        <p:spPr>
          <a:xfrm>
            <a:off x="7964424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거래번호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발급 ②</a:t>
            </a:r>
          </a:p>
        </p:txBody>
      </p:sp>
      <p:sp>
        <p:nvSpPr>
          <p:cNvPr id="58" name="도식 상자"/>
          <p:cNvSpPr/>
          <p:nvPr/>
        </p:nvSpPr>
        <p:spPr>
          <a:xfrm>
            <a:off x="7964424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tid · authYN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발급</a:t>
            </a:r>
          </a:p>
        </p:txBody>
      </p:sp>
      <p:cxnSp>
        <p:nvCxnSpPr>
          <p:cNvPr id="59" name="도식 연결선"/>
          <p:cNvCxnSpPr/>
          <p:nvPr/>
        </p:nvCxnSpPr>
        <p:spPr>
          <a:xfrm>
            <a:off x="8531352" y="3675887"/>
            <a:ext cx="0" cy="146304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도식 연결선"/>
          <p:cNvCxnSpPr/>
          <p:nvPr/>
        </p:nvCxnSpPr>
        <p:spPr>
          <a:xfrm>
            <a:off x="8531352" y="4407407"/>
            <a:ext cx="0" cy="146305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도식 상자"/>
          <p:cNvSpPr/>
          <p:nvPr/>
        </p:nvSpPr>
        <p:spPr>
          <a:xfrm>
            <a:off x="9208008" y="3090672"/>
            <a:ext cx="1133856" cy="585216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authYN=N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인증 모듈(tid)</a:t>
            </a:r>
          </a:p>
        </p:txBody>
      </p:sp>
      <p:sp>
        <p:nvSpPr>
          <p:cNvPr id="62" name="도식 상자"/>
          <p:cNvSpPr/>
          <p:nvPr/>
        </p:nvSpPr>
        <p:spPr>
          <a:xfrm>
            <a:off x="9208008" y="5285232"/>
            <a:ext cx="113385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 인증</a:t>
            </a:r>
          </a:p>
        </p:txBody>
      </p:sp>
      <p:cxnSp>
        <p:nvCxnSpPr>
          <p:cNvPr id="63" name="도식 연결선"/>
          <p:cNvCxnSpPr/>
          <p:nvPr/>
        </p:nvCxnSpPr>
        <p:spPr>
          <a:xfrm>
            <a:off x="9774936" y="3675887"/>
            <a:ext cx="0" cy="1609345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도식 상자"/>
          <p:cNvSpPr/>
          <p:nvPr/>
        </p:nvSpPr>
        <p:spPr>
          <a:xfrm>
            <a:off x="10451592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결과 ③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</p:txBody>
      </p:sp>
      <p:sp>
        <p:nvSpPr>
          <p:cNvPr id="65" name="도식 상자"/>
          <p:cNvSpPr/>
          <p:nvPr/>
        </p:nvSpPr>
        <p:spPr>
          <a:xfrm>
            <a:off x="10451592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대행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approvalNo</a:t>
            </a:r>
          </a:p>
        </p:txBody>
      </p:sp>
      <p:sp>
        <p:nvSpPr>
          <p:cNvPr id="66" name="도식 상자"/>
          <p:cNvSpPr/>
          <p:nvPr/>
        </p:nvSpPr>
        <p:spPr>
          <a:xfrm>
            <a:off x="10451592" y="5285232"/>
            <a:ext cx="113385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결제대행사</a:t>
            </a:r>
          </a:p>
        </p:txBody>
      </p:sp>
      <p:sp>
        <p:nvSpPr>
          <p:cNvPr id="67" name="도식 상자"/>
          <p:cNvSpPr/>
          <p:nvPr/>
        </p:nvSpPr>
        <p:spPr>
          <a:xfrm>
            <a:off x="10451592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완료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주문 결과</a:t>
            </a:r>
          </a:p>
        </p:txBody>
      </p:sp>
      <p:cxnSp>
        <p:nvCxnSpPr>
          <p:cNvPr id="68" name="도식 연결선"/>
          <p:cNvCxnSpPr/>
          <p:nvPr/>
        </p:nvCxnSpPr>
        <p:spPr>
          <a:xfrm>
            <a:off x="11018520" y="4407407"/>
            <a:ext cx="0" cy="146305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도식 연결선"/>
          <p:cNvCxnSpPr/>
          <p:nvPr/>
        </p:nvCxnSpPr>
        <p:spPr>
          <a:xfrm>
            <a:off x="11018520" y="5138928"/>
            <a:ext cx="0" cy="146304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도식 연결선"/>
          <p:cNvCxnSpPr/>
          <p:nvPr/>
        </p:nvCxnSpPr>
        <p:spPr>
          <a:xfrm flipV="1">
            <a:off x="11018520" y="3675887"/>
            <a:ext cx="0" cy="146304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본문"/>
          <p:cNvSpPr txBox="1"/>
          <p:nvPr/>
        </p:nvSpPr>
        <p:spPr>
          <a:xfrm>
            <a:off x="548640" y="5998464"/>
            <a:ext cx="11091672" cy="201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7단계는 authYN=N일 때만 거치고, 주문 생성에 실패하면 승인 취소 ⑤, 승인 응답이 없으면 거래 상태 조회 ⑥을 부름</a:t>
            </a:r>
          </a:p>
        </p:txBody>
      </p:sp>
      <p:sp>
        <p:nvSpPr>
          <p:cNvPr id="7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19942</Words>
  <Application>Microsoft Office PowerPoint</Application>
  <PresentationFormat>와이드스크린</PresentationFormat>
  <Paragraphs>3106</Paragraphs>
  <Slides>88</Slides>
  <Notes>88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88</vt:i4>
      </vt:variant>
    </vt:vector>
  </HeadingPairs>
  <TitlesOfParts>
    <vt:vector size="92" baseType="lpstr">
      <vt:lpstr>맑은 고딕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메가MGC커피 앱카드 연동 통합본 v0.2</dc:title>
  <dc:subject>PptxGenJS Presentation</dc:subject>
  <dc:creator>PptxGenJS</dc:creator>
  <cp:lastModifiedBy>문 진승</cp:lastModifiedBy>
  <cp:revision>2</cp:revision>
  <dcterms:created xsi:type="dcterms:W3CDTF">2026-10-21T02:05:18Z</dcterms:created>
  <dcterms:modified xsi:type="dcterms:W3CDTF">2026-10-26T09:45:28Z</dcterms:modified>
</cp:coreProperties>
</file>